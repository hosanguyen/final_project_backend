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7"/>
  </p:notesMasterIdLst>
  <p:sldIdLst>
    <p:sldId id="256" r:id="rId2"/>
    <p:sldId id="258" r:id="rId3"/>
    <p:sldId id="259" r:id="rId4"/>
    <p:sldId id="280" r:id="rId5"/>
    <p:sldId id="260" r:id="rId6"/>
    <p:sldId id="261" r:id="rId7"/>
    <p:sldId id="262" r:id="rId8"/>
    <p:sldId id="263" r:id="rId9"/>
    <p:sldId id="264" r:id="rId10"/>
    <p:sldId id="265" r:id="rId11"/>
    <p:sldId id="266" r:id="rId12"/>
    <p:sldId id="267" r:id="rId13"/>
    <p:sldId id="268" r:id="rId14"/>
    <p:sldId id="281" r:id="rId15"/>
    <p:sldId id="269" r:id="rId16"/>
    <p:sldId id="270" r:id="rId17"/>
    <p:sldId id="271" r:id="rId18"/>
    <p:sldId id="272" r:id="rId19"/>
    <p:sldId id="273" r:id="rId20"/>
    <p:sldId id="274" r:id="rId21"/>
    <p:sldId id="275" r:id="rId22"/>
    <p:sldId id="276" r:id="rId23"/>
    <p:sldId id="277" r:id="rId24"/>
    <p:sldId id="278" r:id="rId25"/>
    <p:sldId id="279" r:id="rId26"/>
  </p:sldIdLst>
  <p:sldSz cx="18288000" cy="10287000"/>
  <p:notesSz cx="6858000" cy="9144000"/>
  <p:embeddedFontLst>
    <p:embeddedFont>
      <p:font typeface="Montserrat" panose="00000500000000000000" pitchFamily="2" charset="0"/>
      <p:regular r:id="rId28"/>
    </p:embeddedFont>
    <p:embeddedFont>
      <p:font typeface="Montserrat Bold" panose="00000800000000000000" charset="0"/>
      <p:regular r:id="rId29"/>
    </p:embeddedFont>
    <p:embeddedFont>
      <p:font typeface="Montserrat Bold Italics" panose="020B0604020202020204" charset="0"/>
      <p:regular r:id="rId30"/>
    </p:embeddedFont>
    <p:embeddedFont>
      <p:font typeface="Montserrat Italics" panose="020B0604020202020204" charset="0"/>
      <p:regular r:id="rId31"/>
    </p:embeddedFont>
    <p:embeddedFont>
      <p:font typeface="Quicksand" panose="020B0604020202020204" charset="0"/>
      <p:regular r:id="rId32"/>
    </p:embeddedFont>
    <p:embeddedFont>
      <p:font typeface="Quicksand Bold" panose="020B0604020202020204" charset="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0" d="100"/>
          <a:sy n="70" d="100"/>
        </p:scale>
        <p:origin x="260" y="3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09.01.2026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Resnet50 for recognition - over 23m parameters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Ở tầng vật lý, Wi-Fi xác định các đặc tính về tần số, mã hóa tín hiệu, và các chi tiết truyền dẫn dữ liệu qua sóng vô tuyến. (2 băng tần thường thấy 2.4GHz và 5 GHz)</a:t>
            </a:r>
          </a:p>
          <a:p>
            <a:endParaRPr lang="en-US"/>
          </a:p>
          <a:p>
            <a:r>
              <a:rPr lang="en-US"/>
              <a:t>- Ở tầng liên kết dữ liệu, Wi-Fi sử dụng chuẩn IEEE 802.11, bao gồm các giao thức điều khiển truy cập mạng như kiểm soát truy cập môi trường (MAC), nhằm quản lý cách các thiết bị kết nối và truyền tải dữ liệu một cách đáng tin cậy qua mạng không dây.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Ở tầng vật lý, Wi-Fi xác định các đặc tính về tần số, mã hóa tín hiệu, và các chi tiết truyền dẫn dữ liệu qua sóng vô tuyến. (2 băng tần thường thấy 2.4GHz và 5 GHz)</a:t>
            </a:r>
          </a:p>
          <a:p>
            <a:endParaRPr lang="en-US"/>
          </a:p>
          <a:p>
            <a:r>
              <a:rPr lang="en-US"/>
              <a:t>- Ở tầng liên kết dữ liệu, Wi-Fi sử dụng chuẩn IEEE 802.11, bao gồm các giao thức điều khiển truy cập mạng như kiểm soát truy cập môi trường (MAC), nhằm quản lý cách các thiết bị kết nối và truyền tải dữ liệu một cách đáng tin cậy qua mạng không dây.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Ở tầng vật lý, Wi-Fi xác định các đặc tính về tần số, mã hóa tín hiệu, và các chi tiết truyền dẫn dữ liệu qua sóng vô tuyến. (2 băng tần thường thấy 2.4GHz và 5 GHz)</a:t>
            </a:r>
          </a:p>
          <a:p>
            <a:endParaRPr lang="en-US"/>
          </a:p>
          <a:p>
            <a:r>
              <a:rPr lang="en-US"/>
              <a:t>- Ở tầng liên kết dữ liệu, Wi-Fi sử dụng chuẩn IEEE 802.11, bao gồm các giao thức điều khiển truy cập mạng như kiểm soát truy cập môi trường (MAC), nhằm quản lý cách các thiết bị kết nối và truyền tải dữ liệu một cách đáng tin cậy qua mạng không dây.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Ở tầng vật lý, Wi-Fi xác định các đặc tính về tần số, mã hóa tín hiệu, và các chi tiết truyền dẫn dữ liệu qua sóng vô tuyến. (2 băng tần thường thấy 2.4GHz và 5 GHz)</a:t>
            </a:r>
          </a:p>
          <a:p>
            <a:endParaRPr lang="en-US"/>
          </a:p>
          <a:p>
            <a:r>
              <a:rPr lang="en-US"/>
              <a:t>- Ở tầng liên kết dữ liệu, Wi-Fi sử dụng chuẩn IEEE 802.11, bao gồm các giao thức điều khiển truy cập mạng như kiểm soát truy cập môi trường (MAC), nhằm quản lý cách các thiết bị kết nối và truyền tải dữ liệu một cách đáng tin cậy qua mạng không dây.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Ở tầng vật lý, Wi-Fi xác định các đặc tính về tần số, mã hóa tín hiệu, và các chi tiết truyền dẫn dữ liệu qua sóng vô tuyến. (2 băng tần thường thấy 2.4GHz và 5 GHz)</a:t>
            </a:r>
          </a:p>
          <a:p>
            <a:endParaRPr lang="en-US"/>
          </a:p>
          <a:p>
            <a:r>
              <a:rPr lang="en-US"/>
              <a:t>- Ở tầng liên kết dữ liệu, Wi-Fi sử dụng chuẩn IEEE 802.11, bao gồm các giao thức điều khiển truy cập mạng như kiểm soát truy cập môi trường (MAC), nhằm quản lý cách các thiết bị kết nối và truyền tải dữ liệu một cách đáng tin cậy qua mạng không dây.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483F1-3E3B-7CAB-5ECC-91D43D54446C}"/>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DEAA26-621A-57C1-94AF-25760F173922}"/>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E58C3E7-2E79-30EF-0ADE-8248C186EACA}"/>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EE810649-82C6-D483-2057-C998BDC6766A}"/>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2E66DFED-FCAA-1A8B-EA7E-C650394B784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Ở tầng vật lý, Wi-Fi xác định các đặc tính về tần số, mã hóa tín hiệu, và các chi tiết truyền dẫn dữ liệu qua sóng vô tuyến. (2 băng tần thường thấy 2.4GHz và 5 GHz)</a:t>
            </a:r>
          </a:p>
          <a:p>
            <a:endParaRPr lang="en-US"/>
          </a:p>
          <a:p>
            <a:r>
              <a:rPr lang="en-US"/>
              <a:t>- Ở tầng liên kết dữ liệu, Wi-Fi sử dụng chuẩn IEEE 802.11, bao gồm các giao thức điều khiển truy cập mạng như kiểm soát truy cập môi trường (MAC), nhằm quản lý cách các thiết bị kết nối và truyền tải dữ liệu một cách đáng tin cậy qua mạng không dây.</a:t>
            </a:r>
          </a:p>
        </p:txBody>
      </p:sp>
      <p:sp>
        <p:nvSpPr>
          <p:cNvPr id="6" name="Footer Placeholder 5">
            <a:extLst>
              <a:ext uri="{FF2B5EF4-FFF2-40B4-BE49-F238E27FC236}">
                <a16:creationId xmlns:a16="http://schemas.microsoft.com/office/drawing/2014/main" id="{F4DDAA7A-42E7-E552-9BAA-42ED88BCC9A4}"/>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DBE57F5C-E238-C286-1F78-4936BCEA8765}"/>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0854902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Hỗ trợ cho người dùng, đưa ra những gợi ý phù hợp, đảm bảo tính cá nhân hóa, giúp người dùng có thể dễ dàng lựa chọn bài tập lập trình</a:t>
            </a:r>
          </a:p>
          <a:p>
            <a:endParaRPr lang="en-US"/>
          </a:p>
          <a:p>
            <a:r>
              <a:rPr lang="en-US"/>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svg"/><Relationship Id="rId12"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png"/><Relationship Id="rId7"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2.svg"/><Relationship Id="rId9"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sv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sv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sv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sv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8.emf"/><Relationship Id="rId5" Type="http://schemas.openxmlformats.org/officeDocument/2006/relationships/oleObject" Target="../embeddings/oleObject1.bin"/><Relationship Id="rId4" Type="http://schemas.openxmlformats.org/officeDocument/2006/relationships/image" Target="../media/image2.sv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1.emf"/><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oleObject" Target="../embeddings/oleObject2.bin"/><Relationship Id="rId5" Type="http://schemas.openxmlformats.org/officeDocument/2006/relationships/image" Target="../media/image30.png"/><Relationship Id="rId4" Type="http://schemas.openxmlformats.org/officeDocument/2006/relationships/image" Target="../media/image2.sv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3.wmf"/><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oleObject" Target="../embeddings/oleObject3.bin"/><Relationship Id="rId5" Type="http://schemas.openxmlformats.org/officeDocument/2006/relationships/image" Target="../media/image32.png"/><Relationship Id="rId4" Type="http://schemas.openxmlformats.org/officeDocument/2006/relationships/image" Target="../media/image2.svg"/></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image" Target="../media/image1.png"/><Relationship Id="rId7" Type="http://schemas.openxmlformats.org/officeDocument/2006/relationships/image" Target="../media/image35.emf"/><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oleObject" Target="../embeddings/oleObject4.bin"/><Relationship Id="rId5" Type="http://schemas.openxmlformats.org/officeDocument/2006/relationships/image" Target="../media/image34.png"/><Relationship Id="rId4" Type="http://schemas.openxmlformats.org/officeDocument/2006/relationships/image" Target="../media/image2.svg"/><Relationship Id="rId9" Type="http://schemas.openxmlformats.org/officeDocument/2006/relationships/image" Target="../media/image36.emf"/></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2.svg"/></Relationships>
</file>

<file path=ppt/slides/_rels/slide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1.png"/><Relationship Id="rId7" Type="http://schemas.openxmlformats.org/officeDocument/2006/relationships/image" Target="../media/image40.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2.svg"/></Relationships>
</file>

<file path=ppt/slides/_rels/slide24.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1.png"/><Relationship Id="rId7" Type="http://schemas.openxmlformats.org/officeDocument/2006/relationships/image" Target="../media/image44.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2.svg"/></Relationships>
</file>

<file path=ppt/slides/_rels/slide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1215067" y="2148794"/>
            <a:ext cx="16229942" cy="3898265"/>
          </a:xfrm>
          <a:prstGeom prst="rect">
            <a:avLst/>
          </a:prstGeom>
        </p:spPr>
        <p:txBody>
          <a:bodyPr lIns="0" tIns="0" rIns="0" bIns="0" rtlCol="0" anchor="t">
            <a:spAutoFit/>
          </a:bodyPr>
          <a:lstStyle/>
          <a:p>
            <a:pPr marL="0" lvl="0" indent="0" algn="ctr">
              <a:lnSpc>
                <a:spcPts val="10360"/>
              </a:lnSpc>
              <a:spcBef>
                <a:spcPct val="0"/>
              </a:spcBef>
            </a:pPr>
            <a:r>
              <a:rPr lang="en-US" sz="7400" b="1">
                <a:solidFill>
                  <a:srgbClr val="0F4662"/>
                </a:solidFill>
                <a:latin typeface="Montserrat Bold"/>
                <a:ea typeface="Montserrat Bold"/>
                <a:cs typeface="Montserrat Bold"/>
                <a:sym typeface="Montserrat Bold"/>
              </a:rPr>
              <a:t>XÂY DỰNG WEBSITE HỌC VÀ THI LẬP TRÌNH TRỰC TUYẾN SỬ DỤNG DJANGO VÀ REACTJS</a:t>
            </a:r>
          </a:p>
        </p:txBody>
      </p:sp>
      <p:sp>
        <p:nvSpPr>
          <p:cNvPr id="3" name="AutoShape 3"/>
          <p:cNvSpPr/>
          <p:nvPr/>
        </p:nvSpPr>
        <p:spPr>
          <a:xfrm>
            <a:off x="9158735" y="990600"/>
            <a:ext cx="8114971" cy="0"/>
          </a:xfrm>
          <a:prstGeom prst="line">
            <a:avLst/>
          </a:prstGeom>
          <a:ln w="76200" cap="flat">
            <a:solidFill>
              <a:srgbClr val="0F4662"/>
            </a:solidFill>
            <a:prstDash val="solid"/>
            <a:headEnd type="none" w="sm" len="sm"/>
            <a:tailEnd type="none" w="sm" len="sm"/>
          </a:ln>
        </p:spPr>
        <p:txBody>
          <a:bodyPr/>
          <a:lstStyle/>
          <a:p>
            <a:endParaRPr lang="en-US"/>
          </a:p>
        </p:txBody>
      </p:sp>
      <p:sp>
        <p:nvSpPr>
          <p:cNvPr id="4" name="AutoShape 4"/>
          <p:cNvSpPr/>
          <p:nvPr/>
        </p:nvSpPr>
        <p:spPr>
          <a:xfrm>
            <a:off x="1043764" y="9296400"/>
            <a:ext cx="8114971" cy="0"/>
          </a:xfrm>
          <a:prstGeom prst="line">
            <a:avLst/>
          </a:prstGeom>
          <a:ln w="76200" cap="flat">
            <a:solidFill>
              <a:srgbClr val="0F4662"/>
            </a:solidFill>
            <a:prstDash val="solid"/>
            <a:headEnd type="none" w="sm" len="sm"/>
            <a:tailEnd type="none" w="sm" len="sm"/>
          </a:ln>
        </p:spPr>
        <p:txBody>
          <a:bodyPr/>
          <a:lstStyle/>
          <a:p>
            <a:endParaRPr lang="en-US"/>
          </a:p>
        </p:txBody>
      </p:sp>
      <p:sp>
        <p:nvSpPr>
          <p:cNvPr id="5" name="Freeform 5"/>
          <p:cNvSpPr/>
          <p:nvPr/>
        </p:nvSpPr>
        <p:spPr>
          <a:xfrm>
            <a:off x="9618706" y="9037492"/>
            <a:ext cx="2968854" cy="441617"/>
          </a:xfrm>
          <a:custGeom>
            <a:avLst/>
            <a:gdLst/>
            <a:ahLst/>
            <a:cxnLst/>
            <a:rect l="l" t="t" r="r" b="b"/>
            <a:pathLst>
              <a:path w="2968854" h="441617">
                <a:moveTo>
                  <a:pt x="0" y="0"/>
                </a:moveTo>
                <a:lnTo>
                  <a:pt x="2968854" y="0"/>
                </a:lnTo>
                <a:lnTo>
                  <a:pt x="2968854" y="441616"/>
                </a:lnTo>
                <a:lnTo>
                  <a:pt x="0" y="4416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p:cNvSpPr/>
          <p:nvPr/>
        </p:nvSpPr>
        <p:spPr>
          <a:xfrm>
            <a:off x="5646742" y="807892"/>
            <a:ext cx="2968854" cy="441617"/>
          </a:xfrm>
          <a:custGeom>
            <a:avLst/>
            <a:gdLst/>
            <a:ahLst/>
            <a:cxnLst/>
            <a:rect l="l" t="t" r="r" b="b"/>
            <a:pathLst>
              <a:path w="2968854" h="441617">
                <a:moveTo>
                  <a:pt x="0" y="0"/>
                </a:moveTo>
                <a:lnTo>
                  <a:pt x="2968854" y="0"/>
                </a:lnTo>
                <a:lnTo>
                  <a:pt x="2968854" y="441616"/>
                </a:lnTo>
                <a:lnTo>
                  <a:pt x="0" y="4416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TextBox 8"/>
          <p:cNvSpPr txBox="1"/>
          <p:nvPr/>
        </p:nvSpPr>
        <p:spPr>
          <a:xfrm>
            <a:off x="17780107" y="9509200"/>
            <a:ext cx="127159" cy="464645"/>
          </a:xfrm>
          <a:prstGeom prst="rect">
            <a:avLst/>
          </a:prstGeom>
        </p:spPr>
        <p:txBody>
          <a:bodyPr lIns="0" tIns="0" rIns="0" bIns="0" rtlCol="0" anchor="t">
            <a:spAutoFit/>
          </a:bodyPr>
          <a:lstStyle/>
          <a:p>
            <a:pPr algn="ctr">
              <a:lnSpc>
                <a:spcPts val="3831"/>
              </a:lnSpc>
              <a:spcBef>
                <a:spcPct val="0"/>
              </a:spcBef>
            </a:pPr>
            <a:r>
              <a:rPr lang="en-US" sz="2554" b="1">
                <a:solidFill>
                  <a:srgbClr val="0F4662"/>
                </a:solidFill>
                <a:latin typeface="Montserrat Bold"/>
                <a:ea typeface="Montserrat Bold"/>
                <a:cs typeface="Montserrat Bold"/>
                <a:sym typeface="Montserrat Bold"/>
              </a:rPr>
              <a:t>1</a:t>
            </a:r>
          </a:p>
        </p:txBody>
      </p:sp>
      <p:sp>
        <p:nvSpPr>
          <p:cNvPr id="10" name="TextBox 13">
            <a:extLst>
              <a:ext uri="{FF2B5EF4-FFF2-40B4-BE49-F238E27FC236}">
                <a16:creationId xmlns:a16="http://schemas.microsoft.com/office/drawing/2014/main" id="{D5EB6442-8E77-E655-3FE3-B804CE01B786}"/>
              </a:ext>
            </a:extLst>
          </p:cNvPr>
          <p:cNvSpPr txBox="1"/>
          <p:nvPr/>
        </p:nvSpPr>
        <p:spPr>
          <a:xfrm>
            <a:off x="6336480" y="7011522"/>
            <a:ext cx="5017320" cy="570378"/>
          </a:xfrm>
          <a:prstGeom prst="rect">
            <a:avLst/>
          </a:prstGeom>
        </p:spPr>
        <p:txBody>
          <a:bodyPr lIns="0" tIns="0" rIns="0" bIns="0" rtlCol="0" anchor="t">
            <a:spAutoFit/>
          </a:bodyPr>
          <a:lstStyle/>
          <a:p>
            <a:pPr marL="0" lvl="0" indent="0" algn="ctr">
              <a:lnSpc>
                <a:spcPts val="4786"/>
              </a:lnSpc>
              <a:spcBef>
                <a:spcPct val="0"/>
              </a:spcBef>
            </a:pPr>
            <a:r>
              <a:rPr lang="en-US" sz="3419" b="1" dirty="0">
                <a:solidFill>
                  <a:srgbClr val="0F4662"/>
                </a:solidFill>
                <a:latin typeface="Quicksand Bold"/>
                <a:ea typeface="Quicksand Bold"/>
                <a:cs typeface="Quicksand Bold"/>
                <a:sym typeface="Quicksand Bold"/>
              </a:rPr>
              <a:t>Nguyễn Thiên </a:t>
            </a:r>
            <a:r>
              <a:rPr lang="en-US" sz="3419" b="1" dirty="0" err="1">
                <a:solidFill>
                  <a:srgbClr val="0F4662"/>
                </a:solidFill>
                <a:latin typeface="Quicksand Bold"/>
                <a:ea typeface="Quicksand Bold"/>
                <a:cs typeface="Quicksand Bold"/>
                <a:sym typeface="Quicksand Bold"/>
              </a:rPr>
              <a:t>Hóa</a:t>
            </a:r>
            <a:endParaRPr lang="en-US" sz="3419" b="1" dirty="0">
              <a:solidFill>
                <a:srgbClr val="0F4662"/>
              </a:solidFill>
              <a:latin typeface="Quicksand Bold"/>
              <a:ea typeface="Quicksand Bold"/>
              <a:cs typeface="Quicksand Bold"/>
              <a:sym typeface="Quicksand Bold"/>
            </a:endParaRPr>
          </a:p>
        </p:txBody>
      </p:sp>
      <p:sp>
        <p:nvSpPr>
          <p:cNvPr id="11" name="TextBox 12">
            <a:extLst>
              <a:ext uri="{FF2B5EF4-FFF2-40B4-BE49-F238E27FC236}">
                <a16:creationId xmlns:a16="http://schemas.microsoft.com/office/drawing/2014/main" id="{51470BFE-1F23-6B82-FFA7-F42ABC44E887}"/>
              </a:ext>
            </a:extLst>
          </p:cNvPr>
          <p:cNvSpPr txBox="1"/>
          <p:nvPr/>
        </p:nvSpPr>
        <p:spPr>
          <a:xfrm>
            <a:off x="6336480" y="7734300"/>
            <a:ext cx="5017320" cy="570378"/>
          </a:xfrm>
          <a:prstGeom prst="rect">
            <a:avLst/>
          </a:prstGeom>
        </p:spPr>
        <p:txBody>
          <a:bodyPr lIns="0" tIns="0" rIns="0" bIns="0" rtlCol="0" anchor="t">
            <a:spAutoFit/>
          </a:bodyPr>
          <a:lstStyle/>
          <a:p>
            <a:pPr marL="0" lvl="0" indent="0" algn="ctr">
              <a:lnSpc>
                <a:spcPts val="4786"/>
              </a:lnSpc>
              <a:spcBef>
                <a:spcPct val="0"/>
              </a:spcBef>
            </a:pPr>
            <a:r>
              <a:rPr lang="en-US" sz="3419" b="1" dirty="0">
                <a:solidFill>
                  <a:srgbClr val="0F4662"/>
                </a:solidFill>
                <a:latin typeface="Quicksand Bold"/>
                <a:ea typeface="Quicksand Bold"/>
                <a:cs typeface="Quicksand Bold"/>
                <a:sym typeface="Quicksand Bold"/>
              </a:rPr>
              <a:t>Kiều Văn Hiếu</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38409" y="4714954"/>
            <a:ext cx="2671411" cy="2632973"/>
          </a:xfrm>
          <a:custGeom>
            <a:avLst/>
            <a:gdLst/>
            <a:ahLst/>
            <a:cxnLst/>
            <a:rect l="l" t="t" r="r" b="b"/>
            <a:pathLst>
              <a:path w="2671411" h="2632973">
                <a:moveTo>
                  <a:pt x="0" y="0"/>
                </a:moveTo>
                <a:lnTo>
                  <a:pt x="2671411" y="0"/>
                </a:lnTo>
                <a:lnTo>
                  <a:pt x="2671411" y="2632973"/>
                </a:lnTo>
                <a:lnTo>
                  <a:pt x="0" y="2632973"/>
                </a:lnTo>
                <a:lnTo>
                  <a:pt x="0" y="0"/>
                </a:lnTo>
                <a:close/>
              </a:path>
            </a:pathLst>
          </a:custGeom>
          <a:blipFill>
            <a:blip r:embed="rId2"/>
            <a:stretch>
              <a:fillRect/>
            </a:stretch>
          </a:blipFill>
        </p:spPr>
        <p:txBody>
          <a:bodyPr/>
          <a:lstStyle/>
          <a:p>
            <a:endParaRPr lang="en-US"/>
          </a:p>
        </p:txBody>
      </p:sp>
      <p:sp>
        <p:nvSpPr>
          <p:cNvPr id="3" name="Freeform 3"/>
          <p:cNvSpPr/>
          <p:nvPr/>
        </p:nvSpPr>
        <p:spPr>
          <a:xfrm>
            <a:off x="7836261" y="4748765"/>
            <a:ext cx="2718307" cy="2679195"/>
          </a:xfrm>
          <a:custGeom>
            <a:avLst/>
            <a:gdLst/>
            <a:ahLst/>
            <a:cxnLst/>
            <a:rect l="l" t="t" r="r" b="b"/>
            <a:pathLst>
              <a:path w="2718307" h="2679195">
                <a:moveTo>
                  <a:pt x="0" y="0"/>
                </a:moveTo>
                <a:lnTo>
                  <a:pt x="2718307" y="0"/>
                </a:lnTo>
                <a:lnTo>
                  <a:pt x="2718307" y="2679195"/>
                </a:lnTo>
                <a:lnTo>
                  <a:pt x="0" y="2679195"/>
                </a:lnTo>
                <a:lnTo>
                  <a:pt x="0" y="0"/>
                </a:lnTo>
                <a:close/>
              </a:path>
            </a:pathLst>
          </a:custGeom>
          <a:blipFill>
            <a:blip r:embed="rId2"/>
            <a:stretch>
              <a:fillRect/>
            </a:stretch>
          </a:blipFill>
        </p:spPr>
        <p:txBody>
          <a:bodyPr/>
          <a:lstStyle/>
          <a:p>
            <a:endParaRPr lang="en-US"/>
          </a:p>
        </p:txBody>
      </p:sp>
      <p:sp>
        <p:nvSpPr>
          <p:cNvPr id="4" name="Freeform 4"/>
          <p:cNvSpPr/>
          <p:nvPr/>
        </p:nvSpPr>
        <p:spPr>
          <a:xfrm flipH="1">
            <a:off x="4295645" y="4745652"/>
            <a:ext cx="2721466" cy="2682309"/>
          </a:xfrm>
          <a:custGeom>
            <a:avLst/>
            <a:gdLst/>
            <a:ahLst/>
            <a:cxnLst/>
            <a:rect l="l" t="t" r="r" b="b"/>
            <a:pathLst>
              <a:path w="2721466" h="2682309">
                <a:moveTo>
                  <a:pt x="2721466" y="0"/>
                </a:moveTo>
                <a:lnTo>
                  <a:pt x="0" y="0"/>
                </a:lnTo>
                <a:lnTo>
                  <a:pt x="0" y="2682308"/>
                </a:lnTo>
                <a:lnTo>
                  <a:pt x="2721466" y="2682308"/>
                </a:lnTo>
                <a:lnTo>
                  <a:pt x="2721466" y="0"/>
                </a:lnTo>
                <a:close/>
              </a:path>
            </a:pathLst>
          </a:custGeom>
          <a:blipFill>
            <a:blip r:embed="rId2"/>
            <a:stretch>
              <a:fillRect/>
            </a:stretch>
          </a:blipFill>
        </p:spPr>
        <p:txBody>
          <a:bodyPr/>
          <a:lstStyle/>
          <a:p>
            <a:endParaRPr lang="en-US"/>
          </a:p>
        </p:txBody>
      </p:sp>
      <p:sp>
        <p:nvSpPr>
          <p:cNvPr id="5" name="Freeform 5"/>
          <p:cNvSpPr/>
          <p:nvPr/>
        </p:nvSpPr>
        <p:spPr>
          <a:xfrm rot="-5078725">
            <a:off x="15341143" y="1083567"/>
            <a:ext cx="8949043" cy="7897531"/>
          </a:xfrm>
          <a:custGeom>
            <a:avLst/>
            <a:gdLst/>
            <a:ahLst/>
            <a:cxnLst/>
            <a:rect l="l" t="t" r="r" b="b"/>
            <a:pathLst>
              <a:path w="8949043" h="7897531">
                <a:moveTo>
                  <a:pt x="0" y="0"/>
                </a:moveTo>
                <a:lnTo>
                  <a:pt x="8949043" y="0"/>
                </a:lnTo>
                <a:lnTo>
                  <a:pt x="8949043" y="7897530"/>
                </a:lnTo>
                <a:lnTo>
                  <a:pt x="0" y="7897530"/>
                </a:lnTo>
                <a:lnTo>
                  <a:pt x="0" y="0"/>
                </a:lnTo>
                <a:close/>
              </a:path>
            </a:pathLst>
          </a:custGeom>
          <a:blipFill>
            <a:blip r:embed="rId3"/>
            <a:stretch>
              <a:fillRect/>
            </a:stretch>
          </a:blipFill>
        </p:spPr>
        <p:txBody>
          <a:bodyPr/>
          <a:lstStyle/>
          <a:p>
            <a:endParaRPr lang="en-US"/>
          </a:p>
        </p:txBody>
      </p:sp>
      <p:sp>
        <p:nvSpPr>
          <p:cNvPr id="6" name="Freeform 6"/>
          <p:cNvSpPr/>
          <p:nvPr/>
        </p:nvSpPr>
        <p:spPr>
          <a:xfrm flipH="1">
            <a:off x="11373718" y="4764636"/>
            <a:ext cx="2702205" cy="2663324"/>
          </a:xfrm>
          <a:custGeom>
            <a:avLst/>
            <a:gdLst/>
            <a:ahLst/>
            <a:cxnLst/>
            <a:rect l="l" t="t" r="r" b="b"/>
            <a:pathLst>
              <a:path w="2702205" h="2663324">
                <a:moveTo>
                  <a:pt x="2702205" y="0"/>
                </a:moveTo>
                <a:lnTo>
                  <a:pt x="0" y="0"/>
                </a:lnTo>
                <a:lnTo>
                  <a:pt x="0" y="2663324"/>
                </a:lnTo>
                <a:lnTo>
                  <a:pt x="2702205" y="2663324"/>
                </a:lnTo>
                <a:lnTo>
                  <a:pt x="2702205" y="0"/>
                </a:lnTo>
                <a:close/>
              </a:path>
            </a:pathLst>
          </a:custGeom>
          <a:blipFill>
            <a:blip r:embed="rId2"/>
            <a:stretch>
              <a:fillRect/>
            </a:stretch>
          </a:blipFill>
        </p:spPr>
        <p:txBody>
          <a:bodyPr/>
          <a:lstStyle/>
          <a:p>
            <a:endParaRPr lang="en-US"/>
          </a:p>
        </p:txBody>
      </p:sp>
      <p:sp>
        <p:nvSpPr>
          <p:cNvPr id="7" name="Freeform 7"/>
          <p:cNvSpPr/>
          <p:nvPr/>
        </p:nvSpPr>
        <p:spPr>
          <a:xfrm>
            <a:off x="1813745" y="4299439"/>
            <a:ext cx="520739" cy="954688"/>
          </a:xfrm>
          <a:custGeom>
            <a:avLst/>
            <a:gdLst/>
            <a:ahLst/>
            <a:cxnLst/>
            <a:rect l="l" t="t" r="r" b="b"/>
            <a:pathLst>
              <a:path w="520739" h="954688">
                <a:moveTo>
                  <a:pt x="0" y="0"/>
                </a:moveTo>
                <a:lnTo>
                  <a:pt x="520739" y="0"/>
                </a:lnTo>
                <a:lnTo>
                  <a:pt x="520739" y="954687"/>
                </a:lnTo>
                <a:lnTo>
                  <a:pt x="0" y="95468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Freeform 8"/>
          <p:cNvSpPr/>
          <p:nvPr/>
        </p:nvSpPr>
        <p:spPr>
          <a:xfrm rot="560373">
            <a:off x="5234310" y="4341801"/>
            <a:ext cx="599714" cy="950555"/>
          </a:xfrm>
          <a:custGeom>
            <a:avLst/>
            <a:gdLst/>
            <a:ahLst/>
            <a:cxnLst/>
            <a:rect l="l" t="t" r="r" b="b"/>
            <a:pathLst>
              <a:path w="599714" h="950555">
                <a:moveTo>
                  <a:pt x="0" y="0"/>
                </a:moveTo>
                <a:lnTo>
                  <a:pt x="599714" y="0"/>
                </a:lnTo>
                <a:lnTo>
                  <a:pt x="599714" y="950554"/>
                </a:lnTo>
                <a:lnTo>
                  <a:pt x="0" y="95055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9" name="Freeform 9"/>
          <p:cNvSpPr/>
          <p:nvPr/>
        </p:nvSpPr>
        <p:spPr>
          <a:xfrm rot="-301198">
            <a:off x="8879886" y="4406211"/>
            <a:ext cx="631057" cy="810937"/>
          </a:xfrm>
          <a:custGeom>
            <a:avLst/>
            <a:gdLst/>
            <a:ahLst/>
            <a:cxnLst/>
            <a:rect l="l" t="t" r="r" b="b"/>
            <a:pathLst>
              <a:path w="631057" h="810937">
                <a:moveTo>
                  <a:pt x="0" y="0"/>
                </a:moveTo>
                <a:lnTo>
                  <a:pt x="631057" y="0"/>
                </a:lnTo>
                <a:lnTo>
                  <a:pt x="631057" y="810937"/>
                </a:lnTo>
                <a:lnTo>
                  <a:pt x="0" y="81093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0" name="Freeform 10"/>
          <p:cNvSpPr/>
          <p:nvPr/>
        </p:nvSpPr>
        <p:spPr>
          <a:xfrm>
            <a:off x="12392793" y="4380156"/>
            <a:ext cx="664056" cy="910800"/>
          </a:xfrm>
          <a:custGeom>
            <a:avLst/>
            <a:gdLst/>
            <a:ahLst/>
            <a:cxnLst/>
            <a:rect l="l" t="t" r="r" b="b"/>
            <a:pathLst>
              <a:path w="664056" h="910800">
                <a:moveTo>
                  <a:pt x="0" y="0"/>
                </a:moveTo>
                <a:lnTo>
                  <a:pt x="664056" y="0"/>
                </a:lnTo>
                <a:lnTo>
                  <a:pt x="664056" y="910801"/>
                </a:lnTo>
                <a:lnTo>
                  <a:pt x="0" y="91080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1" name="Freeform 11"/>
          <p:cNvSpPr/>
          <p:nvPr/>
        </p:nvSpPr>
        <p:spPr>
          <a:xfrm flipH="1">
            <a:off x="14895073" y="4747155"/>
            <a:ext cx="2702205" cy="2663324"/>
          </a:xfrm>
          <a:custGeom>
            <a:avLst/>
            <a:gdLst/>
            <a:ahLst/>
            <a:cxnLst/>
            <a:rect l="l" t="t" r="r" b="b"/>
            <a:pathLst>
              <a:path w="2702205" h="2663324">
                <a:moveTo>
                  <a:pt x="2702205" y="0"/>
                </a:moveTo>
                <a:lnTo>
                  <a:pt x="0" y="0"/>
                </a:lnTo>
                <a:lnTo>
                  <a:pt x="0" y="2663324"/>
                </a:lnTo>
                <a:lnTo>
                  <a:pt x="2702205" y="2663324"/>
                </a:lnTo>
                <a:lnTo>
                  <a:pt x="2702205" y="0"/>
                </a:lnTo>
                <a:close/>
              </a:path>
            </a:pathLst>
          </a:custGeom>
          <a:blipFill>
            <a:blip r:embed="rId2"/>
            <a:stretch>
              <a:fillRect/>
            </a:stretch>
          </a:blipFill>
        </p:spPr>
        <p:txBody>
          <a:bodyPr/>
          <a:lstStyle/>
          <a:p>
            <a:endParaRPr lang="en-US"/>
          </a:p>
        </p:txBody>
      </p:sp>
      <p:sp>
        <p:nvSpPr>
          <p:cNvPr id="12" name="Freeform 12"/>
          <p:cNvSpPr/>
          <p:nvPr/>
        </p:nvSpPr>
        <p:spPr>
          <a:xfrm>
            <a:off x="15828523" y="4268988"/>
            <a:ext cx="972155" cy="1016633"/>
          </a:xfrm>
          <a:custGeom>
            <a:avLst/>
            <a:gdLst/>
            <a:ahLst/>
            <a:cxnLst/>
            <a:rect l="l" t="t" r="r" b="b"/>
            <a:pathLst>
              <a:path w="972155" h="1016633">
                <a:moveTo>
                  <a:pt x="0" y="0"/>
                </a:moveTo>
                <a:lnTo>
                  <a:pt x="972155" y="0"/>
                </a:lnTo>
                <a:lnTo>
                  <a:pt x="972155" y="1016633"/>
                </a:lnTo>
                <a:lnTo>
                  <a:pt x="0" y="1016633"/>
                </a:lnTo>
                <a:lnTo>
                  <a:pt x="0" y="0"/>
                </a:lnTo>
                <a:close/>
              </a:path>
            </a:pathLst>
          </a:custGeom>
          <a:blipFill>
            <a:blip r:embed="rId12"/>
            <a:stretch>
              <a:fillRect/>
            </a:stretch>
          </a:blipFill>
        </p:spPr>
        <p:txBody>
          <a:bodyPr/>
          <a:lstStyle/>
          <a:p>
            <a:endParaRPr lang="en-US"/>
          </a:p>
        </p:txBody>
      </p:sp>
      <p:sp>
        <p:nvSpPr>
          <p:cNvPr id="13" name="TextBox 13"/>
          <p:cNvSpPr txBox="1"/>
          <p:nvPr/>
        </p:nvSpPr>
        <p:spPr>
          <a:xfrm>
            <a:off x="1786429" y="1848445"/>
            <a:ext cx="15018343" cy="1000125"/>
          </a:xfrm>
          <a:prstGeom prst="rect">
            <a:avLst/>
          </a:prstGeom>
        </p:spPr>
        <p:txBody>
          <a:bodyPr lIns="0" tIns="0" rIns="0" bIns="0" rtlCol="0" anchor="t">
            <a:spAutoFit/>
          </a:bodyPr>
          <a:lstStyle/>
          <a:p>
            <a:pPr algn="ctr">
              <a:lnSpc>
                <a:spcPts val="7800"/>
              </a:lnSpc>
            </a:pPr>
            <a:r>
              <a:rPr lang="en-US" sz="6500" b="1">
                <a:solidFill>
                  <a:srgbClr val="0F4662"/>
                </a:solidFill>
                <a:latin typeface="Montserrat Bold"/>
                <a:ea typeface="Montserrat Bold"/>
                <a:cs typeface="Montserrat Bold"/>
                <a:sym typeface="Montserrat Bold"/>
              </a:rPr>
              <a:t>Nội dung  trình bày</a:t>
            </a:r>
          </a:p>
        </p:txBody>
      </p:sp>
      <p:sp>
        <p:nvSpPr>
          <p:cNvPr id="14" name="TextBox 14"/>
          <p:cNvSpPr txBox="1"/>
          <p:nvPr/>
        </p:nvSpPr>
        <p:spPr>
          <a:xfrm>
            <a:off x="1089701" y="5437406"/>
            <a:ext cx="1968827" cy="913964"/>
          </a:xfrm>
          <a:prstGeom prst="rect">
            <a:avLst/>
          </a:prstGeom>
        </p:spPr>
        <p:txBody>
          <a:bodyPr lIns="0" tIns="0" rIns="0" bIns="0" rtlCol="0" anchor="t">
            <a:spAutoFit/>
          </a:bodyPr>
          <a:lstStyle/>
          <a:p>
            <a:pPr algn="ctr">
              <a:lnSpc>
                <a:spcPts val="3761"/>
              </a:lnSpc>
            </a:pPr>
            <a:r>
              <a:rPr lang="en-US" sz="2507" b="1">
                <a:solidFill>
                  <a:srgbClr val="0F4662"/>
                </a:solidFill>
                <a:latin typeface="Montserrat Bold"/>
                <a:ea typeface="Montserrat Bold"/>
                <a:cs typeface="Montserrat Bold"/>
                <a:sym typeface="Montserrat Bold"/>
              </a:rPr>
              <a:t>GIỚI THIỆU ĐỀ TÀI</a:t>
            </a:r>
          </a:p>
        </p:txBody>
      </p:sp>
      <p:sp>
        <p:nvSpPr>
          <p:cNvPr id="15" name="TextBox 15"/>
          <p:cNvSpPr txBox="1"/>
          <p:nvPr/>
        </p:nvSpPr>
        <p:spPr>
          <a:xfrm>
            <a:off x="4653519" y="5473365"/>
            <a:ext cx="2005717" cy="1438820"/>
          </a:xfrm>
          <a:prstGeom prst="rect">
            <a:avLst/>
          </a:prstGeom>
        </p:spPr>
        <p:txBody>
          <a:bodyPr lIns="0" tIns="0" rIns="0" bIns="0" rtlCol="0" anchor="t">
            <a:spAutoFit/>
          </a:bodyPr>
          <a:lstStyle/>
          <a:p>
            <a:pPr algn="ctr">
              <a:lnSpc>
                <a:spcPts val="3831"/>
              </a:lnSpc>
            </a:pPr>
            <a:r>
              <a:rPr lang="en-US" sz="2554" b="1">
                <a:solidFill>
                  <a:srgbClr val="0F4662"/>
                </a:solidFill>
                <a:latin typeface="Montserrat Bold"/>
                <a:ea typeface="Montserrat Bold"/>
                <a:cs typeface="Montserrat Bold"/>
                <a:sym typeface="Montserrat Bold"/>
              </a:rPr>
              <a:t>PHÂN TÍCH THIẾT KẾ</a:t>
            </a:r>
          </a:p>
          <a:p>
            <a:pPr algn="ctr">
              <a:lnSpc>
                <a:spcPts val="3831"/>
              </a:lnSpc>
            </a:pPr>
            <a:r>
              <a:rPr lang="en-US" sz="2554" b="1">
                <a:solidFill>
                  <a:srgbClr val="0F4662"/>
                </a:solidFill>
                <a:latin typeface="Montserrat Bold"/>
                <a:ea typeface="Montserrat Bold"/>
                <a:cs typeface="Montserrat Bold"/>
                <a:sym typeface="Montserrat Bold"/>
              </a:rPr>
              <a:t>HỆ THỐNG</a:t>
            </a:r>
          </a:p>
        </p:txBody>
      </p:sp>
      <p:sp>
        <p:nvSpPr>
          <p:cNvPr id="16" name="TextBox 16"/>
          <p:cNvSpPr txBox="1"/>
          <p:nvPr/>
        </p:nvSpPr>
        <p:spPr>
          <a:xfrm>
            <a:off x="8048328" y="5427881"/>
            <a:ext cx="2294173" cy="1437239"/>
          </a:xfrm>
          <a:prstGeom prst="rect">
            <a:avLst/>
          </a:prstGeom>
        </p:spPr>
        <p:txBody>
          <a:bodyPr lIns="0" tIns="0" rIns="0" bIns="0" rtlCol="0" anchor="t">
            <a:spAutoFit/>
          </a:bodyPr>
          <a:lstStyle/>
          <a:p>
            <a:pPr algn="ctr">
              <a:lnSpc>
                <a:spcPts val="3827"/>
              </a:lnSpc>
            </a:pPr>
            <a:r>
              <a:rPr lang="en-US" sz="2551" b="1">
                <a:solidFill>
                  <a:srgbClr val="0F4662"/>
                </a:solidFill>
                <a:latin typeface="Montserrat Bold"/>
                <a:ea typeface="Montserrat Bold"/>
                <a:cs typeface="Montserrat Bold"/>
                <a:sym typeface="Montserrat Bold"/>
              </a:rPr>
              <a:t>HỆ THỐNG CHẤM BÀI DOMJUDGE</a:t>
            </a:r>
          </a:p>
        </p:txBody>
      </p:sp>
      <p:sp>
        <p:nvSpPr>
          <p:cNvPr id="17" name="TextBox 17"/>
          <p:cNvSpPr txBox="1"/>
          <p:nvPr/>
        </p:nvSpPr>
        <p:spPr>
          <a:xfrm>
            <a:off x="11729060" y="5486660"/>
            <a:ext cx="1991522" cy="1429176"/>
          </a:xfrm>
          <a:prstGeom prst="rect">
            <a:avLst/>
          </a:prstGeom>
        </p:spPr>
        <p:txBody>
          <a:bodyPr lIns="0" tIns="0" rIns="0" bIns="0" rtlCol="0" anchor="t">
            <a:spAutoFit/>
          </a:bodyPr>
          <a:lstStyle/>
          <a:p>
            <a:pPr algn="ctr">
              <a:lnSpc>
                <a:spcPts val="3804"/>
              </a:lnSpc>
            </a:pPr>
            <a:r>
              <a:rPr lang="en-US" sz="2536" b="1">
                <a:solidFill>
                  <a:srgbClr val="0F4662"/>
                </a:solidFill>
                <a:latin typeface="Montserrat Bold"/>
                <a:ea typeface="Montserrat Bold"/>
                <a:cs typeface="Montserrat Bold"/>
                <a:sym typeface="Montserrat Bold"/>
              </a:rPr>
              <a:t>XÂY DỰNG HỆ THỐNG GỢI Ý</a:t>
            </a:r>
          </a:p>
        </p:txBody>
      </p:sp>
      <p:sp>
        <p:nvSpPr>
          <p:cNvPr id="18" name="TextBox 18"/>
          <p:cNvSpPr txBox="1"/>
          <p:nvPr/>
        </p:nvSpPr>
        <p:spPr>
          <a:xfrm>
            <a:off x="15250415" y="5469179"/>
            <a:ext cx="1991522" cy="945971"/>
          </a:xfrm>
          <a:prstGeom prst="rect">
            <a:avLst/>
          </a:prstGeom>
        </p:spPr>
        <p:txBody>
          <a:bodyPr lIns="0" tIns="0" rIns="0" bIns="0" rtlCol="0" anchor="t">
            <a:spAutoFit/>
          </a:bodyPr>
          <a:lstStyle/>
          <a:p>
            <a:pPr algn="ctr">
              <a:lnSpc>
                <a:spcPts val="3804"/>
              </a:lnSpc>
            </a:pPr>
            <a:r>
              <a:rPr lang="en-US" sz="2536" b="1">
                <a:solidFill>
                  <a:srgbClr val="0F4662"/>
                </a:solidFill>
                <a:latin typeface="Montserrat Bold"/>
                <a:ea typeface="Montserrat Bold"/>
                <a:cs typeface="Montserrat Bold"/>
                <a:sym typeface="Montserrat Bold"/>
              </a:rPr>
              <a:t>TRIỂN KHAI HỆ THỐNG</a:t>
            </a:r>
          </a:p>
        </p:txBody>
      </p:sp>
      <p:sp>
        <p:nvSpPr>
          <p:cNvPr id="19" name="TextBox 19"/>
          <p:cNvSpPr txBox="1"/>
          <p:nvPr/>
        </p:nvSpPr>
        <p:spPr>
          <a:xfrm>
            <a:off x="17747643" y="9509200"/>
            <a:ext cx="192088" cy="446404"/>
          </a:xfrm>
          <a:prstGeom prst="rect">
            <a:avLst/>
          </a:prstGeom>
        </p:spPr>
        <p:txBody>
          <a:bodyPr lIns="0" tIns="0" rIns="0" bIns="0" rtlCol="0" anchor="t">
            <a:spAutoFit/>
          </a:bodyPr>
          <a:lstStyle/>
          <a:p>
            <a:pPr algn="ctr">
              <a:lnSpc>
                <a:spcPts val="3831"/>
              </a:lnSpc>
              <a:spcBef>
                <a:spcPct val="0"/>
              </a:spcBef>
            </a:pPr>
            <a:r>
              <a:rPr lang="en-US" sz="2554" b="1" dirty="0">
                <a:solidFill>
                  <a:srgbClr val="0F4662"/>
                </a:solidFill>
                <a:latin typeface="Montserrat Bold"/>
                <a:ea typeface="Montserrat Bold"/>
                <a:cs typeface="Montserrat Bold"/>
                <a:sym typeface="Montserrat Bold"/>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AutoShape 2"/>
          <p:cNvSpPr/>
          <p:nvPr/>
        </p:nvSpPr>
        <p:spPr>
          <a:xfrm>
            <a:off x="5897880" y="9296400"/>
            <a:ext cx="6492240" cy="0"/>
          </a:xfrm>
          <a:prstGeom prst="line">
            <a:avLst/>
          </a:prstGeom>
          <a:ln w="76200" cap="flat">
            <a:solidFill>
              <a:srgbClr val="0F4662"/>
            </a:solidFill>
            <a:prstDash val="solid"/>
            <a:headEnd type="none" w="sm" len="sm"/>
            <a:tailEnd type="none" w="sm" len="sm"/>
          </a:ln>
        </p:spPr>
        <p:txBody>
          <a:bodyPr/>
          <a:lstStyle/>
          <a:p>
            <a:endParaRPr lang="en-US"/>
          </a:p>
        </p:txBody>
      </p:sp>
      <p:sp>
        <p:nvSpPr>
          <p:cNvPr id="3" name="Freeform 3"/>
          <p:cNvSpPr/>
          <p:nvPr/>
        </p:nvSpPr>
        <p:spPr>
          <a:xfrm>
            <a:off x="8304001" y="9769162"/>
            <a:ext cx="1679997" cy="249900"/>
          </a:xfrm>
          <a:custGeom>
            <a:avLst/>
            <a:gdLst/>
            <a:ahLst/>
            <a:cxnLst/>
            <a:rect l="l" t="t" r="r" b="b"/>
            <a:pathLst>
              <a:path w="1679997" h="249900">
                <a:moveTo>
                  <a:pt x="0" y="0"/>
                </a:moveTo>
                <a:lnTo>
                  <a:pt x="1679998" y="0"/>
                </a:lnTo>
                <a:lnTo>
                  <a:pt x="1679998"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5119919" y="4572000"/>
            <a:ext cx="8048163" cy="1028700"/>
          </a:xfrm>
          <a:prstGeom prst="rect">
            <a:avLst/>
          </a:prstGeom>
        </p:spPr>
        <p:txBody>
          <a:bodyPr lIns="0" tIns="0" rIns="0" bIns="0" rtlCol="0" anchor="t">
            <a:spAutoFit/>
          </a:bodyPr>
          <a:lstStyle/>
          <a:p>
            <a:pPr marL="0" lvl="0" indent="0" algn="l">
              <a:lnSpc>
                <a:spcPts val="8400"/>
              </a:lnSpc>
              <a:spcBef>
                <a:spcPct val="0"/>
              </a:spcBef>
            </a:pPr>
            <a:r>
              <a:rPr lang="en-US" sz="6000" b="1" i="1">
                <a:solidFill>
                  <a:srgbClr val="0F4662"/>
                </a:solidFill>
                <a:latin typeface="Montserrat Bold Italics"/>
                <a:ea typeface="Montserrat Bold Italics"/>
                <a:cs typeface="Montserrat Bold Italics"/>
                <a:sym typeface="Montserrat Bold Italics"/>
              </a:rPr>
              <a:t>1. GIỚI THIỆU ĐỀ TÀI</a:t>
            </a:r>
          </a:p>
        </p:txBody>
      </p:sp>
      <p:sp>
        <p:nvSpPr>
          <p:cNvPr id="5" name="TextBox 5"/>
          <p:cNvSpPr txBox="1"/>
          <p:nvPr/>
        </p:nvSpPr>
        <p:spPr>
          <a:xfrm>
            <a:off x="17731917" y="9509200"/>
            <a:ext cx="223540" cy="446404"/>
          </a:xfrm>
          <a:prstGeom prst="rect">
            <a:avLst/>
          </a:prstGeom>
        </p:spPr>
        <p:txBody>
          <a:bodyPr lIns="0" tIns="0" rIns="0" bIns="0" rtlCol="0" anchor="t">
            <a:spAutoFit/>
          </a:bodyPr>
          <a:lstStyle/>
          <a:p>
            <a:pPr algn="ctr">
              <a:lnSpc>
                <a:spcPts val="3831"/>
              </a:lnSpc>
              <a:spcBef>
                <a:spcPct val="0"/>
              </a:spcBef>
            </a:pPr>
            <a:r>
              <a:rPr lang="en-US" sz="2554" b="1" dirty="0">
                <a:solidFill>
                  <a:srgbClr val="0F4662"/>
                </a:solidFill>
                <a:latin typeface="Montserrat Bold"/>
                <a:ea typeface="Montserrat Bold"/>
                <a:cs typeface="Montserrat Bold"/>
                <a:sym typeface="Montserrat Bold"/>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D5B84-45F1-4336-ABBE-D69EC2EB0A4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71FA48A-A97E-9018-6D78-A08672898CF2}"/>
              </a:ext>
            </a:extLst>
          </p:cNvPr>
          <p:cNvSpPr/>
          <p:nvPr/>
        </p:nvSpPr>
        <p:spPr>
          <a:xfrm>
            <a:off x="5897880" y="9296400"/>
            <a:ext cx="6492240" cy="0"/>
          </a:xfrm>
          <a:prstGeom prst="line">
            <a:avLst/>
          </a:prstGeom>
          <a:ln w="76200" cap="flat">
            <a:solidFill>
              <a:srgbClr val="0F4662"/>
            </a:solidFill>
            <a:prstDash val="solid"/>
            <a:headEnd type="none" w="sm" len="sm"/>
            <a:tailEnd type="none" w="sm" len="sm"/>
          </a:ln>
        </p:spPr>
        <p:txBody>
          <a:bodyPr/>
          <a:lstStyle/>
          <a:p>
            <a:endParaRPr lang="en-US"/>
          </a:p>
        </p:txBody>
      </p:sp>
      <p:sp>
        <p:nvSpPr>
          <p:cNvPr id="3" name="Freeform 3">
            <a:extLst>
              <a:ext uri="{FF2B5EF4-FFF2-40B4-BE49-F238E27FC236}">
                <a16:creationId xmlns:a16="http://schemas.microsoft.com/office/drawing/2014/main" id="{8F07B610-E28E-794C-09B3-62CC3436F2C4}"/>
              </a:ext>
            </a:extLst>
          </p:cNvPr>
          <p:cNvSpPr/>
          <p:nvPr/>
        </p:nvSpPr>
        <p:spPr>
          <a:xfrm>
            <a:off x="8304001" y="9769162"/>
            <a:ext cx="1679997" cy="249900"/>
          </a:xfrm>
          <a:custGeom>
            <a:avLst/>
            <a:gdLst/>
            <a:ahLst/>
            <a:cxnLst/>
            <a:rect l="l" t="t" r="r" b="b"/>
            <a:pathLst>
              <a:path w="1679997" h="249900">
                <a:moveTo>
                  <a:pt x="0" y="0"/>
                </a:moveTo>
                <a:lnTo>
                  <a:pt x="1679998" y="0"/>
                </a:lnTo>
                <a:lnTo>
                  <a:pt x="1679998"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CED51CDF-692A-0221-6445-18AE8D74732C}"/>
              </a:ext>
            </a:extLst>
          </p:cNvPr>
          <p:cNvSpPr/>
          <p:nvPr/>
        </p:nvSpPr>
        <p:spPr>
          <a:xfrm>
            <a:off x="9675720" y="1628409"/>
            <a:ext cx="8485122" cy="7422391"/>
          </a:xfrm>
          <a:custGeom>
            <a:avLst/>
            <a:gdLst/>
            <a:ahLst/>
            <a:cxnLst/>
            <a:rect l="l" t="t" r="r" b="b"/>
            <a:pathLst>
              <a:path w="8485122" h="7422391">
                <a:moveTo>
                  <a:pt x="0" y="0"/>
                </a:moveTo>
                <a:lnTo>
                  <a:pt x="8485122" y="0"/>
                </a:lnTo>
                <a:lnTo>
                  <a:pt x="8485122" y="7422391"/>
                </a:lnTo>
                <a:lnTo>
                  <a:pt x="0" y="7422391"/>
                </a:lnTo>
                <a:lnTo>
                  <a:pt x="0" y="0"/>
                </a:lnTo>
                <a:close/>
              </a:path>
            </a:pathLst>
          </a:custGeom>
          <a:blipFill>
            <a:blip r:embed="rId4"/>
            <a:stretch>
              <a:fillRect r="-55511"/>
            </a:stretch>
          </a:blipFill>
        </p:spPr>
        <p:txBody>
          <a:bodyPr/>
          <a:lstStyle/>
          <a:p>
            <a:endParaRPr lang="en-US"/>
          </a:p>
        </p:txBody>
      </p:sp>
      <p:sp>
        <p:nvSpPr>
          <p:cNvPr id="5" name="TextBox 5">
            <a:extLst>
              <a:ext uri="{FF2B5EF4-FFF2-40B4-BE49-F238E27FC236}">
                <a16:creationId xmlns:a16="http://schemas.microsoft.com/office/drawing/2014/main" id="{C416B5DF-1759-D3EA-7640-971C5A2D390E}"/>
              </a:ext>
            </a:extLst>
          </p:cNvPr>
          <p:cNvSpPr txBox="1"/>
          <p:nvPr/>
        </p:nvSpPr>
        <p:spPr>
          <a:xfrm>
            <a:off x="1028700" y="599709"/>
            <a:ext cx="8048163" cy="1028700"/>
          </a:xfrm>
          <a:prstGeom prst="rect">
            <a:avLst/>
          </a:prstGeom>
        </p:spPr>
        <p:txBody>
          <a:bodyPr lIns="0" tIns="0" rIns="0" bIns="0" rtlCol="0" anchor="t">
            <a:spAutoFit/>
          </a:bodyPr>
          <a:lstStyle/>
          <a:p>
            <a:pPr marL="0" lvl="0" indent="0" algn="l">
              <a:lnSpc>
                <a:spcPts val="8400"/>
              </a:lnSpc>
              <a:spcBef>
                <a:spcPct val="0"/>
              </a:spcBef>
            </a:pPr>
            <a:r>
              <a:rPr lang="en-US" sz="6000" b="1" i="1" dirty="0">
                <a:solidFill>
                  <a:srgbClr val="0F4662"/>
                </a:solidFill>
                <a:latin typeface="Montserrat Bold Italics"/>
                <a:ea typeface="Montserrat Bold Italics"/>
                <a:cs typeface="Montserrat Bold Italics"/>
                <a:sym typeface="Montserrat Bold Italics"/>
              </a:rPr>
              <a:t>1. GIỚI THIỆU ĐỀ TÀI</a:t>
            </a:r>
          </a:p>
        </p:txBody>
      </p:sp>
      <p:sp>
        <p:nvSpPr>
          <p:cNvPr id="6" name="TextBox 6">
            <a:extLst>
              <a:ext uri="{FF2B5EF4-FFF2-40B4-BE49-F238E27FC236}">
                <a16:creationId xmlns:a16="http://schemas.microsoft.com/office/drawing/2014/main" id="{F2A7E867-5646-9DAD-C9FF-A84556C89375}"/>
              </a:ext>
            </a:extLst>
          </p:cNvPr>
          <p:cNvSpPr txBox="1"/>
          <p:nvPr/>
        </p:nvSpPr>
        <p:spPr>
          <a:xfrm>
            <a:off x="828839" y="2794635"/>
            <a:ext cx="8447885" cy="4631055"/>
          </a:xfrm>
          <a:prstGeom prst="rect">
            <a:avLst/>
          </a:prstGeom>
        </p:spPr>
        <p:txBody>
          <a:bodyPr lIns="0" tIns="0" rIns="0" bIns="0" rtlCol="0" anchor="t">
            <a:spAutoFit/>
          </a:bodyPr>
          <a:lstStyle/>
          <a:p>
            <a:pPr algn="just">
              <a:lnSpc>
                <a:spcPts val="4619"/>
              </a:lnSpc>
            </a:pPr>
            <a:r>
              <a:rPr lang="en-US" sz="3299">
                <a:solidFill>
                  <a:srgbClr val="0F4662"/>
                </a:solidFill>
                <a:latin typeface="Quicksand"/>
                <a:ea typeface="Quicksand"/>
                <a:cs typeface="Quicksand"/>
                <a:sym typeface="Quicksand"/>
              </a:rPr>
              <a:t>         Xuất phát từ nhu cầu học tập và thực thành lập trình thường xuyên, “Hệ thống học và thi lập trình trực tuyến” được xây dựng nhằm cho phép người học tiếp cận kiến thức thông qua các khóa học trực tuyến đa dạng, kết hợp giữa lý thuyết, bài tập thực hành và các kỳ thi lập trình.</a:t>
            </a:r>
          </a:p>
          <a:p>
            <a:pPr algn="just">
              <a:lnSpc>
                <a:spcPts val="4619"/>
              </a:lnSpc>
              <a:spcBef>
                <a:spcPct val="0"/>
              </a:spcBef>
            </a:pPr>
            <a:endParaRPr lang="en-US" sz="3299">
              <a:solidFill>
                <a:srgbClr val="0F4662"/>
              </a:solidFill>
              <a:latin typeface="Quicksand"/>
              <a:ea typeface="Quicksand"/>
              <a:cs typeface="Quicksand"/>
              <a:sym typeface="Quicksand"/>
            </a:endParaRPr>
          </a:p>
        </p:txBody>
      </p:sp>
      <p:sp>
        <p:nvSpPr>
          <p:cNvPr id="7" name="TextBox 7">
            <a:extLst>
              <a:ext uri="{FF2B5EF4-FFF2-40B4-BE49-F238E27FC236}">
                <a16:creationId xmlns:a16="http://schemas.microsoft.com/office/drawing/2014/main" id="{735F92A3-9A25-1076-5E52-D7A89513697A}"/>
              </a:ext>
            </a:extLst>
          </p:cNvPr>
          <p:cNvSpPr txBox="1"/>
          <p:nvPr/>
        </p:nvSpPr>
        <p:spPr>
          <a:xfrm>
            <a:off x="1507239" y="1628929"/>
            <a:ext cx="4726358" cy="762000"/>
          </a:xfrm>
          <a:prstGeom prst="rect">
            <a:avLst/>
          </a:prstGeom>
        </p:spPr>
        <p:txBody>
          <a:bodyPr lIns="0" tIns="0" rIns="0" bIns="0" rtlCol="0" anchor="t">
            <a:spAutoFit/>
          </a:bodyPr>
          <a:lstStyle/>
          <a:p>
            <a:pPr marL="0" lvl="0" indent="0" algn="l">
              <a:lnSpc>
                <a:spcPts val="6299"/>
              </a:lnSpc>
              <a:spcBef>
                <a:spcPct val="0"/>
              </a:spcBef>
            </a:pPr>
            <a:r>
              <a:rPr lang="en-US" sz="4500" b="1" i="1">
                <a:solidFill>
                  <a:srgbClr val="0F4662"/>
                </a:solidFill>
                <a:latin typeface="Montserrat Bold Italics"/>
                <a:ea typeface="Montserrat Bold Italics"/>
                <a:cs typeface="Montserrat Bold Italics"/>
                <a:sym typeface="Montserrat Bold Italics"/>
              </a:rPr>
              <a:t>1.1. Giới thiệu</a:t>
            </a:r>
          </a:p>
        </p:txBody>
      </p:sp>
      <p:sp>
        <p:nvSpPr>
          <p:cNvPr id="8" name="TextBox 8">
            <a:extLst>
              <a:ext uri="{FF2B5EF4-FFF2-40B4-BE49-F238E27FC236}">
                <a16:creationId xmlns:a16="http://schemas.microsoft.com/office/drawing/2014/main" id="{99C21D79-EAF4-777D-CB19-0BE55772A14B}"/>
              </a:ext>
            </a:extLst>
          </p:cNvPr>
          <p:cNvSpPr txBox="1"/>
          <p:nvPr/>
        </p:nvSpPr>
        <p:spPr>
          <a:xfrm>
            <a:off x="17747147" y="9509200"/>
            <a:ext cx="193080" cy="446404"/>
          </a:xfrm>
          <a:prstGeom prst="rect">
            <a:avLst/>
          </a:prstGeom>
        </p:spPr>
        <p:txBody>
          <a:bodyPr lIns="0" tIns="0" rIns="0" bIns="0" rtlCol="0" anchor="t">
            <a:spAutoFit/>
          </a:bodyPr>
          <a:lstStyle/>
          <a:p>
            <a:pPr algn="ctr">
              <a:lnSpc>
                <a:spcPts val="3831"/>
              </a:lnSpc>
              <a:spcBef>
                <a:spcPct val="0"/>
              </a:spcBef>
            </a:pPr>
            <a:r>
              <a:rPr lang="en-US" sz="2554" b="1" dirty="0">
                <a:solidFill>
                  <a:srgbClr val="0F4662"/>
                </a:solidFill>
                <a:latin typeface="Montserrat Bold"/>
                <a:ea typeface="Montserrat Bold"/>
                <a:cs typeface="Montserrat Bold"/>
                <a:sym typeface="Montserrat Bold"/>
              </a:rPr>
              <a:t>4</a:t>
            </a:r>
          </a:p>
        </p:txBody>
      </p:sp>
    </p:spTree>
    <p:extLst>
      <p:ext uri="{BB962C8B-B14F-4D97-AF65-F5344CB8AC3E}">
        <p14:creationId xmlns:p14="http://schemas.microsoft.com/office/powerpoint/2010/main" val="972855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AutoShape 2"/>
          <p:cNvSpPr/>
          <p:nvPr/>
        </p:nvSpPr>
        <p:spPr>
          <a:xfrm>
            <a:off x="5897880" y="9296400"/>
            <a:ext cx="6492240" cy="0"/>
          </a:xfrm>
          <a:prstGeom prst="line">
            <a:avLst/>
          </a:prstGeom>
          <a:ln w="76200" cap="flat">
            <a:solidFill>
              <a:srgbClr val="0F4662"/>
            </a:solidFill>
            <a:prstDash val="solid"/>
            <a:headEnd type="none" w="sm" len="sm"/>
            <a:tailEnd type="none" w="sm" len="sm"/>
          </a:ln>
        </p:spPr>
        <p:txBody>
          <a:bodyPr/>
          <a:lstStyle/>
          <a:p>
            <a:endParaRPr lang="en-US"/>
          </a:p>
        </p:txBody>
      </p:sp>
      <p:sp>
        <p:nvSpPr>
          <p:cNvPr id="3" name="Freeform 3"/>
          <p:cNvSpPr/>
          <p:nvPr/>
        </p:nvSpPr>
        <p:spPr>
          <a:xfrm>
            <a:off x="8304001" y="9769162"/>
            <a:ext cx="1679997" cy="249900"/>
          </a:xfrm>
          <a:custGeom>
            <a:avLst/>
            <a:gdLst/>
            <a:ahLst/>
            <a:cxnLst/>
            <a:rect l="l" t="t" r="r" b="b"/>
            <a:pathLst>
              <a:path w="1679997" h="249900">
                <a:moveTo>
                  <a:pt x="0" y="0"/>
                </a:moveTo>
                <a:lnTo>
                  <a:pt x="1679998" y="0"/>
                </a:lnTo>
                <a:lnTo>
                  <a:pt x="1679998"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9675720" y="1628409"/>
            <a:ext cx="8485122" cy="7422391"/>
          </a:xfrm>
          <a:custGeom>
            <a:avLst/>
            <a:gdLst/>
            <a:ahLst/>
            <a:cxnLst/>
            <a:rect l="l" t="t" r="r" b="b"/>
            <a:pathLst>
              <a:path w="8485122" h="7422391">
                <a:moveTo>
                  <a:pt x="0" y="0"/>
                </a:moveTo>
                <a:lnTo>
                  <a:pt x="8485122" y="0"/>
                </a:lnTo>
                <a:lnTo>
                  <a:pt x="8485122" y="7422391"/>
                </a:lnTo>
                <a:lnTo>
                  <a:pt x="0" y="7422391"/>
                </a:lnTo>
                <a:lnTo>
                  <a:pt x="0" y="0"/>
                </a:lnTo>
                <a:close/>
              </a:path>
            </a:pathLst>
          </a:custGeom>
          <a:blipFill>
            <a:blip r:embed="rId4"/>
            <a:stretch>
              <a:fillRect r="-55511"/>
            </a:stretch>
          </a:blipFill>
        </p:spPr>
        <p:txBody>
          <a:bodyPr/>
          <a:lstStyle/>
          <a:p>
            <a:endParaRPr lang="en-US"/>
          </a:p>
        </p:txBody>
      </p:sp>
      <p:sp>
        <p:nvSpPr>
          <p:cNvPr id="5" name="TextBox 5"/>
          <p:cNvSpPr txBox="1"/>
          <p:nvPr/>
        </p:nvSpPr>
        <p:spPr>
          <a:xfrm>
            <a:off x="1028700" y="599709"/>
            <a:ext cx="8048163" cy="1028700"/>
          </a:xfrm>
          <a:prstGeom prst="rect">
            <a:avLst/>
          </a:prstGeom>
        </p:spPr>
        <p:txBody>
          <a:bodyPr lIns="0" tIns="0" rIns="0" bIns="0" rtlCol="0" anchor="t">
            <a:spAutoFit/>
          </a:bodyPr>
          <a:lstStyle/>
          <a:p>
            <a:pPr marL="0" lvl="0" indent="0" algn="l">
              <a:lnSpc>
                <a:spcPts val="8400"/>
              </a:lnSpc>
              <a:spcBef>
                <a:spcPct val="0"/>
              </a:spcBef>
            </a:pPr>
            <a:r>
              <a:rPr lang="en-US" sz="6000" b="1" i="1" dirty="0">
                <a:solidFill>
                  <a:srgbClr val="0F4662"/>
                </a:solidFill>
                <a:latin typeface="Montserrat Bold Italics"/>
                <a:ea typeface="Montserrat Bold Italics"/>
                <a:cs typeface="Montserrat Bold Italics"/>
                <a:sym typeface="Montserrat Bold Italics"/>
              </a:rPr>
              <a:t>1. GIỚI THIỆU ĐỀ TÀI</a:t>
            </a:r>
          </a:p>
        </p:txBody>
      </p:sp>
      <p:sp>
        <p:nvSpPr>
          <p:cNvPr id="7" name="TextBox 7"/>
          <p:cNvSpPr txBox="1"/>
          <p:nvPr/>
        </p:nvSpPr>
        <p:spPr>
          <a:xfrm>
            <a:off x="1507239" y="1628929"/>
            <a:ext cx="4726358" cy="748538"/>
          </a:xfrm>
          <a:prstGeom prst="rect">
            <a:avLst/>
          </a:prstGeom>
        </p:spPr>
        <p:txBody>
          <a:bodyPr lIns="0" tIns="0" rIns="0" bIns="0" rtlCol="0" anchor="t">
            <a:spAutoFit/>
          </a:bodyPr>
          <a:lstStyle/>
          <a:p>
            <a:pPr marL="0" lvl="0" indent="0" algn="l">
              <a:lnSpc>
                <a:spcPts val="6299"/>
              </a:lnSpc>
              <a:spcBef>
                <a:spcPct val="0"/>
              </a:spcBef>
            </a:pPr>
            <a:r>
              <a:rPr lang="en-US" sz="4500" b="1" i="1" dirty="0">
                <a:solidFill>
                  <a:srgbClr val="0F4662"/>
                </a:solidFill>
                <a:latin typeface="Montserrat Bold Italics"/>
                <a:ea typeface="Montserrat Bold Italics"/>
                <a:cs typeface="Montserrat Bold Italics"/>
                <a:sym typeface="Montserrat Bold Italics"/>
              </a:rPr>
              <a:t>1.2. </a:t>
            </a:r>
            <a:r>
              <a:rPr lang="en-US" sz="4500" b="1" i="1" dirty="0" err="1">
                <a:solidFill>
                  <a:srgbClr val="0F4662"/>
                </a:solidFill>
                <a:latin typeface="Montserrat Bold Italics"/>
                <a:ea typeface="Montserrat Bold Italics"/>
                <a:cs typeface="Montserrat Bold Italics"/>
                <a:sym typeface="Montserrat Bold Italics"/>
              </a:rPr>
              <a:t>Tổng</a:t>
            </a:r>
            <a:r>
              <a:rPr lang="en-US" sz="4500" b="1" i="1" dirty="0">
                <a:solidFill>
                  <a:srgbClr val="0F4662"/>
                </a:solidFill>
                <a:latin typeface="Montserrat Bold Italics"/>
                <a:ea typeface="Montserrat Bold Italics"/>
                <a:cs typeface="Montserrat Bold Italics"/>
                <a:sym typeface="Montserrat Bold Italics"/>
              </a:rPr>
              <a:t> </a:t>
            </a:r>
            <a:r>
              <a:rPr lang="en-US" sz="4500" b="1" i="1" dirty="0" err="1">
                <a:solidFill>
                  <a:srgbClr val="0F4662"/>
                </a:solidFill>
                <a:latin typeface="Montserrat Bold Italics"/>
                <a:ea typeface="Montserrat Bold Italics"/>
                <a:cs typeface="Montserrat Bold Italics"/>
                <a:sym typeface="Montserrat Bold Italics"/>
              </a:rPr>
              <a:t>quan</a:t>
            </a:r>
            <a:endParaRPr lang="en-US" sz="4500" b="1" i="1" dirty="0">
              <a:solidFill>
                <a:srgbClr val="0F4662"/>
              </a:solidFill>
              <a:latin typeface="Montserrat Bold Italics"/>
              <a:ea typeface="Montserrat Bold Italics"/>
              <a:cs typeface="Montserrat Bold Italics"/>
              <a:sym typeface="Montserrat Bold Italics"/>
            </a:endParaRPr>
          </a:p>
        </p:txBody>
      </p:sp>
      <p:sp>
        <p:nvSpPr>
          <p:cNvPr id="8" name="TextBox 8"/>
          <p:cNvSpPr txBox="1"/>
          <p:nvPr/>
        </p:nvSpPr>
        <p:spPr>
          <a:xfrm>
            <a:off x="17747147" y="9509200"/>
            <a:ext cx="193080" cy="464645"/>
          </a:xfrm>
          <a:prstGeom prst="rect">
            <a:avLst/>
          </a:prstGeom>
        </p:spPr>
        <p:txBody>
          <a:bodyPr lIns="0" tIns="0" rIns="0" bIns="0" rtlCol="0" anchor="t">
            <a:spAutoFit/>
          </a:bodyPr>
          <a:lstStyle/>
          <a:p>
            <a:pPr algn="ctr">
              <a:lnSpc>
                <a:spcPts val="3831"/>
              </a:lnSpc>
              <a:spcBef>
                <a:spcPct val="0"/>
              </a:spcBef>
            </a:pPr>
            <a:r>
              <a:rPr lang="en-US" sz="2554" b="1">
                <a:solidFill>
                  <a:srgbClr val="0F4662"/>
                </a:solidFill>
                <a:latin typeface="Montserrat Bold"/>
                <a:ea typeface="Montserrat Bold"/>
                <a:cs typeface="Montserrat Bold"/>
                <a:sym typeface="Montserrat Bold"/>
              </a:rPr>
              <a:t>5</a:t>
            </a:r>
          </a:p>
        </p:txBody>
      </p:sp>
      <p:sp>
        <p:nvSpPr>
          <p:cNvPr id="11" name="TextBox 8">
            <a:extLst>
              <a:ext uri="{FF2B5EF4-FFF2-40B4-BE49-F238E27FC236}">
                <a16:creationId xmlns:a16="http://schemas.microsoft.com/office/drawing/2014/main" id="{05E2219B-159B-CB0A-8FA2-9296C5B8177D}"/>
              </a:ext>
            </a:extLst>
          </p:cNvPr>
          <p:cNvSpPr txBox="1"/>
          <p:nvPr/>
        </p:nvSpPr>
        <p:spPr>
          <a:xfrm>
            <a:off x="1407183" y="3083760"/>
            <a:ext cx="7279617" cy="3964740"/>
          </a:xfrm>
          <a:prstGeom prst="rect">
            <a:avLst/>
          </a:prstGeom>
        </p:spPr>
        <p:txBody>
          <a:bodyPr lIns="0" tIns="0" rIns="0" bIns="0" rtlCol="0" anchor="t">
            <a:spAutoFit/>
          </a:bodyPr>
          <a:lstStyle/>
          <a:p>
            <a:pPr marL="816609" lvl="1" indent="-514350" algn="just">
              <a:lnSpc>
                <a:spcPts val="3919"/>
              </a:lnSpc>
              <a:buAutoNum type="arabicPeriod"/>
            </a:pPr>
            <a:r>
              <a:rPr lang="en-US" sz="2799" b="1" dirty="0">
                <a:solidFill>
                  <a:srgbClr val="0F4662"/>
                </a:solidFill>
                <a:latin typeface="Montserrat" panose="00000500000000000000" pitchFamily="2" charset="0"/>
                <a:ea typeface="Montserrat Italics"/>
                <a:cs typeface="Montserrat Italics"/>
                <a:sym typeface="Montserrat Italics"/>
              </a:rPr>
              <a:t>Admin</a:t>
            </a:r>
            <a:r>
              <a:rPr lang="en-US" sz="2799" dirty="0">
                <a:solidFill>
                  <a:srgbClr val="0F4662"/>
                </a:solidFill>
                <a:latin typeface="Montserrat" panose="00000500000000000000" pitchFamily="2" charset="0"/>
                <a:ea typeface="Montserrat Italics"/>
                <a:cs typeface="Montserrat Italics"/>
                <a:sym typeface="Montserrat Italics"/>
              </a:rPr>
              <a:t>: Quản </a:t>
            </a:r>
            <a:r>
              <a:rPr lang="en-US" sz="2799" dirty="0" err="1">
                <a:solidFill>
                  <a:srgbClr val="0F4662"/>
                </a:solidFill>
                <a:latin typeface="Montserrat" panose="00000500000000000000" pitchFamily="2" charset="0"/>
                <a:ea typeface="Montserrat Italics"/>
                <a:cs typeface="Montserrat Italics"/>
                <a:sym typeface="Montserrat Italics"/>
              </a:rPr>
              <a:t>lý</a:t>
            </a:r>
            <a:r>
              <a:rPr lang="en-US" sz="2799" dirty="0">
                <a:solidFill>
                  <a:srgbClr val="0F4662"/>
                </a:solidFill>
                <a:latin typeface="Montserrat" panose="00000500000000000000" pitchFamily="2" charset="0"/>
                <a:ea typeface="Montserrat Italics"/>
                <a:cs typeface="Montserrat Italics"/>
                <a:sym typeface="Montserrat Italics"/>
              </a:rPr>
              <a:t> </a:t>
            </a:r>
            <a:r>
              <a:rPr lang="en-US" sz="2799" dirty="0" err="1">
                <a:solidFill>
                  <a:srgbClr val="0F4662"/>
                </a:solidFill>
                <a:latin typeface="Montserrat" panose="00000500000000000000" pitchFamily="2" charset="0"/>
                <a:ea typeface="Montserrat Italics"/>
                <a:cs typeface="Montserrat Italics"/>
                <a:sym typeface="Montserrat Italics"/>
              </a:rPr>
              <a:t>khóa</a:t>
            </a:r>
            <a:r>
              <a:rPr lang="en-US" sz="2799" dirty="0">
                <a:solidFill>
                  <a:srgbClr val="0F4662"/>
                </a:solidFill>
                <a:latin typeface="Montserrat" panose="00000500000000000000" pitchFamily="2" charset="0"/>
                <a:ea typeface="Montserrat Italics"/>
                <a:cs typeface="Montserrat Italics"/>
                <a:sym typeface="Montserrat Italics"/>
              </a:rPr>
              <a:t> </a:t>
            </a:r>
            <a:r>
              <a:rPr lang="en-US" sz="2799" dirty="0" err="1">
                <a:solidFill>
                  <a:srgbClr val="0F4662"/>
                </a:solidFill>
                <a:latin typeface="Montserrat" panose="00000500000000000000" pitchFamily="2" charset="0"/>
                <a:ea typeface="Montserrat Italics"/>
                <a:cs typeface="Montserrat Italics"/>
                <a:sym typeface="Montserrat Italics"/>
              </a:rPr>
              <a:t>học</a:t>
            </a:r>
            <a:r>
              <a:rPr lang="en-US" sz="2799" dirty="0">
                <a:solidFill>
                  <a:srgbClr val="0F4662"/>
                </a:solidFill>
                <a:latin typeface="Montserrat" panose="00000500000000000000" pitchFamily="2" charset="0"/>
                <a:ea typeface="Montserrat Italics"/>
                <a:cs typeface="Montserrat Italics"/>
                <a:sym typeface="Montserrat Italics"/>
              </a:rPr>
              <a:t>, </a:t>
            </a:r>
            <a:r>
              <a:rPr lang="en-US" sz="2799" dirty="0" err="1">
                <a:solidFill>
                  <a:srgbClr val="0F4662"/>
                </a:solidFill>
                <a:latin typeface="Montserrat" panose="00000500000000000000" pitchFamily="2" charset="0"/>
                <a:ea typeface="Montserrat Italics"/>
                <a:cs typeface="Montserrat Italics"/>
                <a:sym typeface="Montserrat Italics"/>
              </a:rPr>
              <a:t>quản</a:t>
            </a:r>
            <a:r>
              <a:rPr lang="en-US" sz="2799" dirty="0">
                <a:solidFill>
                  <a:srgbClr val="0F4662"/>
                </a:solidFill>
                <a:latin typeface="Montserrat" panose="00000500000000000000" pitchFamily="2" charset="0"/>
                <a:ea typeface="Montserrat Italics"/>
                <a:cs typeface="Montserrat Italics"/>
                <a:sym typeface="Montserrat Italics"/>
              </a:rPr>
              <a:t> </a:t>
            </a:r>
            <a:r>
              <a:rPr lang="en-US" sz="2799" dirty="0" err="1">
                <a:solidFill>
                  <a:srgbClr val="0F4662"/>
                </a:solidFill>
                <a:latin typeface="Montserrat" panose="00000500000000000000" pitchFamily="2" charset="0"/>
                <a:ea typeface="Montserrat Italics"/>
                <a:cs typeface="Montserrat Italics"/>
                <a:sym typeface="Montserrat Italics"/>
              </a:rPr>
              <a:t>lý</a:t>
            </a:r>
            <a:r>
              <a:rPr lang="en-US" sz="2799" dirty="0">
                <a:solidFill>
                  <a:srgbClr val="0F4662"/>
                </a:solidFill>
                <a:latin typeface="Montserrat" panose="00000500000000000000" pitchFamily="2" charset="0"/>
                <a:ea typeface="Montserrat Italics"/>
                <a:cs typeface="Montserrat Italics"/>
                <a:sym typeface="Montserrat Italics"/>
              </a:rPr>
              <a:t> </a:t>
            </a:r>
            <a:r>
              <a:rPr lang="en-US" sz="2799" dirty="0" err="1">
                <a:solidFill>
                  <a:srgbClr val="0F4662"/>
                </a:solidFill>
                <a:latin typeface="Montserrat" panose="00000500000000000000" pitchFamily="2" charset="0"/>
                <a:ea typeface="Montserrat Italics"/>
                <a:cs typeface="Montserrat Italics"/>
                <a:sym typeface="Montserrat Italics"/>
              </a:rPr>
              <a:t>ngân</a:t>
            </a:r>
            <a:r>
              <a:rPr lang="en-US" sz="2799" dirty="0">
                <a:solidFill>
                  <a:srgbClr val="0F4662"/>
                </a:solidFill>
                <a:latin typeface="Montserrat" panose="00000500000000000000" pitchFamily="2" charset="0"/>
                <a:ea typeface="Montserrat Italics"/>
                <a:cs typeface="Montserrat Italics"/>
                <a:sym typeface="Montserrat Italics"/>
              </a:rPr>
              <a:t> </a:t>
            </a:r>
            <a:r>
              <a:rPr lang="en-US" sz="2799" dirty="0" err="1">
                <a:solidFill>
                  <a:srgbClr val="0F4662"/>
                </a:solidFill>
                <a:latin typeface="Montserrat" panose="00000500000000000000" pitchFamily="2" charset="0"/>
                <a:ea typeface="Montserrat Italics"/>
                <a:cs typeface="Montserrat Italics"/>
                <a:sym typeface="Montserrat Italics"/>
              </a:rPr>
              <a:t>hàng</a:t>
            </a:r>
            <a:r>
              <a:rPr lang="en-US" sz="2799" dirty="0">
                <a:solidFill>
                  <a:srgbClr val="0F4662"/>
                </a:solidFill>
                <a:latin typeface="Montserrat" panose="00000500000000000000" pitchFamily="2" charset="0"/>
                <a:ea typeface="Montserrat Italics"/>
                <a:cs typeface="Montserrat Italics"/>
                <a:sym typeface="Montserrat Italics"/>
              </a:rPr>
              <a:t> </a:t>
            </a:r>
            <a:r>
              <a:rPr lang="en-US" sz="2799" dirty="0" err="1">
                <a:solidFill>
                  <a:srgbClr val="0F4662"/>
                </a:solidFill>
                <a:latin typeface="Montserrat" panose="00000500000000000000" pitchFamily="2" charset="0"/>
                <a:ea typeface="Montserrat Italics"/>
                <a:cs typeface="Montserrat Italics"/>
                <a:sym typeface="Montserrat Italics"/>
              </a:rPr>
              <a:t>câu</a:t>
            </a:r>
            <a:r>
              <a:rPr lang="en-US" sz="2799" dirty="0">
                <a:solidFill>
                  <a:srgbClr val="0F4662"/>
                </a:solidFill>
                <a:latin typeface="Montserrat" panose="00000500000000000000" pitchFamily="2" charset="0"/>
                <a:ea typeface="Montserrat Italics"/>
                <a:cs typeface="Montserrat Italics"/>
                <a:sym typeface="Montserrat Italics"/>
              </a:rPr>
              <a:t> </a:t>
            </a:r>
            <a:r>
              <a:rPr lang="en-US" sz="2799" dirty="0" err="1">
                <a:solidFill>
                  <a:srgbClr val="0F4662"/>
                </a:solidFill>
                <a:latin typeface="Montserrat" panose="00000500000000000000" pitchFamily="2" charset="0"/>
                <a:ea typeface="Montserrat Italics"/>
                <a:cs typeface="Montserrat Italics"/>
                <a:sym typeface="Montserrat Italics"/>
              </a:rPr>
              <a:t>hỏi</a:t>
            </a:r>
            <a:r>
              <a:rPr lang="en-US" sz="2799" dirty="0">
                <a:solidFill>
                  <a:srgbClr val="0F4662"/>
                </a:solidFill>
                <a:latin typeface="Montserrat" panose="00000500000000000000" pitchFamily="2" charset="0"/>
                <a:ea typeface="Montserrat Italics"/>
                <a:cs typeface="Montserrat Italics"/>
                <a:sym typeface="Montserrat Italics"/>
              </a:rPr>
              <a:t>, </a:t>
            </a:r>
            <a:r>
              <a:rPr lang="en-US" sz="2799" dirty="0" err="1">
                <a:solidFill>
                  <a:srgbClr val="0F4662"/>
                </a:solidFill>
                <a:latin typeface="Montserrat" panose="00000500000000000000" pitchFamily="2" charset="0"/>
                <a:ea typeface="Montserrat Italics"/>
                <a:cs typeface="Montserrat Italics"/>
                <a:sym typeface="Montserrat Italics"/>
              </a:rPr>
              <a:t>tạo</a:t>
            </a:r>
            <a:r>
              <a:rPr lang="en-US" sz="2799" dirty="0">
                <a:solidFill>
                  <a:srgbClr val="0F4662"/>
                </a:solidFill>
                <a:latin typeface="Montserrat" panose="00000500000000000000" pitchFamily="2" charset="0"/>
                <a:ea typeface="Montserrat Italics"/>
                <a:cs typeface="Montserrat Italics"/>
                <a:sym typeface="Montserrat Italics"/>
              </a:rPr>
              <a:t> contest,…</a:t>
            </a:r>
          </a:p>
          <a:p>
            <a:pPr marL="816609" lvl="1" indent="-514350" algn="just">
              <a:lnSpc>
                <a:spcPts val="3919"/>
              </a:lnSpc>
              <a:buAutoNum type="arabicPeriod"/>
            </a:pPr>
            <a:endParaRPr lang="en-US" sz="2799" dirty="0">
              <a:solidFill>
                <a:srgbClr val="0F4662"/>
              </a:solidFill>
              <a:latin typeface="Montserrat" panose="00000500000000000000" pitchFamily="2" charset="0"/>
              <a:ea typeface="Montserrat Italics"/>
              <a:cs typeface="Montserrat Italics"/>
              <a:sym typeface="Montserrat Italics"/>
            </a:endParaRPr>
          </a:p>
          <a:p>
            <a:pPr marL="816609" lvl="1" indent="-514350" algn="just">
              <a:lnSpc>
                <a:spcPts val="3919"/>
              </a:lnSpc>
              <a:buAutoNum type="arabicPeriod"/>
            </a:pPr>
            <a:r>
              <a:rPr lang="en-US" sz="2799" b="1" dirty="0">
                <a:solidFill>
                  <a:srgbClr val="0F4662"/>
                </a:solidFill>
                <a:latin typeface="Montserrat" panose="00000500000000000000" pitchFamily="2" charset="0"/>
                <a:ea typeface="Montserrat Italics"/>
                <a:cs typeface="Montserrat Italics"/>
                <a:sym typeface="Montserrat Italics"/>
              </a:rPr>
              <a:t>User:</a:t>
            </a:r>
            <a:r>
              <a:rPr lang="en-US" sz="2799" dirty="0">
                <a:solidFill>
                  <a:srgbClr val="0F4662"/>
                </a:solidFill>
                <a:latin typeface="Montserrat" panose="00000500000000000000" pitchFamily="2" charset="0"/>
                <a:ea typeface="Montserrat Italics"/>
                <a:cs typeface="Montserrat Italics"/>
                <a:sym typeface="Montserrat Italics"/>
              </a:rPr>
              <a:t> </a:t>
            </a:r>
            <a:r>
              <a:rPr lang="en-US" sz="2799" dirty="0" err="1">
                <a:solidFill>
                  <a:srgbClr val="0F4662"/>
                </a:solidFill>
                <a:latin typeface="Montserrat" panose="00000500000000000000" pitchFamily="2" charset="0"/>
                <a:ea typeface="Montserrat Italics"/>
                <a:cs typeface="Montserrat Italics"/>
                <a:sym typeface="Montserrat Italics"/>
              </a:rPr>
              <a:t>đăng</a:t>
            </a:r>
            <a:r>
              <a:rPr lang="en-US" sz="2799" dirty="0">
                <a:solidFill>
                  <a:srgbClr val="0F4662"/>
                </a:solidFill>
                <a:latin typeface="Montserrat" panose="00000500000000000000" pitchFamily="2" charset="0"/>
                <a:ea typeface="Montserrat Italics"/>
                <a:cs typeface="Montserrat Italics"/>
                <a:sym typeface="Montserrat Italics"/>
              </a:rPr>
              <a:t> </a:t>
            </a:r>
            <a:r>
              <a:rPr lang="en-US" sz="2799" dirty="0" err="1">
                <a:solidFill>
                  <a:srgbClr val="0F4662"/>
                </a:solidFill>
                <a:latin typeface="Montserrat" panose="00000500000000000000" pitchFamily="2" charset="0"/>
                <a:ea typeface="Montserrat Italics"/>
                <a:cs typeface="Montserrat Italics"/>
                <a:sym typeface="Montserrat Italics"/>
              </a:rPr>
              <a:t>ký</a:t>
            </a:r>
            <a:r>
              <a:rPr lang="en-US" sz="2799" dirty="0">
                <a:solidFill>
                  <a:srgbClr val="0F4662"/>
                </a:solidFill>
                <a:latin typeface="Montserrat" panose="00000500000000000000" pitchFamily="2" charset="0"/>
                <a:ea typeface="Montserrat Italics"/>
                <a:cs typeface="Montserrat Italics"/>
                <a:sym typeface="Montserrat Italics"/>
              </a:rPr>
              <a:t> </a:t>
            </a:r>
            <a:r>
              <a:rPr lang="en-US" sz="2799" dirty="0" err="1">
                <a:solidFill>
                  <a:srgbClr val="0F4662"/>
                </a:solidFill>
                <a:latin typeface="Montserrat" panose="00000500000000000000" pitchFamily="2" charset="0"/>
                <a:ea typeface="Montserrat Italics"/>
                <a:cs typeface="Montserrat Italics"/>
                <a:sym typeface="Montserrat Italics"/>
              </a:rPr>
              <a:t>khóa</a:t>
            </a:r>
            <a:r>
              <a:rPr lang="en-US" sz="2799" dirty="0">
                <a:solidFill>
                  <a:srgbClr val="0F4662"/>
                </a:solidFill>
                <a:latin typeface="Montserrat" panose="00000500000000000000" pitchFamily="2" charset="0"/>
                <a:ea typeface="Montserrat Italics"/>
                <a:cs typeface="Montserrat Italics"/>
                <a:sym typeface="Montserrat Italics"/>
              </a:rPr>
              <a:t> </a:t>
            </a:r>
            <a:r>
              <a:rPr lang="en-US" sz="2799" dirty="0" err="1">
                <a:solidFill>
                  <a:srgbClr val="0F4662"/>
                </a:solidFill>
                <a:latin typeface="Montserrat" panose="00000500000000000000" pitchFamily="2" charset="0"/>
                <a:ea typeface="Montserrat Italics"/>
                <a:cs typeface="Montserrat Italics"/>
                <a:sym typeface="Montserrat Italics"/>
              </a:rPr>
              <a:t>học</a:t>
            </a:r>
            <a:r>
              <a:rPr lang="en-US" sz="2799" dirty="0">
                <a:solidFill>
                  <a:srgbClr val="0F4662"/>
                </a:solidFill>
                <a:latin typeface="Montserrat" panose="00000500000000000000" pitchFamily="2" charset="0"/>
                <a:ea typeface="Montserrat Italics"/>
                <a:cs typeface="Montserrat Italics"/>
                <a:sym typeface="Montserrat Italics"/>
              </a:rPr>
              <a:t>, </a:t>
            </a:r>
            <a:r>
              <a:rPr lang="en-US" sz="2799" dirty="0" err="1">
                <a:solidFill>
                  <a:srgbClr val="0F4662"/>
                </a:solidFill>
                <a:latin typeface="Montserrat" panose="00000500000000000000" pitchFamily="2" charset="0"/>
                <a:ea typeface="Montserrat Italics"/>
                <a:cs typeface="Montserrat Italics"/>
                <a:sym typeface="Montserrat Italics"/>
              </a:rPr>
              <a:t>luyện</a:t>
            </a:r>
            <a:r>
              <a:rPr lang="en-US" sz="2799" dirty="0">
                <a:solidFill>
                  <a:srgbClr val="0F4662"/>
                </a:solidFill>
                <a:latin typeface="Montserrat" panose="00000500000000000000" pitchFamily="2" charset="0"/>
                <a:ea typeface="Montserrat Italics"/>
                <a:cs typeface="Montserrat Italics"/>
                <a:sym typeface="Montserrat Italics"/>
              </a:rPr>
              <a:t> </a:t>
            </a:r>
            <a:r>
              <a:rPr lang="en-US" sz="2799" dirty="0" err="1">
                <a:solidFill>
                  <a:srgbClr val="0F4662"/>
                </a:solidFill>
                <a:latin typeface="Montserrat" panose="00000500000000000000" pitchFamily="2" charset="0"/>
                <a:ea typeface="Montserrat Italics"/>
                <a:cs typeface="Montserrat Italics"/>
                <a:sym typeface="Montserrat Italics"/>
              </a:rPr>
              <a:t>tập</a:t>
            </a:r>
            <a:r>
              <a:rPr lang="en-US" sz="2799" dirty="0">
                <a:solidFill>
                  <a:srgbClr val="0F4662"/>
                </a:solidFill>
                <a:latin typeface="Montserrat" panose="00000500000000000000" pitchFamily="2" charset="0"/>
                <a:ea typeface="Montserrat Italics"/>
                <a:cs typeface="Montserrat Italics"/>
                <a:sym typeface="Montserrat Italics"/>
              </a:rPr>
              <a:t> </a:t>
            </a:r>
            <a:r>
              <a:rPr lang="en-US" sz="2799" dirty="0" err="1">
                <a:solidFill>
                  <a:srgbClr val="0F4662"/>
                </a:solidFill>
                <a:latin typeface="Montserrat" panose="00000500000000000000" pitchFamily="2" charset="0"/>
                <a:ea typeface="Montserrat Italics"/>
                <a:cs typeface="Montserrat Italics"/>
                <a:sym typeface="Montserrat Italics"/>
              </a:rPr>
              <a:t>lập</a:t>
            </a:r>
            <a:r>
              <a:rPr lang="en-US" sz="2799" dirty="0">
                <a:solidFill>
                  <a:srgbClr val="0F4662"/>
                </a:solidFill>
                <a:latin typeface="Montserrat" panose="00000500000000000000" pitchFamily="2" charset="0"/>
                <a:ea typeface="Montserrat Italics"/>
                <a:cs typeface="Montserrat Italics"/>
                <a:sym typeface="Montserrat Italics"/>
              </a:rPr>
              <a:t> </a:t>
            </a:r>
            <a:r>
              <a:rPr lang="en-US" sz="2799" dirty="0" err="1">
                <a:solidFill>
                  <a:srgbClr val="0F4662"/>
                </a:solidFill>
                <a:latin typeface="Montserrat" panose="00000500000000000000" pitchFamily="2" charset="0"/>
                <a:ea typeface="Montserrat Italics"/>
                <a:cs typeface="Montserrat Italics"/>
                <a:sym typeface="Montserrat Italics"/>
              </a:rPr>
              <a:t>trình</a:t>
            </a:r>
            <a:r>
              <a:rPr lang="en-US" sz="2799" dirty="0">
                <a:solidFill>
                  <a:srgbClr val="0F4662"/>
                </a:solidFill>
                <a:latin typeface="Montserrat" panose="00000500000000000000" pitchFamily="2" charset="0"/>
                <a:ea typeface="Montserrat Italics"/>
                <a:cs typeface="Montserrat Italics"/>
                <a:sym typeface="Montserrat Italics"/>
              </a:rPr>
              <a:t>, </a:t>
            </a:r>
            <a:r>
              <a:rPr lang="en-US" sz="2799" dirty="0" err="1">
                <a:solidFill>
                  <a:srgbClr val="0F4662"/>
                </a:solidFill>
                <a:latin typeface="Montserrat" panose="00000500000000000000" pitchFamily="2" charset="0"/>
                <a:ea typeface="Montserrat Italics"/>
                <a:cs typeface="Montserrat Italics"/>
                <a:sym typeface="Montserrat Italics"/>
              </a:rPr>
              <a:t>làm</a:t>
            </a:r>
            <a:r>
              <a:rPr lang="en-US" sz="2799" dirty="0">
                <a:solidFill>
                  <a:srgbClr val="0F4662"/>
                </a:solidFill>
                <a:latin typeface="Montserrat" panose="00000500000000000000" pitchFamily="2" charset="0"/>
                <a:ea typeface="Montserrat Italics"/>
                <a:cs typeface="Montserrat Italics"/>
                <a:sym typeface="Montserrat Italics"/>
              </a:rPr>
              <a:t> </a:t>
            </a:r>
            <a:r>
              <a:rPr lang="en-US" sz="2799" dirty="0" err="1">
                <a:solidFill>
                  <a:srgbClr val="0F4662"/>
                </a:solidFill>
                <a:latin typeface="Montserrat" panose="00000500000000000000" pitchFamily="2" charset="0"/>
                <a:ea typeface="Montserrat Italics"/>
                <a:cs typeface="Montserrat Italics"/>
                <a:sym typeface="Montserrat Italics"/>
              </a:rPr>
              <a:t>bài</a:t>
            </a:r>
            <a:r>
              <a:rPr lang="en-US" sz="2799" dirty="0">
                <a:solidFill>
                  <a:srgbClr val="0F4662"/>
                </a:solidFill>
                <a:latin typeface="Montserrat" panose="00000500000000000000" pitchFamily="2" charset="0"/>
                <a:ea typeface="Montserrat Italics"/>
                <a:cs typeface="Montserrat Italics"/>
                <a:sym typeface="Montserrat Italics"/>
              </a:rPr>
              <a:t> </a:t>
            </a:r>
            <a:r>
              <a:rPr lang="en-US" sz="2799" dirty="0" err="1">
                <a:solidFill>
                  <a:srgbClr val="0F4662"/>
                </a:solidFill>
                <a:latin typeface="Montserrat" panose="00000500000000000000" pitchFamily="2" charset="0"/>
                <a:ea typeface="Montserrat Italics"/>
                <a:cs typeface="Montserrat Italics"/>
                <a:sym typeface="Montserrat Italics"/>
              </a:rPr>
              <a:t>thi</a:t>
            </a:r>
            <a:r>
              <a:rPr lang="en-US" sz="2799" dirty="0">
                <a:solidFill>
                  <a:srgbClr val="0F4662"/>
                </a:solidFill>
                <a:latin typeface="Montserrat" panose="00000500000000000000" pitchFamily="2" charset="0"/>
                <a:ea typeface="Montserrat Italics"/>
                <a:cs typeface="Montserrat Italics"/>
                <a:sym typeface="Montserrat Italics"/>
              </a:rPr>
              <a:t>,…</a:t>
            </a:r>
          </a:p>
          <a:p>
            <a:pPr marL="816609" lvl="1" indent="-514350" algn="just">
              <a:lnSpc>
                <a:spcPts val="3919"/>
              </a:lnSpc>
              <a:buAutoNum type="arabicPeriod"/>
            </a:pPr>
            <a:endParaRPr lang="en-US" sz="2799" dirty="0">
              <a:solidFill>
                <a:srgbClr val="0F4662"/>
              </a:solidFill>
              <a:latin typeface="Montserrat" panose="00000500000000000000" pitchFamily="2" charset="0"/>
              <a:ea typeface="Montserrat Italics"/>
              <a:cs typeface="Montserrat Italics"/>
              <a:sym typeface="Montserrat Italics"/>
            </a:endParaRPr>
          </a:p>
          <a:p>
            <a:pPr marL="816609" lvl="1" indent="-514350" algn="just">
              <a:lnSpc>
                <a:spcPts val="3919"/>
              </a:lnSpc>
              <a:buAutoNum type="arabicPeriod"/>
            </a:pPr>
            <a:r>
              <a:rPr lang="en-US" sz="2799" b="1" dirty="0" err="1">
                <a:solidFill>
                  <a:srgbClr val="0F4662"/>
                </a:solidFill>
                <a:latin typeface="Montserrat" panose="00000500000000000000" pitchFamily="2" charset="0"/>
                <a:ea typeface="Montserrat Italics"/>
                <a:cs typeface="Montserrat Italics"/>
                <a:sym typeface="Montserrat Italics"/>
              </a:rPr>
              <a:t>Hệ</a:t>
            </a:r>
            <a:r>
              <a:rPr lang="en-US" sz="2799" b="1" dirty="0">
                <a:solidFill>
                  <a:srgbClr val="0F4662"/>
                </a:solidFill>
                <a:latin typeface="Montserrat" panose="00000500000000000000" pitchFamily="2" charset="0"/>
                <a:ea typeface="Montserrat Italics"/>
                <a:cs typeface="Montserrat Italics"/>
                <a:sym typeface="Montserrat Italics"/>
              </a:rPr>
              <a:t> </a:t>
            </a:r>
            <a:r>
              <a:rPr lang="en-US" sz="2799" b="1" dirty="0" err="1">
                <a:solidFill>
                  <a:srgbClr val="0F4662"/>
                </a:solidFill>
                <a:latin typeface="Montserrat" panose="00000500000000000000" pitchFamily="2" charset="0"/>
                <a:ea typeface="Montserrat Italics"/>
                <a:cs typeface="Montserrat Italics"/>
                <a:sym typeface="Montserrat Italics"/>
              </a:rPr>
              <a:t>thống</a:t>
            </a:r>
            <a:r>
              <a:rPr lang="en-US" sz="2799" b="1" dirty="0">
                <a:solidFill>
                  <a:srgbClr val="0F4662"/>
                </a:solidFill>
                <a:latin typeface="Montserrat" panose="00000500000000000000" pitchFamily="2" charset="0"/>
                <a:ea typeface="Montserrat Italics"/>
                <a:cs typeface="Montserrat Italics"/>
                <a:sym typeface="Montserrat Italics"/>
              </a:rPr>
              <a:t> </a:t>
            </a:r>
            <a:r>
              <a:rPr lang="en-US" sz="2799" b="1" dirty="0" err="1">
                <a:solidFill>
                  <a:srgbClr val="0F4662"/>
                </a:solidFill>
                <a:latin typeface="Montserrat" panose="00000500000000000000" pitchFamily="2" charset="0"/>
                <a:ea typeface="Montserrat Italics"/>
                <a:cs typeface="Montserrat Italics"/>
                <a:sym typeface="Montserrat Italics"/>
              </a:rPr>
              <a:t>gợi</a:t>
            </a:r>
            <a:r>
              <a:rPr lang="en-US" sz="2799" b="1" dirty="0">
                <a:solidFill>
                  <a:srgbClr val="0F4662"/>
                </a:solidFill>
                <a:latin typeface="Montserrat" panose="00000500000000000000" pitchFamily="2" charset="0"/>
                <a:ea typeface="Montserrat Italics"/>
                <a:cs typeface="Montserrat Italics"/>
                <a:sym typeface="Montserrat Italics"/>
              </a:rPr>
              <a:t> ý </a:t>
            </a:r>
            <a:r>
              <a:rPr lang="en-US" sz="2799" b="1" dirty="0" err="1">
                <a:solidFill>
                  <a:srgbClr val="0F4662"/>
                </a:solidFill>
                <a:latin typeface="Montserrat" panose="00000500000000000000" pitchFamily="2" charset="0"/>
                <a:ea typeface="Montserrat Italics"/>
                <a:cs typeface="Montserrat Italics"/>
                <a:sym typeface="Montserrat Italics"/>
              </a:rPr>
              <a:t>bài</a:t>
            </a:r>
            <a:r>
              <a:rPr lang="en-US" sz="2799" b="1" dirty="0">
                <a:solidFill>
                  <a:srgbClr val="0F4662"/>
                </a:solidFill>
                <a:latin typeface="Montserrat" panose="00000500000000000000" pitchFamily="2" charset="0"/>
                <a:ea typeface="Montserrat Italics"/>
                <a:cs typeface="Montserrat Italics"/>
                <a:sym typeface="Montserrat Italics"/>
              </a:rPr>
              <a:t> </a:t>
            </a:r>
            <a:r>
              <a:rPr lang="en-US" sz="2799" b="1" dirty="0" err="1">
                <a:solidFill>
                  <a:srgbClr val="0F4662"/>
                </a:solidFill>
                <a:latin typeface="Montserrat" panose="00000500000000000000" pitchFamily="2" charset="0"/>
                <a:ea typeface="Montserrat Italics"/>
                <a:cs typeface="Montserrat Italics"/>
                <a:sym typeface="Montserrat Italics"/>
              </a:rPr>
              <a:t>tập</a:t>
            </a:r>
            <a:r>
              <a:rPr lang="en-US" sz="2799" b="1" dirty="0">
                <a:solidFill>
                  <a:srgbClr val="0F4662"/>
                </a:solidFill>
                <a:latin typeface="Montserrat" panose="00000500000000000000" pitchFamily="2" charset="0"/>
                <a:ea typeface="Montserrat Italics"/>
                <a:cs typeface="Montserrat Italics"/>
                <a:sym typeface="Montserrat Italics"/>
              </a:rPr>
              <a:t> </a:t>
            </a:r>
            <a:r>
              <a:rPr lang="en-US" sz="2799" dirty="0" err="1">
                <a:solidFill>
                  <a:srgbClr val="0F4662"/>
                </a:solidFill>
                <a:latin typeface="Montserrat" panose="00000500000000000000" pitchFamily="2" charset="0"/>
                <a:ea typeface="Montserrat Italics"/>
                <a:cs typeface="Montserrat Italics"/>
                <a:sym typeface="Montserrat Italics"/>
              </a:rPr>
              <a:t>dựa</a:t>
            </a:r>
            <a:r>
              <a:rPr lang="en-US" sz="2799" dirty="0">
                <a:solidFill>
                  <a:srgbClr val="0F4662"/>
                </a:solidFill>
                <a:latin typeface="Montserrat" panose="00000500000000000000" pitchFamily="2" charset="0"/>
                <a:ea typeface="Montserrat Italics"/>
                <a:cs typeface="Montserrat Italics"/>
                <a:sym typeface="Montserrat Italics"/>
              </a:rPr>
              <a:t> </a:t>
            </a:r>
            <a:r>
              <a:rPr lang="en-US" sz="2799" dirty="0" err="1">
                <a:solidFill>
                  <a:srgbClr val="0F4662"/>
                </a:solidFill>
                <a:latin typeface="Montserrat" panose="00000500000000000000" pitchFamily="2" charset="0"/>
                <a:ea typeface="Montserrat Italics"/>
                <a:cs typeface="Montserrat Italics"/>
                <a:sym typeface="Montserrat Italics"/>
              </a:rPr>
              <a:t>trên</a:t>
            </a:r>
            <a:r>
              <a:rPr lang="en-US" sz="2799" dirty="0">
                <a:solidFill>
                  <a:srgbClr val="0F4662"/>
                </a:solidFill>
                <a:latin typeface="Montserrat" panose="00000500000000000000" pitchFamily="2" charset="0"/>
                <a:ea typeface="Montserrat Italics"/>
                <a:cs typeface="Montserrat Italics"/>
                <a:sym typeface="Montserrat Italics"/>
              </a:rPr>
              <a:t> </a:t>
            </a:r>
            <a:r>
              <a:rPr lang="en-US" sz="2799" dirty="0" err="1">
                <a:solidFill>
                  <a:srgbClr val="0F4662"/>
                </a:solidFill>
                <a:latin typeface="Montserrat" panose="00000500000000000000" pitchFamily="2" charset="0"/>
                <a:ea typeface="Montserrat Italics"/>
                <a:cs typeface="Montserrat Italics"/>
                <a:sym typeface="Montserrat Italics"/>
              </a:rPr>
              <a:t>phương</a:t>
            </a:r>
            <a:r>
              <a:rPr lang="en-US" sz="2799" dirty="0">
                <a:solidFill>
                  <a:srgbClr val="0F4662"/>
                </a:solidFill>
                <a:latin typeface="Montserrat" panose="00000500000000000000" pitchFamily="2" charset="0"/>
                <a:ea typeface="Montserrat Italics"/>
                <a:cs typeface="Montserrat Italics"/>
                <a:sym typeface="Montserrat Italics"/>
              </a:rPr>
              <a:t> </a:t>
            </a:r>
            <a:r>
              <a:rPr lang="en-US" sz="2799" dirty="0" err="1">
                <a:solidFill>
                  <a:srgbClr val="0F4662"/>
                </a:solidFill>
                <a:latin typeface="Montserrat" panose="00000500000000000000" pitchFamily="2" charset="0"/>
                <a:ea typeface="Montserrat Italics"/>
                <a:cs typeface="Montserrat Italics"/>
                <a:sym typeface="Montserrat Italics"/>
              </a:rPr>
              <a:t>pháp</a:t>
            </a:r>
            <a:r>
              <a:rPr lang="en-US" sz="2799" dirty="0">
                <a:solidFill>
                  <a:srgbClr val="0F4662"/>
                </a:solidFill>
                <a:latin typeface="Montserrat" panose="00000500000000000000" pitchFamily="2" charset="0"/>
                <a:ea typeface="Montserrat Italics"/>
                <a:cs typeface="Montserrat Italics"/>
                <a:sym typeface="Montserrat Italics"/>
              </a:rPr>
              <a:t> </a:t>
            </a:r>
            <a:r>
              <a:rPr lang="en-US" sz="2799" dirty="0" err="1">
                <a:solidFill>
                  <a:srgbClr val="0F4662"/>
                </a:solidFill>
                <a:latin typeface="Montserrat" panose="00000500000000000000" pitchFamily="2" charset="0"/>
                <a:ea typeface="Montserrat Italics"/>
                <a:cs typeface="Montserrat Italics"/>
                <a:sym typeface="Montserrat Italics"/>
              </a:rPr>
              <a:t>lọc</a:t>
            </a:r>
            <a:r>
              <a:rPr lang="en-US" sz="2799" dirty="0">
                <a:solidFill>
                  <a:srgbClr val="0F4662"/>
                </a:solidFill>
                <a:latin typeface="Montserrat" panose="00000500000000000000" pitchFamily="2" charset="0"/>
                <a:ea typeface="Montserrat Italics"/>
                <a:cs typeface="Montserrat Italics"/>
                <a:sym typeface="Montserrat Italics"/>
              </a:rPr>
              <a:t> lai </a:t>
            </a:r>
            <a:r>
              <a:rPr lang="en-US" sz="2799" dirty="0" err="1">
                <a:solidFill>
                  <a:srgbClr val="0F4662"/>
                </a:solidFill>
                <a:latin typeface="Montserrat" panose="00000500000000000000" pitchFamily="2" charset="0"/>
                <a:ea typeface="Montserrat Italics"/>
                <a:cs typeface="Montserrat Italics"/>
                <a:sym typeface="Montserrat Italics"/>
              </a:rPr>
              <a:t>ghép</a:t>
            </a:r>
            <a:r>
              <a:rPr lang="en-US" sz="2799" dirty="0">
                <a:solidFill>
                  <a:srgbClr val="0F4662"/>
                </a:solidFill>
                <a:latin typeface="Montserrat" panose="00000500000000000000" pitchFamily="2" charset="0"/>
                <a:ea typeface="Montserrat Italics"/>
                <a:cs typeface="Montserrat Italics"/>
                <a:sym typeface="Montserrat Italics"/>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15579303" y="714009"/>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a:off x="1024384" y="9529723"/>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1507239" y="3085609"/>
            <a:ext cx="4152433" cy="2335744"/>
          </a:xfrm>
          <a:custGeom>
            <a:avLst/>
            <a:gdLst/>
            <a:ahLst/>
            <a:cxnLst/>
            <a:rect l="l" t="t" r="r" b="b"/>
            <a:pathLst>
              <a:path w="4152433" h="2335744">
                <a:moveTo>
                  <a:pt x="0" y="0"/>
                </a:moveTo>
                <a:lnTo>
                  <a:pt x="4152433" y="0"/>
                </a:lnTo>
                <a:lnTo>
                  <a:pt x="4152433" y="2335744"/>
                </a:lnTo>
                <a:lnTo>
                  <a:pt x="0" y="2335744"/>
                </a:lnTo>
                <a:lnTo>
                  <a:pt x="0" y="0"/>
                </a:lnTo>
                <a:close/>
              </a:path>
            </a:pathLst>
          </a:custGeom>
          <a:blipFill>
            <a:blip r:embed="rId5"/>
            <a:stretch>
              <a:fillRect/>
            </a:stretch>
          </a:blipFill>
        </p:spPr>
        <p:txBody>
          <a:bodyPr/>
          <a:lstStyle/>
          <a:p>
            <a:endParaRPr lang="en-US"/>
          </a:p>
        </p:txBody>
      </p:sp>
      <p:sp>
        <p:nvSpPr>
          <p:cNvPr id="5" name="Freeform 5"/>
          <p:cNvSpPr/>
          <p:nvPr/>
        </p:nvSpPr>
        <p:spPr>
          <a:xfrm>
            <a:off x="6100389" y="3085609"/>
            <a:ext cx="5334000" cy="2667000"/>
          </a:xfrm>
          <a:custGeom>
            <a:avLst/>
            <a:gdLst/>
            <a:ahLst/>
            <a:cxnLst/>
            <a:rect l="l" t="t" r="r" b="b"/>
            <a:pathLst>
              <a:path w="5334000" h="2667000">
                <a:moveTo>
                  <a:pt x="0" y="0"/>
                </a:moveTo>
                <a:lnTo>
                  <a:pt x="5334000" y="0"/>
                </a:lnTo>
                <a:lnTo>
                  <a:pt x="5334000" y="2667000"/>
                </a:lnTo>
                <a:lnTo>
                  <a:pt x="0" y="2667000"/>
                </a:lnTo>
                <a:lnTo>
                  <a:pt x="0" y="0"/>
                </a:lnTo>
                <a:close/>
              </a:path>
            </a:pathLst>
          </a:custGeom>
          <a:blipFill>
            <a:blip r:embed="rId6"/>
            <a:stretch>
              <a:fillRect/>
            </a:stretch>
          </a:blipFill>
        </p:spPr>
        <p:txBody>
          <a:bodyPr/>
          <a:lstStyle/>
          <a:p>
            <a:endParaRPr lang="en-US"/>
          </a:p>
        </p:txBody>
      </p:sp>
      <p:sp>
        <p:nvSpPr>
          <p:cNvPr id="6" name="Freeform 6"/>
          <p:cNvSpPr/>
          <p:nvPr/>
        </p:nvSpPr>
        <p:spPr>
          <a:xfrm>
            <a:off x="1566356" y="6116678"/>
            <a:ext cx="4093316" cy="2302490"/>
          </a:xfrm>
          <a:custGeom>
            <a:avLst/>
            <a:gdLst/>
            <a:ahLst/>
            <a:cxnLst/>
            <a:rect l="l" t="t" r="r" b="b"/>
            <a:pathLst>
              <a:path w="4093316" h="2302490">
                <a:moveTo>
                  <a:pt x="0" y="0"/>
                </a:moveTo>
                <a:lnTo>
                  <a:pt x="4093316" y="0"/>
                </a:lnTo>
                <a:lnTo>
                  <a:pt x="4093316" y="2302490"/>
                </a:lnTo>
                <a:lnTo>
                  <a:pt x="0" y="2302490"/>
                </a:lnTo>
                <a:lnTo>
                  <a:pt x="0" y="0"/>
                </a:lnTo>
                <a:close/>
              </a:path>
            </a:pathLst>
          </a:custGeom>
          <a:blipFill>
            <a:blip r:embed="rId7"/>
            <a:stretch>
              <a:fillRect/>
            </a:stretch>
          </a:blipFill>
        </p:spPr>
        <p:txBody>
          <a:bodyPr/>
          <a:lstStyle/>
          <a:p>
            <a:endParaRPr lang="en-US"/>
          </a:p>
        </p:txBody>
      </p:sp>
      <p:sp>
        <p:nvSpPr>
          <p:cNvPr id="7" name="Freeform 7"/>
          <p:cNvSpPr/>
          <p:nvPr/>
        </p:nvSpPr>
        <p:spPr>
          <a:xfrm>
            <a:off x="12157462" y="3351506"/>
            <a:ext cx="4802206" cy="4802206"/>
          </a:xfrm>
          <a:custGeom>
            <a:avLst/>
            <a:gdLst/>
            <a:ahLst/>
            <a:cxnLst/>
            <a:rect l="l" t="t" r="r" b="b"/>
            <a:pathLst>
              <a:path w="4802206" h="4802206">
                <a:moveTo>
                  <a:pt x="0" y="0"/>
                </a:moveTo>
                <a:lnTo>
                  <a:pt x="4802206" y="0"/>
                </a:lnTo>
                <a:lnTo>
                  <a:pt x="4802206" y="4802206"/>
                </a:lnTo>
                <a:lnTo>
                  <a:pt x="0" y="4802206"/>
                </a:lnTo>
                <a:lnTo>
                  <a:pt x="0" y="0"/>
                </a:lnTo>
                <a:close/>
              </a:path>
            </a:pathLst>
          </a:custGeom>
          <a:blipFill>
            <a:blip r:embed="rId8"/>
            <a:stretch>
              <a:fillRect/>
            </a:stretch>
          </a:blipFill>
        </p:spPr>
        <p:txBody>
          <a:bodyPr/>
          <a:lstStyle/>
          <a:p>
            <a:endParaRPr lang="en-US"/>
          </a:p>
        </p:txBody>
      </p:sp>
      <p:sp>
        <p:nvSpPr>
          <p:cNvPr id="8" name="Freeform 8"/>
          <p:cNvSpPr/>
          <p:nvPr/>
        </p:nvSpPr>
        <p:spPr>
          <a:xfrm>
            <a:off x="7259958" y="6020524"/>
            <a:ext cx="3014862" cy="2494798"/>
          </a:xfrm>
          <a:custGeom>
            <a:avLst/>
            <a:gdLst/>
            <a:ahLst/>
            <a:cxnLst/>
            <a:rect l="l" t="t" r="r" b="b"/>
            <a:pathLst>
              <a:path w="3014862" h="2494798">
                <a:moveTo>
                  <a:pt x="0" y="0"/>
                </a:moveTo>
                <a:lnTo>
                  <a:pt x="3014862" y="0"/>
                </a:lnTo>
                <a:lnTo>
                  <a:pt x="3014862" y="2494798"/>
                </a:lnTo>
                <a:lnTo>
                  <a:pt x="0" y="2494798"/>
                </a:lnTo>
                <a:lnTo>
                  <a:pt x="0" y="0"/>
                </a:lnTo>
                <a:close/>
              </a:path>
            </a:pathLst>
          </a:custGeom>
          <a:blipFill>
            <a:blip r:embed="rId9"/>
            <a:stretch>
              <a:fillRect/>
            </a:stretch>
          </a:blipFill>
        </p:spPr>
        <p:txBody>
          <a:bodyPr/>
          <a:lstStyle/>
          <a:p>
            <a:endParaRPr lang="en-US"/>
          </a:p>
        </p:txBody>
      </p:sp>
      <p:sp>
        <p:nvSpPr>
          <p:cNvPr id="9" name="TextBox 9"/>
          <p:cNvSpPr txBox="1"/>
          <p:nvPr/>
        </p:nvSpPr>
        <p:spPr>
          <a:xfrm>
            <a:off x="1024384" y="599709"/>
            <a:ext cx="14072064" cy="1012190"/>
          </a:xfrm>
          <a:prstGeom prst="rect">
            <a:avLst/>
          </a:prstGeom>
        </p:spPr>
        <p:txBody>
          <a:bodyPr lIns="0" tIns="0" rIns="0" bIns="0" rtlCol="0" anchor="t">
            <a:spAutoFit/>
          </a:bodyPr>
          <a:lstStyle/>
          <a:p>
            <a:pPr marL="0" lvl="0" indent="0" algn="l">
              <a:lnSpc>
                <a:spcPts val="8260"/>
              </a:lnSpc>
              <a:spcBef>
                <a:spcPct val="0"/>
              </a:spcBef>
            </a:pPr>
            <a:r>
              <a:rPr lang="en-US" sz="5900" b="1" i="1">
                <a:solidFill>
                  <a:srgbClr val="0F4662"/>
                </a:solidFill>
                <a:latin typeface="Montserrat Bold Italics"/>
                <a:ea typeface="Montserrat Bold Italics"/>
                <a:cs typeface="Montserrat Bold Italics"/>
                <a:sym typeface="Montserrat Bold Italics"/>
              </a:rPr>
              <a:t>2. CƠ SỞ LÝ THUYẾT</a:t>
            </a:r>
          </a:p>
        </p:txBody>
      </p:sp>
      <p:sp>
        <p:nvSpPr>
          <p:cNvPr id="10" name="TextBox 10"/>
          <p:cNvSpPr txBox="1"/>
          <p:nvPr/>
        </p:nvSpPr>
        <p:spPr>
          <a:xfrm>
            <a:off x="1507239" y="1628929"/>
            <a:ext cx="14072064" cy="762000"/>
          </a:xfrm>
          <a:prstGeom prst="rect">
            <a:avLst/>
          </a:prstGeom>
        </p:spPr>
        <p:txBody>
          <a:bodyPr lIns="0" tIns="0" rIns="0" bIns="0" rtlCol="0" anchor="t">
            <a:spAutoFit/>
          </a:bodyPr>
          <a:lstStyle/>
          <a:p>
            <a:pPr marL="0" lvl="0" indent="0" algn="l">
              <a:lnSpc>
                <a:spcPts val="6299"/>
              </a:lnSpc>
              <a:spcBef>
                <a:spcPct val="0"/>
              </a:spcBef>
            </a:pPr>
            <a:r>
              <a:rPr lang="en-US" sz="4500" b="1" i="1">
                <a:solidFill>
                  <a:srgbClr val="0F4662"/>
                </a:solidFill>
                <a:latin typeface="Montserrat Bold Italics"/>
                <a:ea typeface="Montserrat Bold Italics"/>
                <a:cs typeface="Montserrat Bold Italics"/>
                <a:sym typeface="Montserrat Bold Italics"/>
              </a:rPr>
              <a:t>1.2. Công nghệ sử dụng</a:t>
            </a:r>
          </a:p>
        </p:txBody>
      </p:sp>
      <p:sp>
        <p:nvSpPr>
          <p:cNvPr id="11" name="TextBox 11"/>
          <p:cNvSpPr txBox="1"/>
          <p:nvPr/>
        </p:nvSpPr>
        <p:spPr>
          <a:xfrm>
            <a:off x="17740350" y="9509200"/>
            <a:ext cx="206673" cy="464645"/>
          </a:xfrm>
          <a:prstGeom prst="rect">
            <a:avLst/>
          </a:prstGeom>
        </p:spPr>
        <p:txBody>
          <a:bodyPr lIns="0" tIns="0" rIns="0" bIns="0" rtlCol="0" anchor="t">
            <a:spAutoFit/>
          </a:bodyPr>
          <a:lstStyle/>
          <a:p>
            <a:pPr algn="ctr">
              <a:lnSpc>
                <a:spcPts val="3831"/>
              </a:lnSpc>
              <a:spcBef>
                <a:spcPct val="0"/>
              </a:spcBef>
            </a:pPr>
            <a:r>
              <a:rPr lang="en-US" sz="2554" b="1">
                <a:solidFill>
                  <a:srgbClr val="0F4662"/>
                </a:solidFill>
                <a:latin typeface="Montserrat Bold"/>
                <a:ea typeface="Montserrat Bold"/>
                <a:cs typeface="Montserrat Bold"/>
                <a:sym typeface="Montserrat Bold"/>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AutoShape 2"/>
          <p:cNvSpPr/>
          <p:nvPr/>
        </p:nvSpPr>
        <p:spPr>
          <a:xfrm>
            <a:off x="5897880" y="9296400"/>
            <a:ext cx="6492240" cy="0"/>
          </a:xfrm>
          <a:prstGeom prst="line">
            <a:avLst/>
          </a:prstGeom>
          <a:ln w="76200" cap="flat">
            <a:solidFill>
              <a:srgbClr val="0F4662"/>
            </a:solidFill>
            <a:prstDash val="solid"/>
            <a:headEnd type="none" w="sm" len="sm"/>
            <a:tailEnd type="none" w="sm" len="sm"/>
          </a:ln>
        </p:spPr>
        <p:txBody>
          <a:bodyPr/>
          <a:lstStyle/>
          <a:p>
            <a:endParaRPr lang="en-US"/>
          </a:p>
        </p:txBody>
      </p:sp>
      <p:sp>
        <p:nvSpPr>
          <p:cNvPr id="3" name="Freeform 3"/>
          <p:cNvSpPr/>
          <p:nvPr/>
        </p:nvSpPr>
        <p:spPr>
          <a:xfrm>
            <a:off x="8304001" y="9769162"/>
            <a:ext cx="1679997" cy="249900"/>
          </a:xfrm>
          <a:custGeom>
            <a:avLst/>
            <a:gdLst/>
            <a:ahLst/>
            <a:cxnLst/>
            <a:rect l="l" t="t" r="r" b="b"/>
            <a:pathLst>
              <a:path w="1679997" h="249900">
                <a:moveTo>
                  <a:pt x="0" y="0"/>
                </a:moveTo>
                <a:lnTo>
                  <a:pt x="1679998" y="0"/>
                </a:lnTo>
                <a:lnTo>
                  <a:pt x="1679998"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2105536" y="4572000"/>
            <a:ext cx="14076927" cy="1028700"/>
          </a:xfrm>
          <a:prstGeom prst="rect">
            <a:avLst/>
          </a:prstGeom>
        </p:spPr>
        <p:txBody>
          <a:bodyPr lIns="0" tIns="0" rIns="0" bIns="0" rtlCol="0" anchor="t">
            <a:spAutoFit/>
          </a:bodyPr>
          <a:lstStyle/>
          <a:p>
            <a:pPr marL="0" lvl="0" indent="0" algn="l">
              <a:lnSpc>
                <a:spcPts val="8400"/>
              </a:lnSpc>
              <a:spcBef>
                <a:spcPct val="0"/>
              </a:spcBef>
            </a:pPr>
            <a:r>
              <a:rPr lang="en-US" sz="6000" b="1" i="1">
                <a:solidFill>
                  <a:srgbClr val="0F4662"/>
                </a:solidFill>
                <a:latin typeface="Montserrat Bold Italics"/>
                <a:ea typeface="Montserrat Bold Italics"/>
                <a:cs typeface="Montserrat Bold Italics"/>
                <a:sym typeface="Montserrat Bold Italics"/>
              </a:rPr>
              <a:t>2. PHÂN TÍCH THIẾT KẾ HỆ THỐNG</a:t>
            </a:r>
          </a:p>
        </p:txBody>
      </p:sp>
      <p:sp>
        <p:nvSpPr>
          <p:cNvPr id="5" name="TextBox 5"/>
          <p:cNvSpPr txBox="1"/>
          <p:nvPr/>
        </p:nvSpPr>
        <p:spPr>
          <a:xfrm>
            <a:off x="17743079" y="9509200"/>
            <a:ext cx="201216" cy="464645"/>
          </a:xfrm>
          <a:prstGeom prst="rect">
            <a:avLst/>
          </a:prstGeom>
        </p:spPr>
        <p:txBody>
          <a:bodyPr lIns="0" tIns="0" rIns="0" bIns="0" rtlCol="0" anchor="t">
            <a:spAutoFit/>
          </a:bodyPr>
          <a:lstStyle/>
          <a:p>
            <a:pPr algn="ctr">
              <a:lnSpc>
                <a:spcPts val="3831"/>
              </a:lnSpc>
              <a:spcBef>
                <a:spcPct val="0"/>
              </a:spcBef>
            </a:pPr>
            <a:r>
              <a:rPr lang="en-US" sz="2554" b="1">
                <a:solidFill>
                  <a:srgbClr val="0F4662"/>
                </a:solidFill>
                <a:latin typeface="Montserrat Bold"/>
                <a:ea typeface="Montserrat Bold"/>
                <a:cs typeface="Montserrat Bold"/>
                <a:sym typeface="Montserrat Bold"/>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15579303" y="714009"/>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a:off x="1024384" y="9529723"/>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9804025" y="1529349"/>
            <a:ext cx="8483975" cy="8757651"/>
          </a:xfrm>
          <a:custGeom>
            <a:avLst/>
            <a:gdLst/>
            <a:ahLst/>
            <a:cxnLst/>
            <a:rect l="l" t="t" r="r" b="b"/>
            <a:pathLst>
              <a:path w="8483975" h="8757651">
                <a:moveTo>
                  <a:pt x="0" y="0"/>
                </a:moveTo>
                <a:lnTo>
                  <a:pt x="8483975" y="0"/>
                </a:lnTo>
                <a:lnTo>
                  <a:pt x="8483975" y="8757651"/>
                </a:lnTo>
                <a:lnTo>
                  <a:pt x="0" y="8757651"/>
                </a:lnTo>
                <a:lnTo>
                  <a:pt x="0" y="0"/>
                </a:lnTo>
                <a:close/>
              </a:path>
            </a:pathLst>
          </a:custGeom>
          <a:blipFill>
            <a:blip r:embed="rId5"/>
            <a:stretch>
              <a:fillRect/>
            </a:stretch>
          </a:blipFill>
        </p:spPr>
        <p:txBody>
          <a:bodyPr/>
          <a:lstStyle/>
          <a:p>
            <a:endParaRPr lang="en-US"/>
          </a:p>
        </p:txBody>
      </p:sp>
      <p:sp>
        <p:nvSpPr>
          <p:cNvPr id="5" name="TextBox 5"/>
          <p:cNvSpPr txBox="1"/>
          <p:nvPr/>
        </p:nvSpPr>
        <p:spPr>
          <a:xfrm>
            <a:off x="1024384" y="609234"/>
            <a:ext cx="14072064" cy="920114"/>
          </a:xfrm>
          <a:prstGeom prst="rect">
            <a:avLst/>
          </a:prstGeom>
        </p:spPr>
        <p:txBody>
          <a:bodyPr lIns="0" tIns="0" rIns="0" bIns="0" rtlCol="0" anchor="t">
            <a:spAutoFit/>
          </a:bodyPr>
          <a:lstStyle/>
          <a:p>
            <a:pPr marL="0" lvl="0" indent="0" algn="l">
              <a:lnSpc>
                <a:spcPts val="7560"/>
              </a:lnSpc>
              <a:spcBef>
                <a:spcPct val="0"/>
              </a:spcBef>
            </a:pPr>
            <a:r>
              <a:rPr lang="en-US" sz="5400" b="1" i="1">
                <a:solidFill>
                  <a:srgbClr val="0F4662"/>
                </a:solidFill>
                <a:latin typeface="Montserrat Bold Italics"/>
                <a:ea typeface="Montserrat Bold Italics"/>
                <a:cs typeface="Montserrat Bold Italics"/>
                <a:sym typeface="Montserrat Bold Italics"/>
              </a:rPr>
              <a:t>2. PHÂN TÍCH THIẾT KẾ HỆ THỐNG</a:t>
            </a:r>
          </a:p>
        </p:txBody>
      </p:sp>
      <p:sp>
        <p:nvSpPr>
          <p:cNvPr id="6" name="TextBox 6"/>
          <p:cNvSpPr txBox="1"/>
          <p:nvPr/>
        </p:nvSpPr>
        <p:spPr>
          <a:xfrm>
            <a:off x="1238298" y="1541039"/>
            <a:ext cx="14072064" cy="606424"/>
          </a:xfrm>
          <a:prstGeom prst="rect">
            <a:avLst/>
          </a:prstGeom>
        </p:spPr>
        <p:txBody>
          <a:bodyPr lIns="0" tIns="0" rIns="0" bIns="0" rtlCol="0" anchor="t">
            <a:spAutoFit/>
          </a:bodyPr>
          <a:lstStyle/>
          <a:p>
            <a:pPr marL="0" lvl="0" indent="0" algn="l">
              <a:lnSpc>
                <a:spcPts val="4900"/>
              </a:lnSpc>
              <a:spcBef>
                <a:spcPct val="0"/>
              </a:spcBef>
            </a:pPr>
            <a:r>
              <a:rPr lang="en-US" sz="3500" b="1" i="1">
                <a:solidFill>
                  <a:srgbClr val="0F4662"/>
                </a:solidFill>
                <a:latin typeface="Montserrat Bold Italics"/>
                <a:ea typeface="Montserrat Bold Italics"/>
                <a:cs typeface="Montserrat Bold Italics"/>
                <a:sym typeface="Montserrat Bold Italics"/>
              </a:rPr>
              <a:t>2.1. Biểu đồ Usecase tổng quát</a:t>
            </a:r>
          </a:p>
        </p:txBody>
      </p:sp>
      <p:sp>
        <p:nvSpPr>
          <p:cNvPr id="7" name="TextBox 7"/>
          <p:cNvSpPr txBox="1"/>
          <p:nvPr/>
        </p:nvSpPr>
        <p:spPr>
          <a:xfrm>
            <a:off x="1507239" y="2176038"/>
            <a:ext cx="14072064" cy="537845"/>
          </a:xfrm>
          <a:prstGeom prst="rect">
            <a:avLst/>
          </a:prstGeom>
        </p:spPr>
        <p:txBody>
          <a:bodyPr lIns="0" tIns="0" rIns="0" bIns="0" rtlCol="0" anchor="t">
            <a:spAutoFit/>
          </a:bodyPr>
          <a:lstStyle/>
          <a:p>
            <a:pPr marL="0" lvl="0" indent="0" algn="l">
              <a:lnSpc>
                <a:spcPts val="4480"/>
              </a:lnSpc>
              <a:spcBef>
                <a:spcPct val="0"/>
              </a:spcBef>
            </a:pPr>
            <a:r>
              <a:rPr lang="en-US" sz="3200" b="1" i="1">
                <a:solidFill>
                  <a:srgbClr val="0F4662"/>
                </a:solidFill>
                <a:latin typeface="Montserrat Bold Italics"/>
                <a:ea typeface="Montserrat Bold Italics"/>
                <a:cs typeface="Montserrat Bold Italics"/>
                <a:sym typeface="Montserrat Bold Italics"/>
              </a:rPr>
              <a:t>Chức năng của người dùng</a:t>
            </a:r>
          </a:p>
        </p:txBody>
      </p:sp>
      <p:sp>
        <p:nvSpPr>
          <p:cNvPr id="8" name="TextBox 8"/>
          <p:cNvSpPr txBox="1"/>
          <p:nvPr/>
        </p:nvSpPr>
        <p:spPr>
          <a:xfrm>
            <a:off x="1864383" y="2854728"/>
            <a:ext cx="5890380" cy="5920105"/>
          </a:xfrm>
          <a:prstGeom prst="rect">
            <a:avLst/>
          </a:prstGeom>
        </p:spPr>
        <p:txBody>
          <a:bodyPr lIns="0" tIns="0" rIns="0" bIns="0" rtlCol="0" anchor="t">
            <a:spAutoFit/>
          </a:bodyPr>
          <a:lstStyle/>
          <a:p>
            <a:pPr marL="604519" lvl="1" indent="-302260" algn="just">
              <a:lnSpc>
                <a:spcPts val="3919"/>
              </a:lnSpc>
              <a:buFont typeface="Arial"/>
              <a:buChar char="•"/>
            </a:pPr>
            <a:r>
              <a:rPr lang="en-US" sz="2799" dirty="0" err="1">
                <a:solidFill>
                  <a:srgbClr val="0F4662"/>
                </a:solidFill>
                <a:latin typeface="Montserrat"/>
                <a:ea typeface="Montserrat"/>
                <a:cs typeface="Montserrat"/>
                <a:sym typeface="Montserrat"/>
              </a:rPr>
              <a:t>Đăng</a:t>
            </a:r>
            <a:r>
              <a:rPr lang="en-US" sz="2799" dirty="0">
                <a:solidFill>
                  <a:srgbClr val="0F4662"/>
                </a:solidFill>
                <a:latin typeface="Montserrat"/>
                <a:ea typeface="Montserrat"/>
                <a:cs typeface="Montserrat"/>
                <a:sym typeface="Montserrat"/>
              </a:rPr>
              <a:t> </a:t>
            </a:r>
            <a:r>
              <a:rPr lang="en-US" sz="2799" dirty="0" err="1">
                <a:solidFill>
                  <a:srgbClr val="0F4662"/>
                </a:solidFill>
                <a:latin typeface="Montserrat"/>
                <a:ea typeface="Montserrat"/>
                <a:cs typeface="Montserrat"/>
                <a:sym typeface="Montserrat"/>
              </a:rPr>
              <a:t>ký</a:t>
            </a:r>
            <a:r>
              <a:rPr lang="en-US" sz="2799" dirty="0">
                <a:solidFill>
                  <a:srgbClr val="0F4662"/>
                </a:solidFill>
                <a:latin typeface="Montserrat"/>
                <a:ea typeface="Montserrat"/>
                <a:cs typeface="Montserrat"/>
                <a:sym typeface="Montserrat"/>
              </a:rPr>
              <a:t> </a:t>
            </a:r>
            <a:r>
              <a:rPr lang="en-US" sz="2799" dirty="0" err="1">
                <a:solidFill>
                  <a:srgbClr val="0F4662"/>
                </a:solidFill>
                <a:latin typeface="Montserrat"/>
                <a:ea typeface="Montserrat"/>
                <a:cs typeface="Montserrat"/>
                <a:sym typeface="Montserrat"/>
              </a:rPr>
              <a:t>tài</a:t>
            </a:r>
            <a:r>
              <a:rPr lang="en-US" sz="2799" dirty="0">
                <a:solidFill>
                  <a:srgbClr val="0F4662"/>
                </a:solidFill>
                <a:latin typeface="Montserrat"/>
                <a:ea typeface="Montserrat"/>
                <a:cs typeface="Montserrat"/>
                <a:sym typeface="Montserrat"/>
              </a:rPr>
              <a:t> </a:t>
            </a:r>
            <a:r>
              <a:rPr lang="en-US" sz="2799" dirty="0" err="1">
                <a:solidFill>
                  <a:srgbClr val="0F4662"/>
                </a:solidFill>
                <a:latin typeface="Montserrat"/>
                <a:ea typeface="Montserrat"/>
                <a:cs typeface="Montserrat"/>
                <a:sym typeface="Montserrat"/>
              </a:rPr>
              <a:t>khoản</a:t>
            </a:r>
            <a:endParaRPr lang="en-US" sz="2799" dirty="0">
              <a:solidFill>
                <a:srgbClr val="0F4662"/>
              </a:solidFill>
              <a:latin typeface="Montserrat"/>
              <a:ea typeface="Montserrat"/>
              <a:cs typeface="Montserrat"/>
              <a:sym typeface="Montserrat"/>
            </a:endParaRPr>
          </a:p>
          <a:p>
            <a:pPr marL="604519" lvl="1" indent="-302260" algn="just">
              <a:lnSpc>
                <a:spcPts val="3919"/>
              </a:lnSpc>
              <a:buFont typeface="Arial"/>
              <a:buChar char="•"/>
            </a:pPr>
            <a:r>
              <a:rPr lang="en-US" sz="2799" dirty="0" err="1">
                <a:solidFill>
                  <a:srgbClr val="0F4662"/>
                </a:solidFill>
                <a:latin typeface="Montserrat"/>
                <a:ea typeface="Montserrat"/>
                <a:cs typeface="Montserrat"/>
                <a:sym typeface="Montserrat"/>
              </a:rPr>
              <a:t>Đăng</a:t>
            </a:r>
            <a:r>
              <a:rPr lang="en-US" sz="2799" dirty="0">
                <a:solidFill>
                  <a:srgbClr val="0F4662"/>
                </a:solidFill>
                <a:latin typeface="Montserrat"/>
                <a:ea typeface="Montserrat"/>
                <a:cs typeface="Montserrat"/>
                <a:sym typeface="Montserrat"/>
              </a:rPr>
              <a:t> </a:t>
            </a:r>
            <a:r>
              <a:rPr lang="en-US" sz="2799" dirty="0" err="1">
                <a:solidFill>
                  <a:srgbClr val="0F4662"/>
                </a:solidFill>
                <a:latin typeface="Montserrat"/>
                <a:ea typeface="Montserrat"/>
                <a:cs typeface="Montserrat"/>
                <a:sym typeface="Montserrat"/>
              </a:rPr>
              <a:t>nhập</a:t>
            </a:r>
            <a:r>
              <a:rPr lang="en-US" sz="2799" dirty="0">
                <a:solidFill>
                  <a:srgbClr val="0F4662"/>
                </a:solidFill>
                <a:latin typeface="Montserrat"/>
                <a:ea typeface="Montserrat"/>
                <a:cs typeface="Montserrat"/>
                <a:sym typeface="Montserrat"/>
              </a:rPr>
              <a:t> </a:t>
            </a:r>
            <a:r>
              <a:rPr lang="en-US" sz="2799" dirty="0" err="1">
                <a:solidFill>
                  <a:srgbClr val="0F4662"/>
                </a:solidFill>
                <a:latin typeface="Montserrat"/>
                <a:ea typeface="Montserrat"/>
                <a:cs typeface="Montserrat"/>
                <a:sym typeface="Montserrat"/>
              </a:rPr>
              <a:t>hệ</a:t>
            </a:r>
            <a:r>
              <a:rPr lang="en-US" sz="2799" dirty="0">
                <a:solidFill>
                  <a:srgbClr val="0F4662"/>
                </a:solidFill>
                <a:latin typeface="Montserrat"/>
                <a:ea typeface="Montserrat"/>
                <a:cs typeface="Montserrat"/>
                <a:sym typeface="Montserrat"/>
              </a:rPr>
              <a:t> </a:t>
            </a:r>
            <a:r>
              <a:rPr lang="en-US" sz="2799" dirty="0" err="1">
                <a:solidFill>
                  <a:srgbClr val="0F4662"/>
                </a:solidFill>
                <a:latin typeface="Montserrat"/>
                <a:ea typeface="Montserrat"/>
                <a:cs typeface="Montserrat"/>
                <a:sym typeface="Montserrat"/>
              </a:rPr>
              <a:t>thống</a:t>
            </a:r>
            <a:endParaRPr lang="en-US" sz="2799" dirty="0">
              <a:solidFill>
                <a:srgbClr val="0F4662"/>
              </a:solidFill>
              <a:latin typeface="Montserrat"/>
              <a:ea typeface="Montserrat"/>
              <a:cs typeface="Montserrat"/>
              <a:sym typeface="Montserrat"/>
            </a:endParaRPr>
          </a:p>
          <a:p>
            <a:pPr marL="604519" lvl="1" indent="-302260" algn="just">
              <a:lnSpc>
                <a:spcPts val="3919"/>
              </a:lnSpc>
              <a:buFont typeface="Arial"/>
              <a:buChar char="•"/>
            </a:pPr>
            <a:r>
              <a:rPr lang="en-US" sz="2799" dirty="0" err="1">
                <a:solidFill>
                  <a:srgbClr val="0F4662"/>
                </a:solidFill>
                <a:latin typeface="Montserrat"/>
                <a:ea typeface="Montserrat"/>
                <a:cs typeface="Montserrat"/>
                <a:sym typeface="Montserrat"/>
              </a:rPr>
              <a:t>Cập</a:t>
            </a:r>
            <a:r>
              <a:rPr lang="en-US" sz="2799" dirty="0">
                <a:solidFill>
                  <a:srgbClr val="0F4662"/>
                </a:solidFill>
                <a:latin typeface="Montserrat"/>
                <a:ea typeface="Montserrat"/>
                <a:cs typeface="Montserrat"/>
                <a:sym typeface="Montserrat"/>
              </a:rPr>
              <a:t> </a:t>
            </a:r>
            <a:r>
              <a:rPr lang="en-US" sz="2799" dirty="0" err="1">
                <a:solidFill>
                  <a:srgbClr val="0F4662"/>
                </a:solidFill>
                <a:latin typeface="Montserrat"/>
                <a:ea typeface="Montserrat"/>
                <a:cs typeface="Montserrat"/>
                <a:sym typeface="Montserrat"/>
              </a:rPr>
              <a:t>nhật</a:t>
            </a:r>
            <a:r>
              <a:rPr lang="en-US" sz="2799" dirty="0">
                <a:solidFill>
                  <a:srgbClr val="0F4662"/>
                </a:solidFill>
                <a:latin typeface="Montserrat"/>
                <a:ea typeface="Montserrat"/>
                <a:cs typeface="Montserrat"/>
                <a:sym typeface="Montserrat"/>
              </a:rPr>
              <a:t> </a:t>
            </a:r>
            <a:r>
              <a:rPr lang="en-US" sz="2799" dirty="0" err="1">
                <a:solidFill>
                  <a:srgbClr val="0F4662"/>
                </a:solidFill>
                <a:latin typeface="Montserrat"/>
                <a:ea typeface="Montserrat"/>
                <a:cs typeface="Montserrat"/>
                <a:sym typeface="Montserrat"/>
              </a:rPr>
              <a:t>hồ</a:t>
            </a:r>
            <a:r>
              <a:rPr lang="en-US" sz="2799" dirty="0">
                <a:solidFill>
                  <a:srgbClr val="0F4662"/>
                </a:solidFill>
                <a:latin typeface="Montserrat"/>
                <a:ea typeface="Montserrat"/>
                <a:cs typeface="Montserrat"/>
                <a:sym typeface="Montserrat"/>
              </a:rPr>
              <a:t> </a:t>
            </a:r>
            <a:r>
              <a:rPr lang="en-US" sz="2799" dirty="0" err="1">
                <a:solidFill>
                  <a:srgbClr val="0F4662"/>
                </a:solidFill>
                <a:latin typeface="Montserrat"/>
                <a:ea typeface="Montserrat"/>
                <a:cs typeface="Montserrat"/>
                <a:sym typeface="Montserrat"/>
              </a:rPr>
              <a:t>sơ</a:t>
            </a:r>
            <a:r>
              <a:rPr lang="en-US" sz="2799" dirty="0">
                <a:solidFill>
                  <a:srgbClr val="0F4662"/>
                </a:solidFill>
                <a:latin typeface="Montserrat"/>
                <a:ea typeface="Montserrat"/>
                <a:cs typeface="Montserrat"/>
                <a:sym typeface="Montserrat"/>
              </a:rPr>
              <a:t> </a:t>
            </a:r>
            <a:r>
              <a:rPr lang="en-US" sz="2799" dirty="0" err="1">
                <a:solidFill>
                  <a:srgbClr val="0F4662"/>
                </a:solidFill>
                <a:latin typeface="Montserrat"/>
                <a:ea typeface="Montserrat"/>
                <a:cs typeface="Montserrat"/>
                <a:sym typeface="Montserrat"/>
              </a:rPr>
              <a:t>cá</a:t>
            </a:r>
            <a:r>
              <a:rPr lang="en-US" sz="2799" dirty="0">
                <a:solidFill>
                  <a:srgbClr val="0F4662"/>
                </a:solidFill>
                <a:latin typeface="Montserrat"/>
                <a:ea typeface="Montserrat"/>
                <a:cs typeface="Montserrat"/>
                <a:sym typeface="Montserrat"/>
              </a:rPr>
              <a:t> </a:t>
            </a:r>
            <a:r>
              <a:rPr lang="en-US" sz="2799" dirty="0" err="1">
                <a:solidFill>
                  <a:srgbClr val="0F4662"/>
                </a:solidFill>
                <a:latin typeface="Montserrat"/>
                <a:ea typeface="Montserrat"/>
                <a:cs typeface="Montserrat"/>
                <a:sym typeface="Montserrat"/>
              </a:rPr>
              <a:t>nhân</a:t>
            </a:r>
            <a:endParaRPr lang="en-US" sz="2799" dirty="0">
              <a:solidFill>
                <a:srgbClr val="0F4662"/>
              </a:solidFill>
              <a:latin typeface="Montserrat"/>
              <a:ea typeface="Montserrat"/>
              <a:cs typeface="Montserrat"/>
              <a:sym typeface="Montserrat"/>
            </a:endParaRPr>
          </a:p>
          <a:p>
            <a:pPr marL="604519" lvl="1" indent="-302260" algn="just">
              <a:lnSpc>
                <a:spcPts val="3919"/>
              </a:lnSpc>
              <a:buFont typeface="Arial"/>
              <a:buChar char="•"/>
            </a:pPr>
            <a:r>
              <a:rPr lang="en-US" sz="2799" dirty="0">
                <a:solidFill>
                  <a:srgbClr val="0F4662"/>
                </a:solidFill>
                <a:latin typeface="Montserrat"/>
                <a:ea typeface="Montserrat"/>
                <a:cs typeface="Montserrat"/>
                <a:sym typeface="Montserrat"/>
              </a:rPr>
              <a:t>Xem </a:t>
            </a:r>
            <a:r>
              <a:rPr lang="en-US" sz="2799" dirty="0" err="1">
                <a:solidFill>
                  <a:srgbClr val="0F4662"/>
                </a:solidFill>
                <a:latin typeface="Montserrat"/>
                <a:ea typeface="Montserrat"/>
                <a:cs typeface="Montserrat"/>
                <a:sym typeface="Montserrat"/>
              </a:rPr>
              <a:t>danh</a:t>
            </a:r>
            <a:r>
              <a:rPr lang="en-US" sz="2799" dirty="0">
                <a:solidFill>
                  <a:srgbClr val="0F4662"/>
                </a:solidFill>
                <a:latin typeface="Montserrat"/>
                <a:ea typeface="Montserrat"/>
                <a:cs typeface="Montserrat"/>
                <a:sym typeface="Montserrat"/>
              </a:rPr>
              <a:t> </a:t>
            </a:r>
            <a:r>
              <a:rPr lang="en-US" sz="2799" dirty="0" err="1">
                <a:solidFill>
                  <a:srgbClr val="0F4662"/>
                </a:solidFill>
                <a:latin typeface="Montserrat"/>
                <a:ea typeface="Montserrat"/>
                <a:cs typeface="Montserrat"/>
                <a:sym typeface="Montserrat"/>
              </a:rPr>
              <a:t>sách</a:t>
            </a:r>
            <a:r>
              <a:rPr lang="en-US" sz="2799" dirty="0">
                <a:solidFill>
                  <a:srgbClr val="0F4662"/>
                </a:solidFill>
                <a:latin typeface="Montserrat"/>
                <a:ea typeface="Montserrat"/>
                <a:cs typeface="Montserrat"/>
                <a:sym typeface="Montserrat"/>
              </a:rPr>
              <a:t> </a:t>
            </a:r>
            <a:r>
              <a:rPr lang="en-US" sz="2799" dirty="0" err="1">
                <a:solidFill>
                  <a:srgbClr val="0F4662"/>
                </a:solidFill>
                <a:latin typeface="Montserrat"/>
                <a:ea typeface="Montserrat"/>
                <a:cs typeface="Montserrat"/>
                <a:sym typeface="Montserrat"/>
              </a:rPr>
              <a:t>khóa</a:t>
            </a:r>
            <a:r>
              <a:rPr lang="en-US" sz="2799" dirty="0">
                <a:solidFill>
                  <a:srgbClr val="0F4662"/>
                </a:solidFill>
                <a:latin typeface="Montserrat"/>
                <a:ea typeface="Montserrat"/>
                <a:cs typeface="Montserrat"/>
                <a:sym typeface="Montserrat"/>
              </a:rPr>
              <a:t> </a:t>
            </a:r>
            <a:r>
              <a:rPr lang="en-US" sz="2799" dirty="0" err="1">
                <a:solidFill>
                  <a:srgbClr val="0F4662"/>
                </a:solidFill>
                <a:latin typeface="Montserrat"/>
                <a:ea typeface="Montserrat"/>
                <a:cs typeface="Montserrat"/>
                <a:sym typeface="Montserrat"/>
              </a:rPr>
              <a:t>học</a:t>
            </a:r>
            <a:endParaRPr lang="en-US" sz="2799" dirty="0">
              <a:solidFill>
                <a:srgbClr val="0F4662"/>
              </a:solidFill>
              <a:latin typeface="Montserrat"/>
              <a:ea typeface="Montserrat"/>
              <a:cs typeface="Montserrat"/>
              <a:sym typeface="Montserrat"/>
            </a:endParaRPr>
          </a:p>
          <a:p>
            <a:pPr marL="604519" lvl="1" indent="-302260" algn="just">
              <a:lnSpc>
                <a:spcPts val="3919"/>
              </a:lnSpc>
              <a:buFont typeface="Arial"/>
              <a:buChar char="•"/>
            </a:pPr>
            <a:r>
              <a:rPr lang="en-US" sz="2799" dirty="0">
                <a:solidFill>
                  <a:srgbClr val="0F4662"/>
                </a:solidFill>
                <a:latin typeface="Montserrat"/>
                <a:ea typeface="Montserrat"/>
                <a:cs typeface="Montserrat"/>
                <a:sym typeface="Montserrat"/>
              </a:rPr>
              <a:t>Xem chi </a:t>
            </a:r>
            <a:r>
              <a:rPr lang="en-US" sz="2799" dirty="0" err="1">
                <a:solidFill>
                  <a:srgbClr val="0F4662"/>
                </a:solidFill>
                <a:latin typeface="Montserrat"/>
                <a:ea typeface="Montserrat"/>
                <a:cs typeface="Montserrat"/>
                <a:sym typeface="Montserrat"/>
              </a:rPr>
              <a:t>tiết</a:t>
            </a:r>
            <a:r>
              <a:rPr lang="en-US" sz="2799" dirty="0">
                <a:solidFill>
                  <a:srgbClr val="0F4662"/>
                </a:solidFill>
                <a:latin typeface="Montserrat"/>
                <a:ea typeface="Montserrat"/>
                <a:cs typeface="Montserrat"/>
                <a:sym typeface="Montserrat"/>
              </a:rPr>
              <a:t> </a:t>
            </a:r>
            <a:r>
              <a:rPr lang="en-US" sz="2799" dirty="0" err="1">
                <a:solidFill>
                  <a:srgbClr val="0F4662"/>
                </a:solidFill>
                <a:latin typeface="Montserrat"/>
                <a:ea typeface="Montserrat"/>
                <a:cs typeface="Montserrat"/>
                <a:sym typeface="Montserrat"/>
              </a:rPr>
              <a:t>khóa</a:t>
            </a:r>
            <a:r>
              <a:rPr lang="en-US" sz="2799" dirty="0">
                <a:solidFill>
                  <a:srgbClr val="0F4662"/>
                </a:solidFill>
                <a:latin typeface="Montserrat"/>
                <a:ea typeface="Montserrat"/>
                <a:cs typeface="Montserrat"/>
                <a:sym typeface="Montserrat"/>
              </a:rPr>
              <a:t> </a:t>
            </a:r>
            <a:r>
              <a:rPr lang="en-US" sz="2799" dirty="0" err="1">
                <a:solidFill>
                  <a:srgbClr val="0F4662"/>
                </a:solidFill>
                <a:latin typeface="Montserrat"/>
                <a:ea typeface="Montserrat"/>
                <a:cs typeface="Montserrat"/>
                <a:sym typeface="Montserrat"/>
              </a:rPr>
              <a:t>học</a:t>
            </a:r>
            <a:endParaRPr lang="en-US" sz="2799" dirty="0">
              <a:solidFill>
                <a:srgbClr val="0F4662"/>
              </a:solidFill>
              <a:latin typeface="Montserrat"/>
              <a:ea typeface="Montserrat"/>
              <a:cs typeface="Montserrat"/>
              <a:sym typeface="Montserrat"/>
            </a:endParaRPr>
          </a:p>
          <a:p>
            <a:pPr marL="604519" lvl="1" indent="-302260" algn="just">
              <a:lnSpc>
                <a:spcPts val="3919"/>
              </a:lnSpc>
              <a:buFont typeface="Arial"/>
              <a:buChar char="•"/>
            </a:pPr>
            <a:r>
              <a:rPr lang="en-US" sz="2799" dirty="0">
                <a:solidFill>
                  <a:srgbClr val="0F4662"/>
                </a:solidFill>
                <a:latin typeface="Montserrat"/>
                <a:ea typeface="Montserrat"/>
                <a:cs typeface="Montserrat"/>
                <a:sym typeface="Montserrat"/>
              </a:rPr>
              <a:t>Xem chi </a:t>
            </a:r>
            <a:r>
              <a:rPr lang="en-US" sz="2799" dirty="0" err="1">
                <a:solidFill>
                  <a:srgbClr val="0F4662"/>
                </a:solidFill>
                <a:latin typeface="Montserrat"/>
                <a:ea typeface="Montserrat"/>
                <a:cs typeface="Montserrat"/>
                <a:sym typeface="Montserrat"/>
              </a:rPr>
              <a:t>tiết</a:t>
            </a:r>
            <a:r>
              <a:rPr lang="en-US" sz="2799" dirty="0">
                <a:solidFill>
                  <a:srgbClr val="0F4662"/>
                </a:solidFill>
                <a:latin typeface="Montserrat"/>
                <a:ea typeface="Montserrat"/>
                <a:cs typeface="Montserrat"/>
                <a:sym typeface="Montserrat"/>
              </a:rPr>
              <a:t> </a:t>
            </a:r>
            <a:r>
              <a:rPr lang="en-US" sz="2799" dirty="0" err="1">
                <a:solidFill>
                  <a:srgbClr val="0F4662"/>
                </a:solidFill>
                <a:latin typeface="Montserrat"/>
                <a:ea typeface="Montserrat"/>
                <a:cs typeface="Montserrat"/>
                <a:sym typeface="Montserrat"/>
              </a:rPr>
              <a:t>bài</a:t>
            </a:r>
            <a:r>
              <a:rPr lang="en-US" sz="2799" dirty="0">
                <a:solidFill>
                  <a:srgbClr val="0F4662"/>
                </a:solidFill>
                <a:latin typeface="Montserrat"/>
                <a:ea typeface="Montserrat"/>
                <a:cs typeface="Montserrat"/>
                <a:sym typeface="Montserrat"/>
              </a:rPr>
              <a:t> </a:t>
            </a:r>
            <a:r>
              <a:rPr lang="en-US" sz="2799" dirty="0" err="1">
                <a:solidFill>
                  <a:srgbClr val="0F4662"/>
                </a:solidFill>
                <a:latin typeface="Montserrat"/>
                <a:ea typeface="Montserrat"/>
                <a:cs typeface="Montserrat"/>
                <a:sym typeface="Montserrat"/>
              </a:rPr>
              <a:t>học</a:t>
            </a:r>
            <a:endParaRPr lang="en-US" sz="2799" dirty="0">
              <a:solidFill>
                <a:srgbClr val="0F4662"/>
              </a:solidFill>
              <a:latin typeface="Montserrat"/>
              <a:ea typeface="Montserrat"/>
              <a:cs typeface="Montserrat"/>
              <a:sym typeface="Montserrat"/>
            </a:endParaRPr>
          </a:p>
          <a:p>
            <a:pPr marL="604519" lvl="1" indent="-302260" algn="just">
              <a:lnSpc>
                <a:spcPts val="3919"/>
              </a:lnSpc>
              <a:buFont typeface="Arial"/>
              <a:buChar char="•"/>
            </a:pPr>
            <a:r>
              <a:rPr lang="en-US" sz="2799" dirty="0" err="1">
                <a:solidFill>
                  <a:srgbClr val="0F4662"/>
                </a:solidFill>
                <a:latin typeface="Montserrat"/>
                <a:ea typeface="Montserrat"/>
                <a:cs typeface="Montserrat"/>
                <a:sym typeface="Montserrat"/>
              </a:rPr>
              <a:t>Làm</a:t>
            </a:r>
            <a:r>
              <a:rPr lang="en-US" sz="2799" dirty="0">
                <a:solidFill>
                  <a:srgbClr val="0F4662"/>
                </a:solidFill>
                <a:latin typeface="Montserrat"/>
                <a:ea typeface="Montserrat"/>
                <a:cs typeface="Montserrat"/>
                <a:sym typeface="Montserrat"/>
              </a:rPr>
              <a:t> </a:t>
            </a:r>
            <a:r>
              <a:rPr lang="en-US" sz="2799" dirty="0" err="1">
                <a:solidFill>
                  <a:srgbClr val="0F4662"/>
                </a:solidFill>
                <a:latin typeface="Montserrat"/>
                <a:ea typeface="Montserrat"/>
                <a:cs typeface="Montserrat"/>
                <a:sym typeface="Montserrat"/>
              </a:rPr>
              <a:t>bài</a:t>
            </a:r>
            <a:r>
              <a:rPr lang="en-US" sz="2799" dirty="0">
                <a:solidFill>
                  <a:srgbClr val="0F4662"/>
                </a:solidFill>
                <a:latin typeface="Montserrat"/>
                <a:ea typeface="Montserrat"/>
                <a:cs typeface="Montserrat"/>
                <a:sym typeface="Montserrat"/>
              </a:rPr>
              <a:t> quiz</a:t>
            </a:r>
          </a:p>
          <a:p>
            <a:pPr marL="604519" lvl="1" indent="-302260" algn="just">
              <a:lnSpc>
                <a:spcPts val="3919"/>
              </a:lnSpc>
              <a:buFont typeface="Arial"/>
              <a:buChar char="•"/>
            </a:pPr>
            <a:r>
              <a:rPr lang="en-US" sz="2799" dirty="0">
                <a:solidFill>
                  <a:srgbClr val="0F4662"/>
                </a:solidFill>
                <a:latin typeface="Montserrat"/>
                <a:ea typeface="Montserrat"/>
                <a:cs typeface="Montserrat"/>
                <a:sym typeface="Montserrat"/>
              </a:rPr>
              <a:t>Xem chi </a:t>
            </a:r>
            <a:r>
              <a:rPr lang="en-US" sz="2799" dirty="0" err="1">
                <a:solidFill>
                  <a:srgbClr val="0F4662"/>
                </a:solidFill>
                <a:latin typeface="Montserrat"/>
                <a:ea typeface="Montserrat"/>
                <a:cs typeface="Montserrat"/>
                <a:sym typeface="Montserrat"/>
              </a:rPr>
              <a:t>tiết</a:t>
            </a:r>
            <a:r>
              <a:rPr lang="en-US" sz="2799" dirty="0">
                <a:solidFill>
                  <a:srgbClr val="0F4662"/>
                </a:solidFill>
                <a:latin typeface="Montserrat"/>
                <a:ea typeface="Montserrat"/>
                <a:cs typeface="Montserrat"/>
                <a:sym typeface="Montserrat"/>
              </a:rPr>
              <a:t> </a:t>
            </a:r>
            <a:r>
              <a:rPr lang="en-US" sz="2799" dirty="0" err="1">
                <a:solidFill>
                  <a:srgbClr val="0F4662"/>
                </a:solidFill>
                <a:latin typeface="Montserrat"/>
                <a:ea typeface="Montserrat"/>
                <a:cs typeface="Montserrat"/>
                <a:sym typeface="Montserrat"/>
              </a:rPr>
              <a:t>bài</a:t>
            </a:r>
            <a:r>
              <a:rPr lang="en-US" sz="2799" dirty="0">
                <a:solidFill>
                  <a:srgbClr val="0F4662"/>
                </a:solidFill>
                <a:latin typeface="Montserrat"/>
                <a:ea typeface="Montserrat"/>
                <a:cs typeface="Montserrat"/>
                <a:sym typeface="Montserrat"/>
              </a:rPr>
              <a:t> </a:t>
            </a:r>
            <a:r>
              <a:rPr lang="en-US" sz="2799" dirty="0" err="1">
                <a:solidFill>
                  <a:srgbClr val="0F4662"/>
                </a:solidFill>
                <a:latin typeface="Montserrat"/>
                <a:ea typeface="Montserrat"/>
                <a:cs typeface="Montserrat"/>
                <a:sym typeface="Montserrat"/>
              </a:rPr>
              <a:t>luyện</a:t>
            </a:r>
            <a:r>
              <a:rPr lang="en-US" sz="2799" dirty="0">
                <a:solidFill>
                  <a:srgbClr val="0F4662"/>
                </a:solidFill>
                <a:latin typeface="Montserrat"/>
                <a:ea typeface="Montserrat"/>
                <a:cs typeface="Montserrat"/>
                <a:sym typeface="Montserrat"/>
              </a:rPr>
              <a:t> </a:t>
            </a:r>
            <a:r>
              <a:rPr lang="en-US" sz="2799" dirty="0" err="1">
                <a:solidFill>
                  <a:srgbClr val="0F4662"/>
                </a:solidFill>
                <a:latin typeface="Montserrat"/>
                <a:ea typeface="Montserrat"/>
                <a:cs typeface="Montserrat"/>
                <a:sym typeface="Montserrat"/>
              </a:rPr>
              <a:t>tập</a:t>
            </a:r>
            <a:endParaRPr lang="en-US" sz="2799" dirty="0">
              <a:solidFill>
                <a:srgbClr val="0F4662"/>
              </a:solidFill>
              <a:latin typeface="Montserrat"/>
              <a:ea typeface="Montserrat"/>
              <a:cs typeface="Montserrat"/>
              <a:sym typeface="Montserrat"/>
            </a:endParaRPr>
          </a:p>
          <a:p>
            <a:pPr marL="604519" lvl="1" indent="-302260" algn="just">
              <a:lnSpc>
                <a:spcPts val="3919"/>
              </a:lnSpc>
              <a:buFont typeface="Arial"/>
              <a:buChar char="•"/>
            </a:pPr>
            <a:r>
              <a:rPr lang="en-US" sz="2799" dirty="0" err="1">
                <a:solidFill>
                  <a:srgbClr val="0F4662"/>
                </a:solidFill>
                <a:latin typeface="Montserrat"/>
                <a:ea typeface="Montserrat"/>
                <a:cs typeface="Montserrat"/>
                <a:sym typeface="Montserrat"/>
              </a:rPr>
              <a:t>Nộp</a:t>
            </a:r>
            <a:r>
              <a:rPr lang="en-US" sz="2799" dirty="0">
                <a:solidFill>
                  <a:srgbClr val="0F4662"/>
                </a:solidFill>
                <a:latin typeface="Montserrat"/>
                <a:ea typeface="Montserrat"/>
                <a:cs typeface="Montserrat"/>
                <a:sym typeface="Montserrat"/>
              </a:rPr>
              <a:t> </a:t>
            </a:r>
            <a:r>
              <a:rPr lang="en-US" sz="2799" dirty="0" err="1">
                <a:solidFill>
                  <a:srgbClr val="0F4662"/>
                </a:solidFill>
                <a:latin typeface="Montserrat"/>
                <a:ea typeface="Montserrat"/>
                <a:cs typeface="Montserrat"/>
                <a:sym typeface="Montserrat"/>
              </a:rPr>
              <a:t>bài</a:t>
            </a:r>
            <a:r>
              <a:rPr lang="en-US" sz="2799" dirty="0">
                <a:solidFill>
                  <a:srgbClr val="0F4662"/>
                </a:solidFill>
                <a:latin typeface="Montserrat"/>
                <a:ea typeface="Montserrat"/>
                <a:cs typeface="Montserrat"/>
                <a:sym typeface="Montserrat"/>
              </a:rPr>
              <a:t> </a:t>
            </a:r>
            <a:r>
              <a:rPr lang="en-US" sz="2799" dirty="0" err="1">
                <a:solidFill>
                  <a:srgbClr val="0F4662"/>
                </a:solidFill>
                <a:latin typeface="Montserrat"/>
                <a:ea typeface="Montserrat"/>
                <a:cs typeface="Montserrat"/>
                <a:sym typeface="Montserrat"/>
              </a:rPr>
              <a:t>lập</a:t>
            </a:r>
            <a:r>
              <a:rPr lang="en-US" sz="2799" dirty="0">
                <a:solidFill>
                  <a:srgbClr val="0F4662"/>
                </a:solidFill>
                <a:latin typeface="Montserrat"/>
                <a:ea typeface="Montserrat"/>
                <a:cs typeface="Montserrat"/>
                <a:sym typeface="Montserrat"/>
              </a:rPr>
              <a:t> </a:t>
            </a:r>
            <a:r>
              <a:rPr lang="en-US" sz="2799" dirty="0" err="1">
                <a:solidFill>
                  <a:srgbClr val="0F4662"/>
                </a:solidFill>
                <a:latin typeface="Montserrat"/>
                <a:ea typeface="Montserrat"/>
                <a:cs typeface="Montserrat"/>
                <a:sym typeface="Montserrat"/>
              </a:rPr>
              <a:t>trình</a:t>
            </a:r>
            <a:endParaRPr lang="en-US" sz="2799" dirty="0">
              <a:solidFill>
                <a:srgbClr val="0F4662"/>
              </a:solidFill>
              <a:latin typeface="Montserrat"/>
              <a:ea typeface="Montserrat"/>
              <a:cs typeface="Montserrat"/>
              <a:sym typeface="Montserrat"/>
            </a:endParaRPr>
          </a:p>
          <a:p>
            <a:pPr marL="604519" lvl="1" indent="-302260" algn="just">
              <a:lnSpc>
                <a:spcPts val="3919"/>
              </a:lnSpc>
              <a:buFont typeface="Arial"/>
              <a:buChar char="•"/>
            </a:pPr>
            <a:r>
              <a:rPr lang="en-US" sz="2799" dirty="0">
                <a:solidFill>
                  <a:srgbClr val="0F4662"/>
                </a:solidFill>
                <a:latin typeface="Montserrat"/>
                <a:ea typeface="Montserrat"/>
                <a:cs typeface="Montserrat"/>
                <a:sym typeface="Montserrat"/>
              </a:rPr>
              <a:t>Xem </a:t>
            </a:r>
            <a:r>
              <a:rPr lang="en-US" sz="2799" dirty="0" err="1">
                <a:solidFill>
                  <a:srgbClr val="0F4662"/>
                </a:solidFill>
                <a:latin typeface="Montserrat"/>
                <a:ea typeface="Montserrat"/>
                <a:cs typeface="Montserrat"/>
                <a:sym typeface="Montserrat"/>
              </a:rPr>
              <a:t>danh</a:t>
            </a:r>
            <a:r>
              <a:rPr lang="en-US" sz="2799" dirty="0">
                <a:solidFill>
                  <a:srgbClr val="0F4662"/>
                </a:solidFill>
                <a:latin typeface="Montserrat"/>
                <a:ea typeface="Montserrat"/>
                <a:cs typeface="Montserrat"/>
                <a:sym typeface="Montserrat"/>
              </a:rPr>
              <a:t> </a:t>
            </a:r>
            <a:r>
              <a:rPr lang="en-US" sz="2799" dirty="0" err="1">
                <a:solidFill>
                  <a:srgbClr val="0F4662"/>
                </a:solidFill>
                <a:latin typeface="Montserrat"/>
                <a:ea typeface="Montserrat"/>
                <a:cs typeface="Montserrat"/>
                <a:sym typeface="Montserrat"/>
              </a:rPr>
              <a:t>sách</a:t>
            </a:r>
            <a:r>
              <a:rPr lang="en-US" sz="2799" dirty="0">
                <a:solidFill>
                  <a:srgbClr val="0F4662"/>
                </a:solidFill>
                <a:latin typeface="Montserrat"/>
                <a:ea typeface="Montserrat"/>
                <a:cs typeface="Montserrat"/>
                <a:sym typeface="Montserrat"/>
              </a:rPr>
              <a:t> </a:t>
            </a:r>
            <a:r>
              <a:rPr lang="en-US" sz="2799" dirty="0" err="1">
                <a:solidFill>
                  <a:srgbClr val="0F4662"/>
                </a:solidFill>
                <a:latin typeface="Montserrat"/>
                <a:ea typeface="Montserrat"/>
                <a:cs typeface="Montserrat"/>
                <a:sym typeface="Montserrat"/>
              </a:rPr>
              <a:t>cuộc</a:t>
            </a:r>
            <a:r>
              <a:rPr lang="en-US" sz="2799" dirty="0">
                <a:solidFill>
                  <a:srgbClr val="0F4662"/>
                </a:solidFill>
                <a:latin typeface="Montserrat"/>
                <a:ea typeface="Montserrat"/>
                <a:cs typeface="Montserrat"/>
                <a:sym typeface="Montserrat"/>
              </a:rPr>
              <a:t> </a:t>
            </a:r>
            <a:r>
              <a:rPr lang="en-US" sz="2799" dirty="0" err="1">
                <a:solidFill>
                  <a:srgbClr val="0F4662"/>
                </a:solidFill>
                <a:latin typeface="Montserrat"/>
                <a:ea typeface="Montserrat"/>
                <a:cs typeface="Montserrat"/>
                <a:sym typeface="Montserrat"/>
              </a:rPr>
              <a:t>thi</a:t>
            </a:r>
            <a:endParaRPr lang="en-US" sz="2799" dirty="0">
              <a:solidFill>
                <a:srgbClr val="0F4662"/>
              </a:solidFill>
              <a:latin typeface="Montserrat"/>
              <a:ea typeface="Montserrat"/>
              <a:cs typeface="Montserrat"/>
              <a:sym typeface="Montserrat"/>
            </a:endParaRPr>
          </a:p>
          <a:p>
            <a:pPr marL="604519" lvl="1" indent="-302260" algn="just">
              <a:lnSpc>
                <a:spcPts val="3919"/>
              </a:lnSpc>
              <a:buFont typeface="Arial"/>
              <a:buChar char="•"/>
            </a:pPr>
            <a:r>
              <a:rPr lang="en-US" sz="2799" dirty="0">
                <a:solidFill>
                  <a:srgbClr val="0F4662"/>
                </a:solidFill>
                <a:latin typeface="Montserrat"/>
                <a:ea typeface="Montserrat"/>
                <a:cs typeface="Montserrat"/>
                <a:sym typeface="Montserrat"/>
              </a:rPr>
              <a:t>Xem chi </a:t>
            </a:r>
            <a:r>
              <a:rPr lang="en-US" sz="2799" dirty="0" err="1">
                <a:solidFill>
                  <a:srgbClr val="0F4662"/>
                </a:solidFill>
                <a:latin typeface="Montserrat"/>
                <a:ea typeface="Montserrat"/>
                <a:cs typeface="Montserrat"/>
                <a:sym typeface="Montserrat"/>
              </a:rPr>
              <a:t>tiết</a:t>
            </a:r>
            <a:r>
              <a:rPr lang="en-US" sz="2799" dirty="0">
                <a:solidFill>
                  <a:srgbClr val="0F4662"/>
                </a:solidFill>
                <a:latin typeface="Montserrat"/>
                <a:ea typeface="Montserrat"/>
                <a:cs typeface="Montserrat"/>
                <a:sym typeface="Montserrat"/>
              </a:rPr>
              <a:t> </a:t>
            </a:r>
            <a:r>
              <a:rPr lang="en-US" sz="2799" dirty="0" err="1">
                <a:solidFill>
                  <a:srgbClr val="0F4662"/>
                </a:solidFill>
                <a:latin typeface="Montserrat"/>
                <a:ea typeface="Montserrat"/>
                <a:cs typeface="Montserrat"/>
                <a:sym typeface="Montserrat"/>
              </a:rPr>
              <a:t>cuộc</a:t>
            </a:r>
            <a:r>
              <a:rPr lang="en-US" sz="2799" dirty="0">
                <a:solidFill>
                  <a:srgbClr val="0F4662"/>
                </a:solidFill>
                <a:latin typeface="Montserrat"/>
                <a:ea typeface="Montserrat"/>
                <a:cs typeface="Montserrat"/>
                <a:sym typeface="Montserrat"/>
              </a:rPr>
              <a:t> </a:t>
            </a:r>
            <a:r>
              <a:rPr lang="en-US" sz="2799" dirty="0" err="1">
                <a:solidFill>
                  <a:srgbClr val="0F4662"/>
                </a:solidFill>
                <a:latin typeface="Montserrat"/>
                <a:ea typeface="Montserrat"/>
                <a:cs typeface="Montserrat"/>
                <a:sym typeface="Montserrat"/>
              </a:rPr>
              <a:t>thi</a:t>
            </a:r>
            <a:endParaRPr lang="en-US" sz="2799" dirty="0">
              <a:solidFill>
                <a:srgbClr val="0F4662"/>
              </a:solidFill>
              <a:latin typeface="Montserrat"/>
              <a:ea typeface="Montserrat"/>
              <a:cs typeface="Montserrat"/>
              <a:sym typeface="Montserrat"/>
            </a:endParaRPr>
          </a:p>
          <a:p>
            <a:pPr marL="604519" lvl="1" indent="-302260" algn="just">
              <a:lnSpc>
                <a:spcPts val="3919"/>
              </a:lnSpc>
              <a:spcBef>
                <a:spcPct val="0"/>
              </a:spcBef>
              <a:buFont typeface="Arial"/>
              <a:buChar char="•"/>
            </a:pPr>
            <a:r>
              <a:rPr lang="en-US" sz="2799" dirty="0">
                <a:solidFill>
                  <a:srgbClr val="0F4662"/>
                </a:solidFill>
                <a:latin typeface="Montserrat"/>
                <a:ea typeface="Montserrat"/>
                <a:cs typeface="Montserrat"/>
                <a:sym typeface="Montserrat"/>
              </a:rPr>
              <a:t>Xem </a:t>
            </a:r>
            <a:r>
              <a:rPr lang="en-US" sz="2799" dirty="0" err="1">
                <a:solidFill>
                  <a:srgbClr val="0F4662"/>
                </a:solidFill>
                <a:latin typeface="Montserrat"/>
                <a:ea typeface="Montserrat"/>
                <a:cs typeface="Montserrat"/>
                <a:sym typeface="Montserrat"/>
              </a:rPr>
              <a:t>bảng</a:t>
            </a:r>
            <a:r>
              <a:rPr lang="en-US" sz="2799" dirty="0">
                <a:solidFill>
                  <a:srgbClr val="0F4662"/>
                </a:solidFill>
                <a:latin typeface="Montserrat"/>
                <a:ea typeface="Montserrat"/>
                <a:cs typeface="Montserrat"/>
                <a:sym typeface="Montserrat"/>
              </a:rPr>
              <a:t> </a:t>
            </a:r>
            <a:r>
              <a:rPr lang="en-US" sz="2799" dirty="0" err="1">
                <a:solidFill>
                  <a:srgbClr val="0F4662"/>
                </a:solidFill>
                <a:latin typeface="Montserrat"/>
                <a:ea typeface="Montserrat"/>
                <a:cs typeface="Montserrat"/>
                <a:sym typeface="Montserrat"/>
              </a:rPr>
              <a:t>xếp</a:t>
            </a:r>
            <a:r>
              <a:rPr lang="en-US" sz="2799" dirty="0">
                <a:solidFill>
                  <a:srgbClr val="0F4662"/>
                </a:solidFill>
                <a:latin typeface="Montserrat"/>
                <a:ea typeface="Montserrat"/>
                <a:cs typeface="Montserrat"/>
                <a:sym typeface="Montserrat"/>
              </a:rPr>
              <a:t> </a:t>
            </a:r>
            <a:r>
              <a:rPr lang="en-US" sz="2799" dirty="0" err="1">
                <a:solidFill>
                  <a:srgbClr val="0F4662"/>
                </a:solidFill>
                <a:latin typeface="Montserrat"/>
                <a:ea typeface="Montserrat"/>
                <a:cs typeface="Montserrat"/>
                <a:sym typeface="Montserrat"/>
              </a:rPr>
              <a:t>hạng</a:t>
            </a:r>
            <a:endParaRPr lang="en-US" sz="2799" dirty="0">
              <a:solidFill>
                <a:srgbClr val="0F4662"/>
              </a:solidFill>
              <a:latin typeface="Montserrat"/>
              <a:ea typeface="Montserrat"/>
              <a:cs typeface="Montserrat"/>
              <a:sym typeface="Montserrat"/>
            </a:endParaRPr>
          </a:p>
        </p:txBody>
      </p:sp>
      <p:sp>
        <p:nvSpPr>
          <p:cNvPr id="9" name="TextBox 9"/>
          <p:cNvSpPr txBox="1"/>
          <p:nvPr/>
        </p:nvSpPr>
        <p:spPr>
          <a:xfrm>
            <a:off x="17736580" y="9509200"/>
            <a:ext cx="214213" cy="464645"/>
          </a:xfrm>
          <a:prstGeom prst="rect">
            <a:avLst/>
          </a:prstGeom>
        </p:spPr>
        <p:txBody>
          <a:bodyPr lIns="0" tIns="0" rIns="0" bIns="0" rtlCol="0" anchor="t">
            <a:spAutoFit/>
          </a:bodyPr>
          <a:lstStyle/>
          <a:p>
            <a:pPr algn="ctr">
              <a:lnSpc>
                <a:spcPts val="3831"/>
              </a:lnSpc>
              <a:spcBef>
                <a:spcPct val="0"/>
              </a:spcBef>
            </a:pPr>
            <a:r>
              <a:rPr lang="en-US" sz="2554" b="1">
                <a:solidFill>
                  <a:srgbClr val="0F4662"/>
                </a:solidFill>
                <a:latin typeface="Montserrat Bold"/>
                <a:ea typeface="Montserrat Bold"/>
                <a:cs typeface="Montserrat Bold"/>
                <a:sym typeface="Montserrat Bold"/>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15579303" y="714009"/>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a:off x="1024384" y="9529723"/>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9804025" y="1529349"/>
            <a:ext cx="8483975" cy="8757651"/>
          </a:xfrm>
          <a:custGeom>
            <a:avLst/>
            <a:gdLst/>
            <a:ahLst/>
            <a:cxnLst/>
            <a:rect l="l" t="t" r="r" b="b"/>
            <a:pathLst>
              <a:path w="8483975" h="8757651">
                <a:moveTo>
                  <a:pt x="0" y="0"/>
                </a:moveTo>
                <a:lnTo>
                  <a:pt x="8483975" y="0"/>
                </a:lnTo>
                <a:lnTo>
                  <a:pt x="8483975" y="8757651"/>
                </a:lnTo>
                <a:lnTo>
                  <a:pt x="0" y="8757651"/>
                </a:lnTo>
                <a:lnTo>
                  <a:pt x="0" y="0"/>
                </a:lnTo>
                <a:close/>
              </a:path>
            </a:pathLst>
          </a:custGeom>
          <a:blipFill>
            <a:blip r:embed="rId5"/>
            <a:stretch>
              <a:fillRect/>
            </a:stretch>
          </a:blipFill>
        </p:spPr>
        <p:txBody>
          <a:bodyPr/>
          <a:lstStyle/>
          <a:p>
            <a:endParaRPr lang="en-US"/>
          </a:p>
        </p:txBody>
      </p:sp>
      <p:sp>
        <p:nvSpPr>
          <p:cNvPr id="5" name="TextBox 5"/>
          <p:cNvSpPr txBox="1"/>
          <p:nvPr/>
        </p:nvSpPr>
        <p:spPr>
          <a:xfrm>
            <a:off x="1024384" y="609234"/>
            <a:ext cx="14072064" cy="920114"/>
          </a:xfrm>
          <a:prstGeom prst="rect">
            <a:avLst/>
          </a:prstGeom>
        </p:spPr>
        <p:txBody>
          <a:bodyPr lIns="0" tIns="0" rIns="0" bIns="0" rtlCol="0" anchor="t">
            <a:spAutoFit/>
          </a:bodyPr>
          <a:lstStyle/>
          <a:p>
            <a:pPr marL="0" lvl="0" indent="0" algn="l">
              <a:lnSpc>
                <a:spcPts val="7560"/>
              </a:lnSpc>
              <a:spcBef>
                <a:spcPct val="0"/>
              </a:spcBef>
            </a:pPr>
            <a:r>
              <a:rPr lang="en-US" sz="5400" b="1" i="1">
                <a:solidFill>
                  <a:srgbClr val="0F4662"/>
                </a:solidFill>
                <a:latin typeface="Montserrat Bold Italics"/>
                <a:ea typeface="Montserrat Bold Italics"/>
                <a:cs typeface="Montserrat Bold Italics"/>
                <a:sym typeface="Montserrat Bold Italics"/>
              </a:rPr>
              <a:t>2. PHÂN TÍCH THIẾT KẾ HỆ THỐNG</a:t>
            </a:r>
          </a:p>
        </p:txBody>
      </p:sp>
      <p:sp>
        <p:nvSpPr>
          <p:cNvPr id="6" name="TextBox 6"/>
          <p:cNvSpPr txBox="1"/>
          <p:nvPr/>
        </p:nvSpPr>
        <p:spPr>
          <a:xfrm>
            <a:off x="1238298" y="1541039"/>
            <a:ext cx="14072064" cy="606424"/>
          </a:xfrm>
          <a:prstGeom prst="rect">
            <a:avLst/>
          </a:prstGeom>
        </p:spPr>
        <p:txBody>
          <a:bodyPr lIns="0" tIns="0" rIns="0" bIns="0" rtlCol="0" anchor="t">
            <a:spAutoFit/>
          </a:bodyPr>
          <a:lstStyle/>
          <a:p>
            <a:pPr marL="0" lvl="0" indent="0" algn="l">
              <a:lnSpc>
                <a:spcPts val="4900"/>
              </a:lnSpc>
              <a:spcBef>
                <a:spcPct val="0"/>
              </a:spcBef>
            </a:pPr>
            <a:r>
              <a:rPr lang="en-US" sz="3500" b="1" i="1">
                <a:solidFill>
                  <a:srgbClr val="0F4662"/>
                </a:solidFill>
                <a:latin typeface="Montserrat Bold Italics"/>
                <a:ea typeface="Montserrat Bold Italics"/>
                <a:cs typeface="Montserrat Bold Italics"/>
                <a:sym typeface="Montserrat Bold Italics"/>
              </a:rPr>
              <a:t>2.1. Biểu đồ Usecase tổng quát</a:t>
            </a:r>
          </a:p>
        </p:txBody>
      </p:sp>
      <p:sp>
        <p:nvSpPr>
          <p:cNvPr id="7" name="TextBox 7"/>
          <p:cNvSpPr txBox="1"/>
          <p:nvPr/>
        </p:nvSpPr>
        <p:spPr>
          <a:xfrm>
            <a:off x="1507239" y="2176038"/>
            <a:ext cx="14072064" cy="537845"/>
          </a:xfrm>
          <a:prstGeom prst="rect">
            <a:avLst/>
          </a:prstGeom>
        </p:spPr>
        <p:txBody>
          <a:bodyPr lIns="0" tIns="0" rIns="0" bIns="0" rtlCol="0" anchor="t">
            <a:spAutoFit/>
          </a:bodyPr>
          <a:lstStyle/>
          <a:p>
            <a:pPr marL="0" lvl="0" indent="0" algn="l">
              <a:lnSpc>
                <a:spcPts val="4480"/>
              </a:lnSpc>
              <a:spcBef>
                <a:spcPct val="0"/>
              </a:spcBef>
            </a:pPr>
            <a:r>
              <a:rPr lang="en-US" sz="3200" b="1" i="1">
                <a:solidFill>
                  <a:srgbClr val="0F4662"/>
                </a:solidFill>
                <a:latin typeface="Montserrat Bold Italics"/>
                <a:ea typeface="Montserrat Bold Italics"/>
                <a:cs typeface="Montserrat Bold Italics"/>
                <a:sym typeface="Montserrat Bold Italics"/>
              </a:rPr>
              <a:t>Chức năng của người quản trị</a:t>
            </a:r>
          </a:p>
        </p:txBody>
      </p:sp>
      <p:sp>
        <p:nvSpPr>
          <p:cNvPr id="8" name="TextBox 8"/>
          <p:cNvSpPr txBox="1"/>
          <p:nvPr/>
        </p:nvSpPr>
        <p:spPr>
          <a:xfrm>
            <a:off x="1864383" y="2854728"/>
            <a:ext cx="7279617" cy="5424805"/>
          </a:xfrm>
          <a:prstGeom prst="rect">
            <a:avLst/>
          </a:prstGeom>
        </p:spPr>
        <p:txBody>
          <a:bodyPr lIns="0" tIns="0" rIns="0" bIns="0" rtlCol="0" anchor="t">
            <a:spAutoFit/>
          </a:bodyPr>
          <a:lstStyle/>
          <a:p>
            <a:pPr marL="604519" lvl="1" indent="-302260" algn="just">
              <a:lnSpc>
                <a:spcPts val="3919"/>
              </a:lnSpc>
              <a:buFont typeface="Arial"/>
              <a:buChar char="•"/>
            </a:pPr>
            <a:r>
              <a:rPr lang="en-US" sz="2799" i="1" dirty="0">
                <a:solidFill>
                  <a:srgbClr val="0F4662"/>
                </a:solidFill>
                <a:latin typeface="Montserrat Italics"/>
                <a:ea typeface="Montserrat Italics"/>
                <a:cs typeface="Montserrat Italics"/>
                <a:sym typeface="Montserrat Italics"/>
              </a:rPr>
              <a:t>Quản </a:t>
            </a:r>
            <a:r>
              <a:rPr lang="en-US" sz="2799" i="1" dirty="0" err="1">
                <a:solidFill>
                  <a:srgbClr val="0F4662"/>
                </a:solidFill>
                <a:latin typeface="Montserrat Italics"/>
                <a:ea typeface="Montserrat Italics"/>
                <a:cs typeface="Montserrat Italics"/>
                <a:sym typeface="Montserrat Italics"/>
              </a:rPr>
              <a:t>lý</a:t>
            </a:r>
            <a:r>
              <a:rPr lang="en-US" sz="2799" i="1" dirty="0">
                <a:solidFill>
                  <a:srgbClr val="0F4662"/>
                </a:solidFill>
                <a:latin typeface="Montserrat Italics"/>
                <a:ea typeface="Montserrat Italics"/>
                <a:cs typeface="Montserrat Italics"/>
                <a:sym typeface="Montserrat Italics"/>
              </a:rPr>
              <a:t> </a:t>
            </a:r>
            <a:r>
              <a:rPr lang="en-US" sz="2799" i="1" dirty="0" err="1">
                <a:solidFill>
                  <a:srgbClr val="0F4662"/>
                </a:solidFill>
                <a:latin typeface="Montserrat Italics"/>
                <a:ea typeface="Montserrat Italics"/>
                <a:cs typeface="Montserrat Italics"/>
                <a:sym typeface="Montserrat Italics"/>
              </a:rPr>
              <a:t>người</a:t>
            </a:r>
            <a:r>
              <a:rPr lang="en-US" sz="2799" i="1" dirty="0">
                <a:solidFill>
                  <a:srgbClr val="0F4662"/>
                </a:solidFill>
                <a:latin typeface="Montserrat Italics"/>
                <a:ea typeface="Montserrat Italics"/>
                <a:cs typeface="Montserrat Italics"/>
                <a:sym typeface="Montserrat Italics"/>
              </a:rPr>
              <a:t> </a:t>
            </a:r>
            <a:r>
              <a:rPr lang="en-US" sz="2799" i="1" dirty="0" err="1">
                <a:solidFill>
                  <a:srgbClr val="0F4662"/>
                </a:solidFill>
                <a:latin typeface="Montserrat Italics"/>
                <a:ea typeface="Montserrat Italics"/>
                <a:cs typeface="Montserrat Italics"/>
                <a:sym typeface="Montserrat Italics"/>
              </a:rPr>
              <a:t>dùng</a:t>
            </a:r>
            <a:endParaRPr lang="en-US" sz="2799" i="1" dirty="0">
              <a:solidFill>
                <a:srgbClr val="0F4662"/>
              </a:solidFill>
              <a:latin typeface="Montserrat Italics"/>
              <a:ea typeface="Montserrat Italics"/>
              <a:cs typeface="Montserrat Italics"/>
              <a:sym typeface="Montserrat Italics"/>
            </a:endParaRPr>
          </a:p>
          <a:p>
            <a:pPr marL="604519" lvl="1" indent="-302260" algn="just">
              <a:lnSpc>
                <a:spcPts val="3919"/>
              </a:lnSpc>
              <a:buFont typeface="Arial"/>
              <a:buChar char="•"/>
            </a:pPr>
            <a:r>
              <a:rPr lang="en-US" sz="2799" i="1" dirty="0">
                <a:solidFill>
                  <a:srgbClr val="0F4662"/>
                </a:solidFill>
                <a:latin typeface="Montserrat Italics"/>
                <a:ea typeface="Montserrat Italics"/>
                <a:cs typeface="Montserrat Italics"/>
                <a:sym typeface="Montserrat Italics"/>
              </a:rPr>
              <a:t>Quản </a:t>
            </a:r>
            <a:r>
              <a:rPr lang="en-US" sz="2799" i="1" dirty="0" err="1">
                <a:solidFill>
                  <a:srgbClr val="0F4662"/>
                </a:solidFill>
                <a:latin typeface="Montserrat Italics"/>
                <a:ea typeface="Montserrat Italics"/>
                <a:cs typeface="Montserrat Italics"/>
                <a:sym typeface="Montserrat Italics"/>
              </a:rPr>
              <a:t>lý</a:t>
            </a:r>
            <a:r>
              <a:rPr lang="en-US" sz="2799" i="1" dirty="0">
                <a:solidFill>
                  <a:srgbClr val="0F4662"/>
                </a:solidFill>
                <a:latin typeface="Montserrat Italics"/>
                <a:ea typeface="Montserrat Italics"/>
                <a:cs typeface="Montserrat Italics"/>
                <a:sym typeface="Montserrat Italics"/>
              </a:rPr>
              <a:t> </a:t>
            </a:r>
            <a:r>
              <a:rPr lang="en-US" sz="2799" i="1" dirty="0" err="1">
                <a:solidFill>
                  <a:srgbClr val="0F4662"/>
                </a:solidFill>
                <a:latin typeface="Montserrat Italics"/>
                <a:ea typeface="Montserrat Italics"/>
                <a:cs typeface="Montserrat Italics"/>
                <a:sym typeface="Montserrat Italics"/>
              </a:rPr>
              <a:t>bài</a:t>
            </a:r>
            <a:r>
              <a:rPr lang="en-US" sz="2799" i="1" dirty="0">
                <a:solidFill>
                  <a:srgbClr val="0F4662"/>
                </a:solidFill>
                <a:latin typeface="Montserrat Italics"/>
                <a:ea typeface="Montserrat Italics"/>
                <a:cs typeface="Montserrat Italics"/>
                <a:sym typeface="Montserrat Italics"/>
              </a:rPr>
              <a:t> </a:t>
            </a:r>
            <a:r>
              <a:rPr lang="en-US" sz="2799" i="1" dirty="0" err="1">
                <a:solidFill>
                  <a:srgbClr val="0F4662"/>
                </a:solidFill>
                <a:latin typeface="Montserrat Italics"/>
                <a:ea typeface="Montserrat Italics"/>
                <a:cs typeface="Montserrat Italics"/>
                <a:sym typeface="Montserrat Italics"/>
              </a:rPr>
              <a:t>học</a:t>
            </a:r>
            <a:endParaRPr lang="en-US" sz="2799" i="1" dirty="0">
              <a:solidFill>
                <a:srgbClr val="0F4662"/>
              </a:solidFill>
              <a:latin typeface="Montserrat Italics"/>
              <a:ea typeface="Montserrat Italics"/>
              <a:cs typeface="Montserrat Italics"/>
              <a:sym typeface="Montserrat Italics"/>
            </a:endParaRPr>
          </a:p>
          <a:p>
            <a:pPr marL="604519" lvl="1" indent="-302260" algn="just">
              <a:lnSpc>
                <a:spcPts val="3919"/>
              </a:lnSpc>
              <a:buFont typeface="Arial"/>
              <a:buChar char="•"/>
            </a:pPr>
            <a:r>
              <a:rPr lang="en-US" sz="2799" i="1" dirty="0">
                <a:solidFill>
                  <a:srgbClr val="0F4662"/>
                </a:solidFill>
                <a:latin typeface="Montserrat Italics"/>
                <a:ea typeface="Montserrat Italics"/>
                <a:cs typeface="Montserrat Italics"/>
                <a:sym typeface="Montserrat Italics"/>
              </a:rPr>
              <a:t>Quản </a:t>
            </a:r>
            <a:r>
              <a:rPr lang="en-US" sz="2799" i="1" dirty="0" err="1">
                <a:solidFill>
                  <a:srgbClr val="0F4662"/>
                </a:solidFill>
                <a:latin typeface="Montserrat Italics"/>
                <a:ea typeface="Montserrat Italics"/>
                <a:cs typeface="Montserrat Italics"/>
                <a:sym typeface="Montserrat Italics"/>
              </a:rPr>
              <a:t>lý</a:t>
            </a:r>
            <a:r>
              <a:rPr lang="en-US" sz="2799" i="1" dirty="0">
                <a:solidFill>
                  <a:srgbClr val="0F4662"/>
                </a:solidFill>
                <a:latin typeface="Montserrat Italics"/>
                <a:ea typeface="Montserrat Italics"/>
                <a:cs typeface="Montserrat Italics"/>
                <a:sym typeface="Montserrat Italics"/>
              </a:rPr>
              <a:t> </a:t>
            </a:r>
            <a:r>
              <a:rPr lang="en-US" sz="2799" i="1" dirty="0" err="1">
                <a:solidFill>
                  <a:srgbClr val="0F4662"/>
                </a:solidFill>
                <a:latin typeface="Montserrat Italics"/>
                <a:ea typeface="Montserrat Italics"/>
                <a:cs typeface="Montserrat Italics"/>
                <a:sym typeface="Montserrat Italics"/>
              </a:rPr>
              <a:t>khóa</a:t>
            </a:r>
            <a:r>
              <a:rPr lang="en-US" sz="2799" i="1" dirty="0">
                <a:solidFill>
                  <a:srgbClr val="0F4662"/>
                </a:solidFill>
                <a:latin typeface="Montserrat Italics"/>
                <a:ea typeface="Montserrat Italics"/>
                <a:cs typeface="Montserrat Italics"/>
                <a:sym typeface="Montserrat Italics"/>
              </a:rPr>
              <a:t> </a:t>
            </a:r>
            <a:r>
              <a:rPr lang="en-US" sz="2799" i="1" dirty="0" err="1">
                <a:solidFill>
                  <a:srgbClr val="0F4662"/>
                </a:solidFill>
                <a:latin typeface="Montserrat Italics"/>
                <a:ea typeface="Montserrat Italics"/>
                <a:cs typeface="Montserrat Italics"/>
                <a:sym typeface="Montserrat Italics"/>
              </a:rPr>
              <a:t>học</a:t>
            </a:r>
            <a:endParaRPr lang="en-US" sz="2799" i="1" dirty="0">
              <a:solidFill>
                <a:srgbClr val="0F4662"/>
              </a:solidFill>
              <a:latin typeface="Montserrat Italics"/>
              <a:ea typeface="Montserrat Italics"/>
              <a:cs typeface="Montserrat Italics"/>
              <a:sym typeface="Montserrat Italics"/>
            </a:endParaRPr>
          </a:p>
          <a:p>
            <a:pPr marL="604519" lvl="1" indent="-302260" algn="just">
              <a:lnSpc>
                <a:spcPts val="3919"/>
              </a:lnSpc>
              <a:buFont typeface="Arial"/>
              <a:buChar char="•"/>
            </a:pPr>
            <a:r>
              <a:rPr lang="en-US" sz="2799" i="1" dirty="0">
                <a:solidFill>
                  <a:srgbClr val="0F4662"/>
                </a:solidFill>
                <a:latin typeface="Montserrat Italics"/>
                <a:ea typeface="Montserrat Italics"/>
                <a:cs typeface="Montserrat Italics"/>
                <a:sym typeface="Montserrat Italics"/>
              </a:rPr>
              <a:t>Quản </a:t>
            </a:r>
            <a:r>
              <a:rPr lang="en-US" sz="2799" i="1" dirty="0" err="1">
                <a:solidFill>
                  <a:srgbClr val="0F4662"/>
                </a:solidFill>
                <a:latin typeface="Montserrat Italics"/>
                <a:ea typeface="Montserrat Italics"/>
                <a:cs typeface="Montserrat Italics"/>
                <a:sym typeface="Montserrat Italics"/>
              </a:rPr>
              <a:t>lý</a:t>
            </a:r>
            <a:r>
              <a:rPr lang="en-US" sz="2799" i="1" dirty="0">
                <a:solidFill>
                  <a:srgbClr val="0F4662"/>
                </a:solidFill>
                <a:latin typeface="Montserrat Italics"/>
                <a:ea typeface="Montserrat Italics"/>
                <a:cs typeface="Montserrat Italics"/>
                <a:sym typeface="Montserrat Italics"/>
              </a:rPr>
              <a:t> quiz</a:t>
            </a:r>
          </a:p>
          <a:p>
            <a:pPr marL="604519" lvl="1" indent="-302260" algn="just">
              <a:lnSpc>
                <a:spcPts val="3919"/>
              </a:lnSpc>
              <a:buFont typeface="Arial"/>
              <a:buChar char="•"/>
            </a:pPr>
            <a:r>
              <a:rPr lang="en-US" sz="2799" i="1" dirty="0">
                <a:solidFill>
                  <a:srgbClr val="0F4662"/>
                </a:solidFill>
                <a:latin typeface="Montserrat Italics"/>
                <a:ea typeface="Montserrat Italics"/>
                <a:cs typeface="Montserrat Italics"/>
                <a:sym typeface="Montserrat Italics"/>
              </a:rPr>
              <a:t>Quản </a:t>
            </a:r>
            <a:r>
              <a:rPr lang="en-US" sz="2799" i="1" dirty="0" err="1">
                <a:solidFill>
                  <a:srgbClr val="0F4662"/>
                </a:solidFill>
                <a:latin typeface="Montserrat Italics"/>
                <a:ea typeface="Montserrat Italics"/>
                <a:cs typeface="Montserrat Italics"/>
                <a:sym typeface="Montserrat Italics"/>
              </a:rPr>
              <a:t>lý</a:t>
            </a:r>
            <a:r>
              <a:rPr lang="en-US" sz="2799" i="1" dirty="0">
                <a:solidFill>
                  <a:srgbClr val="0F4662"/>
                </a:solidFill>
                <a:latin typeface="Montserrat Italics"/>
                <a:ea typeface="Montserrat Italics"/>
                <a:cs typeface="Montserrat Italics"/>
                <a:sym typeface="Montserrat Italics"/>
              </a:rPr>
              <a:t> </a:t>
            </a:r>
            <a:r>
              <a:rPr lang="en-US" sz="2799" i="1" dirty="0" err="1">
                <a:solidFill>
                  <a:srgbClr val="0F4662"/>
                </a:solidFill>
                <a:latin typeface="Montserrat Italics"/>
                <a:ea typeface="Montserrat Italics"/>
                <a:cs typeface="Montserrat Italics"/>
                <a:sym typeface="Montserrat Italics"/>
              </a:rPr>
              <a:t>bài</a:t>
            </a:r>
            <a:r>
              <a:rPr lang="en-US" sz="2799" i="1" dirty="0">
                <a:solidFill>
                  <a:srgbClr val="0F4662"/>
                </a:solidFill>
                <a:latin typeface="Montserrat Italics"/>
                <a:ea typeface="Montserrat Italics"/>
                <a:cs typeface="Montserrat Italics"/>
                <a:sym typeface="Montserrat Italics"/>
              </a:rPr>
              <a:t> </a:t>
            </a:r>
            <a:r>
              <a:rPr lang="en-US" sz="2799" i="1" dirty="0" err="1">
                <a:solidFill>
                  <a:srgbClr val="0F4662"/>
                </a:solidFill>
                <a:latin typeface="Montserrat Italics"/>
                <a:ea typeface="Montserrat Italics"/>
                <a:cs typeface="Montserrat Italics"/>
                <a:sym typeface="Montserrat Italics"/>
              </a:rPr>
              <a:t>tập</a:t>
            </a:r>
            <a:r>
              <a:rPr lang="en-US" sz="2799" i="1" dirty="0">
                <a:solidFill>
                  <a:srgbClr val="0F4662"/>
                </a:solidFill>
                <a:latin typeface="Montserrat Italics"/>
                <a:ea typeface="Montserrat Italics"/>
                <a:cs typeface="Montserrat Italics"/>
                <a:sym typeface="Montserrat Italics"/>
              </a:rPr>
              <a:t> </a:t>
            </a:r>
            <a:r>
              <a:rPr lang="en-US" sz="2799" i="1" dirty="0" err="1">
                <a:solidFill>
                  <a:srgbClr val="0F4662"/>
                </a:solidFill>
                <a:latin typeface="Montserrat Italics"/>
                <a:ea typeface="Montserrat Italics"/>
                <a:cs typeface="Montserrat Italics"/>
                <a:sym typeface="Montserrat Italics"/>
              </a:rPr>
              <a:t>lập</a:t>
            </a:r>
            <a:r>
              <a:rPr lang="en-US" sz="2799" i="1" dirty="0">
                <a:solidFill>
                  <a:srgbClr val="0F4662"/>
                </a:solidFill>
                <a:latin typeface="Montserrat Italics"/>
                <a:ea typeface="Montserrat Italics"/>
                <a:cs typeface="Montserrat Italics"/>
                <a:sym typeface="Montserrat Italics"/>
              </a:rPr>
              <a:t> </a:t>
            </a:r>
            <a:r>
              <a:rPr lang="en-US" sz="2799" i="1" dirty="0" err="1">
                <a:solidFill>
                  <a:srgbClr val="0F4662"/>
                </a:solidFill>
                <a:latin typeface="Montserrat Italics"/>
                <a:ea typeface="Montserrat Italics"/>
                <a:cs typeface="Montserrat Italics"/>
                <a:sym typeface="Montserrat Italics"/>
              </a:rPr>
              <a:t>trình</a:t>
            </a:r>
            <a:endParaRPr lang="en-US" sz="2799" i="1" dirty="0">
              <a:solidFill>
                <a:srgbClr val="0F4662"/>
              </a:solidFill>
              <a:latin typeface="Montserrat Italics"/>
              <a:ea typeface="Montserrat Italics"/>
              <a:cs typeface="Montserrat Italics"/>
              <a:sym typeface="Montserrat Italics"/>
            </a:endParaRPr>
          </a:p>
          <a:p>
            <a:pPr marL="604519" lvl="1" indent="-302260" algn="just">
              <a:lnSpc>
                <a:spcPts val="3919"/>
              </a:lnSpc>
              <a:buFont typeface="Arial"/>
              <a:buChar char="•"/>
            </a:pPr>
            <a:r>
              <a:rPr lang="en-US" sz="2799" i="1" dirty="0">
                <a:solidFill>
                  <a:srgbClr val="0F4662"/>
                </a:solidFill>
                <a:latin typeface="Montserrat Italics"/>
                <a:ea typeface="Montserrat Italics"/>
                <a:cs typeface="Montserrat Italics"/>
                <a:sym typeface="Montserrat Italics"/>
              </a:rPr>
              <a:t>Quản </a:t>
            </a:r>
            <a:r>
              <a:rPr lang="en-US" sz="2799" i="1" dirty="0" err="1">
                <a:solidFill>
                  <a:srgbClr val="0F4662"/>
                </a:solidFill>
                <a:latin typeface="Montserrat Italics"/>
                <a:ea typeface="Montserrat Italics"/>
                <a:cs typeface="Montserrat Italics"/>
                <a:sym typeface="Montserrat Italics"/>
              </a:rPr>
              <a:t>lý</a:t>
            </a:r>
            <a:r>
              <a:rPr lang="en-US" sz="2799" i="1" dirty="0">
                <a:solidFill>
                  <a:srgbClr val="0F4662"/>
                </a:solidFill>
                <a:latin typeface="Montserrat Italics"/>
                <a:ea typeface="Montserrat Italics"/>
                <a:cs typeface="Montserrat Italics"/>
                <a:sym typeface="Montserrat Italics"/>
              </a:rPr>
              <a:t> </a:t>
            </a:r>
            <a:r>
              <a:rPr lang="en-US" sz="2799" i="1" dirty="0" err="1">
                <a:solidFill>
                  <a:srgbClr val="0F4662"/>
                </a:solidFill>
                <a:latin typeface="Montserrat Italics"/>
                <a:ea typeface="Montserrat Italics"/>
                <a:cs typeface="Montserrat Italics"/>
                <a:sym typeface="Montserrat Italics"/>
              </a:rPr>
              <a:t>cuộc</a:t>
            </a:r>
            <a:r>
              <a:rPr lang="en-US" sz="2799" i="1" dirty="0">
                <a:solidFill>
                  <a:srgbClr val="0F4662"/>
                </a:solidFill>
                <a:latin typeface="Montserrat Italics"/>
                <a:ea typeface="Montserrat Italics"/>
                <a:cs typeface="Montserrat Italics"/>
                <a:sym typeface="Montserrat Italics"/>
              </a:rPr>
              <a:t> </a:t>
            </a:r>
            <a:r>
              <a:rPr lang="en-US" sz="2799" i="1" dirty="0" err="1">
                <a:solidFill>
                  <a:srgbClr val="0F4662"/>
                </a:solidFill>
                <a:latin typeface="Montserrat Italics"/>
                <a:ea typeface="Montserrat Italics"/>
                <a:cs typeface="Montserrat Italics"/>
                <a:sym typeface="Montserrat Italics"/>
              </a:rPr>
              <a:t>thi</a:t>
            </a:r>
            <a:endParaRPr lang="en-US" sz="2799" i="1" dirty="0">
              <a:solidFill>
                <a:srgbClr val="0F4662"/>
              </a:solidFill>
              <a:latin typeface="Montserrat Italics"/>
              <a:ea typeface="Montserrat Italics"/>
              <a:cs typeface="Montserrat Italics"/>
              <a:sym typeface="Montserrat Italics"/>
            </a:endParaRPr>
          </a:p>
          <a:p>
            <a:pPr marL="604519" lvl="1" indent="-302260" algn="just">
              <a:lnSpc>
                <a:spcPts val="3919"/>
              </a:lnSpc>
              <a:buFont typeface="Arial"/>
              <a:buChar char="•"/>
            </a:pPr>
            <a:r>
              <a:rPr lang="en-US" sz="2799" i="1" dirty="0">
                <a:solidFill>
                  <a:srgbClr val="0F4662"/>
                </a:solidFill>
                <a:latin typeface="Montserrat Italics"/>
                <a:ea typeface="Montserrat Italics"/>
                <a:cs typeface="Montserrat Italics"/>
                <a:sym typeface="Montserrat Italics"/>
              </a:rPr>
              <a:t>Xem </a:t>
            </a:r>
            <a:r>
              <a:rPr lang="en-US" sz="2799" i="1" dirty="0" err="1">
                <a:solidFill>
                  <a:srgbClr val="0F4662"/>
                </a:solidFill>
                <a:latin typeface="Montserrat Italics"/>
                <a:ea typeface="Montserrat Italics"/>
                <a:cs typeface="Montserrat Italics"/>
                <a:sym typeface="Montserrat Italics"/>
              </a:rPr>
              <a:t>ngôn</a:t>
            </a:r>
            <a:r>
              <a:rPr lang="en-US" sz="2799" i="1" dirty="0">
                <a:solidFill>
                  <a:srgbClr val="0F4662"/>
                </a:solidFill>
                <a:latin typeface="Montserrat Italics"/>
                <a:ea typeface="Montserrat Italics"/>
                <a:cs typeface="Montserrat Italics"/>
                <a:sym typeface="Montserrat Italics"/>
              </a:rPr>
              <a:t> </a:t>
            </a:r>
            <a:r>
              <a:rPr lang="en-US" sz="2799" i="1" dirty="0" err="1">
                <a:solidFill>
                  <a:srgbClr val="0F4662"/>
                </a:solidFill>
                <a:latin typeface="Montserrat Italics"/>
                <a:ea typeface="Montserrat Italics"/>
                <a:cs typeface="Montserrat Italics"/>
                <a:sym typeface="Montserrat Italics"/>
              </a:rPr>
              <a:t>ngữ</a:t>
            </a:r>
            <a:r>
              <a:rPr lang="en-US" sz="2799" i="1" dirty="0">
                <a:solidFill>
                  <a:srgbClr val="0F4662"/>
                </a:solidFill>
                <a:latin typeface="Montserrat Italics"/>
                <a:ea typeface="Montserrat Italics"/>
                <a:cs typeface="Montserrat Italics"/>
                <a:sym typeface="Montserrat Italics"/>
              </a:rPr>
              <a:t> </a:t>
            </a:r>
            <a:r>
              <a:rPr lang="en-US" sz="2799" i="1" dirty="0" err="1">
                <a:solidFill>
                  <a:srgbClr val="0F4662"/>
                </a:solidFill>
                <a:latin typeface="Montserrat Italics"/>
                <a:ea typeface="Montserrat Italics"/>
                <a:cs typeface="Montserrat Italics"/>
                <a:sym typeface="Montserrat Italics"/>
              </a:rPr>
              <a:t>lập</a:t>
            </a:r>
            <a:r>
              <a:rPr lang="en-US" sz="2799" i="1" dirty="0">
                <a:solidFill>
                  <a:srgbClr val="0F4662"/>
                </a:solidFill>
                <a:latin typeface="Montserrat Italics"/>
                <a:ea typeface="Montserrat Italics"/>
                <a:cs typeface="Montserrat Italics"/>
                <a:sym typeface="Montserrat Italics"/>
              </a:rPr>
              <a:t> </a:t>
            </a:r>
            <a:r>
              <a:rPr lang="en-US" sz="2799" i="1" dirty="0" err="1">
                <a:solidFill>
                  <a:srgbClr val="0F4662"/>
                </a:solidFill>
                <a:latin typeface="Montserrat Italics"/>
                <a:ea typeface="Montserrat Italics"/>
                <a:cs typeface="Montserrat Italics"/>
                <a:sym typeface="Montserrat Italics"/>
              </a:rPr>
              <a:t>trình</a:t>
            </a:r>
            <a:endParaRPr lang="en-US" sz="2799" i="1" dirty="0">
              <a:solidFill>
                <a:srgbClr val="0F4662"/>
              </a:solidFill>
              <a:latin typeface="Montserrat Italics"/>
              <a:ea typeface="Montserrat Italics"/>
              <a:cs typeface="Montserrat Italics"/>
              <a:sym typeface="Montserrat Italics"/>
            </a:endParaRPr>
          </a:p>
          <a:p>
            <a:pPr marL="604519" lvl="1" indent="-302260" algn="just">
              <a:lnSpc>
                <a:spcPts val="3919"/>
              </a:lnSpc>
              <a:buFont typeface="Arial"/>
              <a:buChar char="•"/>
            </a:pPr>
            <a:r>
              <a:rPr lang="en-US" sz="2799" i="1" dirty="0">
                <a:solidFill>
                  <a:srgbClr val="0F4662"/>
                </a:solidFill>
                <a:latin typeface="Montserrat Italics"/>
                <a:ea typeface="Montserrat Italics"/>
                <a:cs typeface="Montserrat Italics"/>
                <a:sym typeface="Montserrat Italics"/>
              </a:rPr>
              <a:t>Quản </a:t>
            </a:r>
            <a:r>
              <a:rPr lang="en-US" sz="2799" i="1" dirty="0" err="1">
                <a:solidFill>
                  <a:srgbClr val="0F4662"/>
                </a:solidFill>
                <a:latin typeface="Montserrat Italics"/>
                <a:ea typeface="Montserrat Italics"/>
                <a:cs typeface="Montserrat Italics"/>
                <a:sym typeface="Montserrat Italics"/>
              </a:rPr>
              <a:t>lý</a:t>
            </a:r>
            <a:r>
              <a:rPr lang="en-US" sz="2799" i="1" dirty="0">
                <a:solidFill>
                  <a:srgbClr val="0F4662"/>
                </a:solidFill>
                <a:latin typeface="Montserrat Italics"/>
                <a:ea typeface="Montserrat Italics"/>
                <a:cs typeface="Montserrat Italics"/>
                <a:sym typeface="Montserrat Italics"/>
              </a:rPr>
              <a:t> </a:t>
            </a:r>
            <a:r>
              <a:rPr lang="en-US" sz="2799" i="1" dirty="0" err="1">
                <a:solidFill>
                  <a:srgbClr val="0F4662"/>
                </a:solidFill>
                <a:latin typeface="Montserrat Italics"/>
                <a:ea typeface="Montserrat Italics"/>
                <a:cs typeface="Montserrat Italics"/>
                <a:sym typeface="Montserrat Italics"/>
              </a:rPr>
              <a:t>thẻ</a:t>
            </a:r>
            <a:endParaRPr lang="en-US" sz="2799" i="1" dirty="0">
              <a:solidFill>
                <a:srgbClr val="0F4662"/>
              </a:solidFill>
              <a:latin typeface="Montserrat Italics"/>
              <a:ea typeface="Montserrat Italics"/>
              <a:cs typeface="Montserrat Italics"/>
              <a:sym typeface="Montserrat Italics"/>
            </a:endParaRPr>
          </a:p>
          <a:p>
            <a:pPr marL="604519" lvl="1" indent="-302260" algn="just">
              <a:lnSpc>
                <a:spcPts val="3919"/>
              </a:lnSpc>
              <a:buFont typeface="Arial"/>
              <a:buChar char="•"/>
            </a:pPr>
            <a:r>
              <a:rPr lang="en-US" sz="2799" i="1" dirty="0">
                <a:solidFill>
                  <a:srgbClr val="0F4662"/>
                </a:solidFill>
                <a:latin typeface="Montserrat Italics"/>
                <a:ea typeface="Montserrat Italics"/>
                <a:cs typeface="Montserrat Italics"/>
                <a:sym typeface="Montserrat Italics"/>
              </a:rPr>
              <a:t>Quản </a:t>
            </a:r>
            <a:r>
              <a:rPr lang="en-US" sz="2799" i="1" dirty="0" err="1">
                <a:solidFill>
                  <a:srgbClr val="0F4662"/>
                </a:solidFill>
                <a:latin typeface="Montserrat Italics"/>
                <a:ea typeface="Montserrat Italics"/>
                <a:cs typeface="Montserrat Italics"/>
                <a:sym typeface="Montserrat Italics"/>
              </a:rPr>
              <a:t>lý</a:t>
            </a:r>
            <a:r>
              <a:rPr lang="en-US" sz="2799" i="1" dirty="0">
                <a:solidFill>
                  <a:srgbClr val="0F4662"/>
                </a:solidFill>
                <a:latin typeface="Montserrat Italics"/>
                <a:ea typeface="Montserrat Italics"/>
                <a:cs typeface="Montserrat Italics"/>
                <a:sym typeface="Montserrat Italics"/>
              </a:rPr>
              <a:t> </a:t>
            </a:r>
            <a:r>
              <a:rPr lang="en-US" sz="2799" i="1" dirty="0" err="1">
                <a:solidFill>
                  <a:srgbClr val="0F4662"/>
                </a:solidFill>
                <a:latin typeface="Montserrat Italics"/>
                <a:ea typeface="Montserrat Italics"/>
                <a:cs typeface="Montserrat Italics"/>
                <a:sym typeface="Montserrat Italics"/>
              </a:rPr>
              <a:t>vai</a:t>
            </a:r>
            <a:r>
              <a:rPr lang="en-US" sz="2799" i="1" dirty="0">
                <a:solidFill>
                  <a:srgbClr val="0F4662"/>
                </a:solidFill>
                <a:latin typeface="Montserrat Italics"/>
                <a:ea typeface="Montserrat Italics"/>
                <a:cs typeface="Montserrat Italics"/>
                <a:sym typeface="Montserrat Italics"/>
              </a:rPr>
              <a:t> </a:t>
            </a:r>
            <a:r>
              <a:rPr lang="en-US" sz="2799" i="1" dirty="0" err="1">
                <a:solidFill>
                  <a:srgbClr val="0F4662"/>
                </a:solidFill>
                <a:latin typeface="Montserrat Italics"/>
                <a:ea typeface="Montserrat Italics"/>
                <a:cs typeface="Montserrat Italics"/>
                <a:sym typeface="Montserrat Italics"/>
              </a:rPr>
              <a:t>trò</a:t>
            </a:r>
            <a:r>
              <a:rPr lang="en-US" sz="2799" i="1" dirty="0">
                <a:solidFill>
                  <a:srgbClr val="0F4662"/>
                </a:solidFill>
                <a:latin typeface="Montserrat Italics"/>
                <a:ea typeface="Montserrat Italics"/>
                <a:cs typeface="Montserrat Italics"/>
                <a:sym typeface="Montserrat Italics"/>
              </a:rPr>
              <a:t>, </a:t>
            </a:r>
            <a:r>
              <a:rPr lang="en-US" sz="2799" i="1" dirty="0" err="1">
                <a:solidFill>
                  <a:srgbClr val="0F4662"/>
                </a:solidFill>
                <a:latin typeface="Montserrat Italics"/>
                <a:ea typeface="Montserrat Italics"/>
                <a:cs typeface="Montserrat Italics"/>
                <a:sym typeface="Montserrat Italics"/>
              </a:rPr>
              <a:t>quyền</a:t>
            </a:r>
            <a:r>
              <a:rPr lang="en-US" sz="2799" i="1" dirty="0">
                <a:solidFill>
                  <a:srgbClr val="0F4662"/>
                </a:solidFill>
                <a:latin typeface="Montserrat Italics"/>
                <a:ea typeface="Montserrat Italics"/>
                <a:cs typeface="Montserrat Italics"/>
                <a:sym typeface="Montserrat Italics"/>
              </a:rPr>
              <a:t>, </a:t>
            </a:r>
            <a:r>
              <a:rPr lang="en-US" sz="2799" i="1" dirty="0" err="1">
                <a:solidFill>
                  <a:srgbClr val="0F4662"/>
                </a:solidFill>
                <a:latin typeface="Montserrat Italics"/>
                <a:ea typeface="Montserrat Italics"/>
                <a:cs typeface="Montserrat Italics"/>
                <a:sym typeface="Montserrat Italics"/>
              </a:rPr>
              <a:t>nhóm</a:t>
            </a:r>
            <a:r>
              <a:rPr lang="en-US" sz="2799" i="1" dirty="0">
                <a:solidFill>
                  <a:srgbClr val="0F4662"/>
                </a:solidFill>
                <a:latin typeface="Montserrat Italics"/>
                <a:ea typeface="Montserrat Italics"/>
                <a:cs typeface="Montserrat Italics"/>
                <a:sym typeface="Montserrat Italics"/>
              </a:rPr>
              <a:t> </a:t>
            </a:r>
            <a:r>
              <a:rPr lang="en-US" sz="2799" i="1" dirty="0" err="1">
                <a:solidFill>
                  <a:srgbClr val="0F4662"/>
                </a:solidFill>
                <a:latin typeface="Montserrat Italics"/>
                <a:ea typeface="Montserrat Italics"/>
                <a:cs typeface="Montserrat Italics"/>
                <a:sym typeface="Montserrat Italics"/>
              </a:rPr>
              <a:t>quyền</a:t>
            </a:r>
            <a:endParaRPr lang="en-US" sz="2799" i="1" dirty="0">
              <a:solidFill>
                <a:srgbClr val="0F4662"/>
              </a:solidFill>
              <a:latin typeface="Montserrat Italics"/>
              <a:ea typeface="Montserrat Italics"/>
              <a:cs typeface="Montserrat Italics"/>
              <a:sym typeface="Montserrat Italics"/>
            </a:endParaRPr>
          </a:p>
          <a:p>
            <a:pPr marL="604519" lvl="1" indent="-302260" algn="just">
              <a:lnSpc>
                <a:spcPts val="3919"/>
              </a:lnSpc>
              <a:spcBef>
                <a:spcPct val="0"/>
              </a:spcBef>
              <a:buFont typeface="Arial"/>
              <a:buChar char="•"/>
            </a:pPr>
            <a:r>
              <a:rPr lang="en-US" sz="2799" i="1" dirty="0">
                <a:solidFill>
                  <a:srgbClr val="0F4662"/>
                </a:solidFill>
                <a:latin typeface="Montserrat Italics"/>
                <a:ea typeface="Montserrat Italics"/>
                <a:cs typeface="Montserrat Italics"/>
                <a:sym typeface="Montserrat Italics"/>
              </a:rPr>
              <a:t>Xem </a:t>
            </a:r>
            <a:r>
              <a:rPr lang="en-US" sz="2799" i="1" dirty="0" err="1">
                <a:solidFill>
                  <a:srgbClr val="0F4662"/>
                </a:solidFill>
                <a:latin typeface="Montserrat Italics"/>
                <a:ea typeface="Montserrat Italics"/>
                <a:cs typeface="Montserrat Italics"/>
                <a:sym typeface="Montserrat Italics"/>
              </a:rPr>
              <a:t>thống</a:t>
            </a:r>
            <a:r>
              <a:rPr lang="en-US" sz="2799" i="1" dirty="0">
                <a:solidFill>
                  <a:srgbClr val="0F4662"/>
                </a:solidFill>
                <a:latin typeface="Montserrat Italics"/>
                <a:ea typeface="Montserrat Italics"/>
                <a:cs typeface="Montserrat Italics"/>
                <a:sym typeface="Montserrat Italics"/>
              </a:rPr>
              <a:t> </a:t>
            </a:r>
            <a:r>
              <a:rPr lang="en-US" sz="2799" i="1" dirty="0" err="1">
                <a:solidFill>
                  <a:srgbClr val="0F4662"/>
                </a:solidFill>
                <a:latin typeface="Montserrat Italics"/>
                <a:ea typeface="Montserrat Italics"/>
                <a:cs typeface="Montserrat Italics"/>
                <a:sym typeface="Montserrat Italics"/>
              </a:rPr>
              <a:t>kê</a:t>
            </a:r>
            <a:r>
              <a:rPr lang="en-US" sz="2799" i="1" dirty="0">
                <a:solidFill>
                  <a:srgbClr val="0F4662"/>
                </a:solidFill>
                <a:latin typeface="Montserrat Italics"/>
                <a:ea typeface="Montserrat Italics"/>
                <a:cs typeface="Montserrat Italics"/>
                <a:sym typeface="Montserrat Italics"/>
              </a:rPr>
              <a:t> </a:t>
            </a:r>
            <a:r>
              <a:rPr lang="en-US" sz="2799" i="1" dirty="0" err="1">
                <a:solidFill>
                  <a:srgbClr val="0F4662"/>
                </a:solidFill>
                <a:latin typeface="Montserrat Italics"/>
                <a:ea typeface="Montserrat Italics"/>
                <a:cs typeface="Montserrat Italics"/>
                <a:sym typeface="Montserrat Italics"/>
              </a:rPr>
              <a:t>học</a:t>
            </a:r>
            <a:r>
              <a:rPr lang="en-US" sz="2799" i="1" dirty="0">
                <a:solidFill>
                  <a:srgbClr val="0F4662"/>
                </a:solidFill>
                <a:latin typeface="Montserrat Italics"/>
                <a:ea typeface="Montserrat Italics"/>
                <a:cs typeface="Montserrat Italics"/>
                <a:sym typeface="Montserrat Italics"/>
              </a:rPr>
              <a:t> </a:t>
            </a:r>
            <a:r>
              <a:rPr lang="en-US" sz="2799" i="1" dirty="0" err="1">
                <a:solidFill>
                  <a:srgbClr val="0F4662"/>
                </a:solidFill>
                <a:latin typeface="Montserrat Italics"/>
                <a:ea typeface="Montserrat Italics"/>
                <a:cs typeface="Montserrat Italics"/>
                <a:sym typeface="Montserrat Italics"/>
              </a:rPr>
              <a:t>viên</a:t>
            </a:r>
            <a:r>
              <a:rPr lang="en-US" sz="2799" i="1" dirty="0">
                <a:solidFill>
                  <a:srgbClr val="0F4662"/>
                </a:solidFill>
                <a:latin typeface="Montserrat Italics"/>
                <a:ea typeface="Montserrat Italics"/>
                <a:cs typeface="Montserrat Italics"/>
                <a:sym typeface="Montserrat Italics"/>
              </a:rPr>
              <a:t>, </a:t>
            </a:r>
            <a:r>
              <a:rPr lang="en-US" sz="2799" i="1" dirty="0" err="1">
                <a:solidFill>
                  <a:srgbClr val="0F4662"/>
                </a:solidFill>
                <a:latin typeface="Montserrat Italics"/>
                <a:ea typeface="Montserrat Italics"/>
                <a:cs typeface="Montserrat Italics"/>
                <a:sym typeface="Montserrat Italics"/>
              </a:rPr>
              <a:t>khóa</a:t>
            </a:r>
            <a:r>
              <a:rPr lang="en-US" sz="2799" i="1" dirty="0">
                <a:solidFill>
                  <a:srgbClr val="0F4662"/>
                </a:solidFill>
                <a:latin typeface="Montserrat Italics"/>
                <a:ea typeface="Montserrat Italics"/>
                <a:cs typeface="Montserrat Italics"/>
                <a:sym typeface="Montserrat Italics"/>
              </a:rPr>
              <a:t> </a:t>
            </a:r>
            <a:r>
              <a:rPr lang="en-US" sz="2799" i="1" dirty="0" err="1">
                <a:solidFill>
                  <a:srgbClr val="0F4662"/>
                </a:solidFill>
                <a:latin typeface="Montserrat Italics"/>
                <a:ea typeface="Montserrat Italics"/>
                <a:cs typeface="Montserrat Italics"/>
                <a:sym typeface="Montserrat Italics"/>
              </a:rPr>
              <a:t>học</a:t>
            </a:r>
            <a:r>
              <a:rPr lang="en-US" sz="2799" i="1" dirty="0">
                <a:solidFill>
                  <a:srgbClr val="0F4662"/>
                </a:solidFill>
                <a:latin typeface="Montserrat Italics"/>
                <a:ea typeface="Montserrat Italics"/>
                <a:cs typeface="Montserrat Italics"/>
                <a:sym typeface="Montserrat Italics"/>
              </a:rPr>
              <a:t>, </a:t>
            </a:r>
            <a:r>
              <a:rPr lang="en-US" sz="2799" i="1" dirty="0" err="1">
                <a:solidFill>
                  <a:srgbClr val="0F4662"/>
                </a:solidFill>
                <a:latin typeface="Montserrat Italics"/>
                <a:ea typeface="Montserrat Italics"/>
                <a:cs typeface="Montserrat Italics"/>
                <a:sym typeface="Montserrat Italics"/>
              </a:rPr>
              <a:t>cuộc</a:t>
            </a:r>
            <a:r>
              <a:rPr lang="en-US" sz="2799" i="1" dirty="0">
                <a:solidFill>
                  <a:srgbClr val="0F4662"/>
                </a:solidFill>
                <a:latin typeface="Montserrat Italics"/>
                <a:ea typeface="Montserrat Italics"/>
                <a:cs typeface="Montserrat Italics"/>
                <a:sym typeface="Montserrat Italics"/>
              </a:rPr>
              <a:t> </a:t>
            </a:r>
            <a:r>
              <a:rPr lang="en-US" sz="2799" i="1" dirty="0" err="1">
                <a:solidFill>
                  <a:srgbClr val="0F4662"/>
                </a:solidFill>
                <a:latin typeface="Montserrat Italics"/>
                <a:ea typeface="Montserrat Italics"/>
                <a:cs typeface="Montserrat Italics"/>
                <a:sym typeface="Montserrat Italics"/>
              </a:rPr>
              <a:t>thi</a:t>
            </a:r>
            <a:r>
              <a:rPr lang="en-US" sz="2799" i="1" dirty="0">
                <a:solidFill>
                  <a:srgbClr val="0F4662"/>
                </a:solidFill>
                <a:latin typeface="Montserrat Italics"/>
                <a:ea typeface="Montserrat Italics"/>
                <a:cs typeface="Montserrat Italics"/>
                <a:sym typeface="Montserrat Italics"/>
              </a:rPr>
              <a:t>, </a:t>
            </a:r>
            <a:r>
              <a:rPr lang="en-US" sz="2799" i="1" dirty="0" err="1">
                <a:solidFill>
                  <a:srgbClr val="0F4662"/>
                </a:solidFill>
                <a:latin typeface="Montserrat Italics"/>
                <a:ea typeface="Montserrat Italics"/>
                <a:cs typeface="Montserrat Italics"/>
                <a:sym typeface="Montserrat Italics"/>
              </a:rPr>
              <a:t>doanh</a:t>
            </a:r>
            <a:r>
              <a:rPr lang="en-US" sz="2799" i="1" dirty="0">
                <a:solidFill>
                  <a:srgbClr val="0F4662"/>
                </a:solidFill>
                <a:latin typeface="Montserrat Italics"/>
                <a:ea typeface="Montserrat Italics"/>
                <a:cs typeface="Montserrat Italics"/>
                <a:sym typeface="Montserrat Italics"/>
              </a:rPr>
              <a:t> </a:t>
            </a:r>
            <a:r>
              <a:rPr lang="en-US" sz="2799" i="1" dirty="0" err="1">
                <a:solidFill>
                  <a:srgbClr val="0F4662"/>
                </a:solidFill>
                <a:latin typeface="Montserrat Italics"/>
                <a:ea typeface="Montserrat Italics"/>
                <a:cs typeface="Montserrat Italics"/>
                <a:sym typeface="Montserrat Italics"/>
              </a:rPr>
              <a:t>thu</a:t>
            </a:r>
            <a:endParaRPr lang="en-US" sz="2799" i="1" dirty="0">
              <a:solidFill>
                <a:srgbClr val="0F4662"/>
              </a:solidFill>
              <a:latin typeface="Montserrat Italics"/>
              <a:ea typeface="Montserrat Italics"/>
              <a:cs typeface="Montserrat Italics"/>
              <a:sym typeface="Montserrat Italics"/>
            </a:endParaRPr>
          </a:p>
        </p:txBody>
      </p:sp>
      <p:sp>
        <p:nvSpPr>
          <p:cNvPr id="9" name="TextBox 9"/>
          <p:cNvSpPr txBox="1"/>
          <p:nvPr/>
        </p:nvSpPr>
        <p:spPr>
          <a:xfrm>
            <a:off x="17740350" y="9509200"/>
            <a:ext cx="206673" cy="464645"/>
          </a:xfrm>
          <a:prstGeom prst="rect">
            <a:avLst/>
          </a:prstGeom>
        </p:spPr>
        <p:txBody>
          <a:bodyPr lIns="0" tIns="0" rIns="0" bIns="0" rtlCol="0" anchor="t">
            <a:spAutoFit/>
          </a:bodyPr>
          <a:lstStyle/>
          <a:p>
            <a:pPr algn="ctr">
              <a:lnSpc>
                <a:spcPts val="3831"/>
              </a:lnSpc>
              <a:spcBef>
                <a:spcPct val="0"/>
              </a:spcBef>
            </a:pPr>
            <a:r>
              <a:rPr lang="en-US" sz="2554" b="1">
                <a:solidFill>
                  <a:srgbClr val="0F4662"/>
                </a:solidFill>
                <a:latin typeface="Montserrat Bold"/>
                <a:ea typeface="Montserrat Bold"/>
                <a:cs typeface="Montserrat Bold"/>
                <a:sym typeface="Montserrat Bold"/>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15579303" y="714009"/>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a:off x="1024384" y="9529723"/>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2793440" y="2233188"/>
            <a:ext cx="12701120" cy="7969953"/>
          </a:xfrm>
          <a:custGeom>
            <a:avLst/>
            <a:gdLst/>
            <a:ahLst/>
            <a:cxnLst/>
            <a:rect l="l" t="t" r="r" b="b"/>
            <a:pathLst>
              <a:path w="12701120" h="7969953">
                <a:moveTo>
                  <a:pt x="0" y="0"/>
                </a:moveTo>
                <a:lnTo>
                  <a:pt x="12701120" y="0"/>
                </a:lnTo>
                <a:lnTo>
                  <a:pt x="12701120" y="7969953"/>
                </a:lnTo>
                <a:lnTo>
                  <a:pt x="0" y="7969953"/>
                </a:lnTo>
                <a:lnTo>
                  <a:pt x="0" y="0"/>
                </a:lnTo>
                <a:close/>
              </a:path>
            </a:pathLst>
          </a:custGeom>
          <a:blipFill>
            <a:blip r:embed="rId5"/>
            <a:stretch>
              <a:fillRect/>
            </a:stretch>
          </a:blipFill>
        </p:spPr>
        <p:txBody>
          <a:bodyPr/>
          <a:lstStyle/>
          <a:p>
            <a:endParaRPr lang="en-US"/>
          </a:p>
        </p:txBody>
      </p:sp>
      <p:sp>
        <p:nvSpPr>
          <p:cNvPr id="5" name="TextBox 5"/>
          <p:cNvSpPr txBox="1"/>
          <p:nvPr/>
        </p:nvSpPr>
        <p:spPr>
          <a:xfrm>
            <a:off x="1024384" y="609234"/>
            <a:ext cx="14072064" cy="920114"/>
          </a:xfrm>
          <a:prstGeom prst="rect">
            <a:avLst/>
          </a:prstGeom>
        </p:spPr>
        <p:txBody>
          <a:bodyPr lIns="0" tIns="0" rIns="0" bIns="0" rtlCol="0" anchor="t">
            <a:spAutoFit/>
          </a:bodyPr>
          <a:lstStyle/>
          <a:p>
            <a:pPr marL="0" lvl="0" indent="0" algn="l">
              <a:lnSpc>
                <a:spcPts val="7560"/>
              </a:lnSpc>
              <a:spcBef>
                <a:spcPct val="0"/>
              </a:spcBef>
            </a:pPr>
            <a:r>
              <a:rPr lang="en-US" sz="5400" b="1" i="1">
                <a:solidFill>
                  <a:srgbClr val="0F4662"/>
                </a:solidFill>
                <a:latin typeface="Montserrat Bold Italics"/>
                <a:ea typeface="Montserrat Bold Italics"/>
                <a:cs typeface="Montserrat Bold Italics"/>
                <a:sym typeface="Montserrat Bold Italics"/>
              </a:rPr>
              <a:t>2. PHÂN TÍCH THIẾT KẾ HỆ THỐNG</a:t>
            </a:r>
          </a:p>
        </p:txBody>
      </p:sp>
      <p:sp>
        <p:nvSpPr>
          <p:cNvPr id="6" name="TextBox 6"/>
          <p:cNvSpPr txBox="1"/>
          <p:nvPr/>
        </p:nvSpPr>
        <p:spPr>
          <a:xfrm>
            <a:off x="1238298" y="1541039"/>
            <a:ext cx="14072064" cy="606424"/>
          </a:xfrm>
          <a:prstGeom prst="rect">
            <a:avLst/>
          </a:prstGeom>
        </p:spPr>
        <p:txBody>
          <a:bodyPr lIns="0" tIns="0" rIns="0" bIns="0" rtlCol="0" anchor="t">
            <a:spAutoFit/>
          </a:bodyPr>
          <a:lstStyle/>
          <a:p>
            <a:pPr marL="0" lvl="0" indent="0" algn="l">
              <a:lnSpc>
                <a:spcPts val="4900"/>
              </a:lnSpc>
              <a:spcBef>
                <a:spcPct val="0"/>
              </a:spcBef>
            </a:pPr>
            <a:r>
              <a:rPr lang="en-US" sz="3500" b="1" i="1">
                <a:solidFill>
                  <a:srgbClr val="0F4662"/>
                </a:solidFill>
                <a:latin typeface="Montserrat Bold Italics"/>
                <a:ea typeface="Montserrat Bold Italics"/>
                <a:cs typeface="Montserrat Bold Italics"/>
                <a:sym typeface="Montserrat Bold Italics"/>
              </a:rPr>
              <a:t>2.2. Sơ đồ lớp thiết kế toàn hệ thống</a:t>
            </a:r>
          </a:p>
        </p:txBody>
      </p:sp>
      <p:sp>
        <p:nvSpPr>
          <p:cNvPr id="7" name="TextBox 7"/>
          <p:cNvSpPr txBox="1"/>
          <p:nvPr/>
        </p:nvSpPr>
        <p:spPr>
          <a:xfrm>
            <a:off x="17526000" y="9509200"/>
            <a:ext cx="491419" cy="446404"/>
          </a:xfrm>
          <a:prstGeom prst="rect">
            <a:avLst/>
          </a:prstGeom>
        </p:spPr>
        <p:txBody>
          <a:bodyPr wrap="square" lIns="0" tIns="0" rIns="0" bIns="0" rtlCol="0" anchor="t">
            <a:spAutoFit/>
          </a:bodyPr>
          <a:lstStyle/>
          <a:p>
            <a:pPr algn="ctr">
              <a:lnSpc>
                <a:spcPts val="3831"/>
              </a:lnSpc>
              <a:spcBef>
                <a:spcPct val="0"/>
              </a:spcBef>
            </a:pPr>
            <a:r>
              <a:rPr lang="en-US" sz="2554" b="1" dirty="0">
                <a:solidFill>
                  <a:srgbClr val="0F4662"/>
                </a:solidFill>
                <a:latin typeface="Montserrat Bold"/>
                <a:ea typeface="Montserrat Bold"/>
                <a:cs typeface="Montserrat Bold"/>
                <a:sym typeface="Montserrat Bold"/>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15579303" y="714009"/>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a:off x="1985056" y="2233188"/>
            <a:ext cx="14057104" cy="7907121"/>
          </a:xfrm>
          <a:custGeom>
            <a:avLst/>
            <a:gdLst/>
            <a:ahLst/>
            <a:cxnLst/>
            <a:rect l="l" t="t" r="r" b="b"/>
            <a:pathLst>
              <a:path w="14057104" h="7907121">
                <a:moveTo>
                  <a:pt x="0" y="0"/>
                </a:moveTo>
                <a:lnTo>
                  <a:pt x="14057105" y="0"/>
                </a:lnTo>
                <a:lnTo>
                  <a:pt x="14057105" y="7907121"/>
                </a:lnTo>
                <a:lnTo>
                  <a:pt x="0" y="7907121"/>
                </a:lnTo>
                <a:lnTo>
                  <a:pt x="0" y="0"/>
                </a:lnTo>
                <a:close/>
              </a:path>
            </a:pathLst>
          </a:custGeom>
          <a:blipFill>
            <a:blip r:embed="rId5"/>
            <a:stretch>
              <a:fillRect/>
            </a:stretch>
          </a:blipFill>
        </p:spPr>
        <p:txBody>
          <a:bodyPr/>
          <a:lstStyle/>
          <a:p>
            <a:endParaRPr lang="en-US"/>
          </a:p>
        </p:txBody>
      </p:sp>
      <p:sp>
        <p:nvSpPr>
          <p:cNvPr id="4" name="TextBox 4"/>
          <p:cNvSpPr txBox="1"/>
          <p:nvPr/>
        </p:nvSpPr>
        <p:spPr>
          <a:xfrm>
            <a:off x="1024384" y="609234"/>
            <a:ext cx="14072064" cy="920114"/>
          </a:xfrm>
          <a:prstGeom prst="rect">
            <a:avLst/>
          </a:prstGeom>
        </p:spPr>
        <p:txBody>
          <a:bodyPr lIns="0" tIns="0" rIns="0" bIns="0" rtlCol="0" anchor="t">
            <a:spAutoFit/>
          </a:bodyPr>
          <a:lstStyle/>
          <a:p>
            <a:pPr marL="0" lvl="0" indent="0" algn="l">
              <a:lnSpc>
                <a:spcPts val="7560"/>
              </a:lnSpc>
              <a:spcBef>
                <a:spcPct val="0"/>
              </a:spcBef>
            </a:pPr>
            <a:r>
              <a:rPr lang="en-US" sz="5400" b="1" i="1">
                <a:solidFill>
                  <a:srgbClr val="0F4662"/>
                </a:solidFill>
                <a:latin typeface="Montserrat Bold Italics"/>
                <a:ea typeface="Montserrat Bold Italics"/>
                <a:cs typeface="Montserrat Bold Italics"/>
                <a:sym typeface="Montserrat Bold Italics"/>
              </a:rPr>
              <a:t>2. PHÂN TÍCH THIẾT KẾ HỆ THỐNG</a:t>
            </a:r>
          </a:p>
        </p:txBody>
      </p:sp>
      <p:sp>
        <p:nvSpPr>
          <p:cNvPr id="5" name="TextBox 5"/>
          <p:cNvSpPr txBox="1"/>
          <p:nvPr/>
        </p:nvSpPr>
        <p:spPr>
          <a:xfrm>
            <a:off x="1238298" y="1541039"/>
            <a:ext cx="14072064" cy="606424"/>
          </a:xfrm>
          <a:prstGeom prst="rect">
            <a:avLst/>
          </a:prstGeom>
        </p:spPr>
        <p:txBody>
          <a:bodyPr lIns="0" tIns="0" rIns="0" bIns="0" rtlCol="0" anchor="t">
            <a:spAutoFit/>
          </a:bodyPr>
          <a:lstStyle/>
          <a:p>
            <a:pPr marL="0" lvl="0" indent="0" algn="l">
              <a:lnSpc>
                <a:spcPts val="4900"/>
              </a:lnSpc>
              <a:spcBef>
                <a:spcPct val="0"/>
              </a:spcBef>
            </a:pPr>
            <a:r>
              <a:rPr lang="en-US" sz="3500" b="1" i="1">
                <a:solidFill>
                  <a:srgbClr val="0F4662"/>
                </a:solidFill>
                <a:latin typeface="Montserrat Bold Italics"/>
                <a:ea typeface="Montserrat Bold Italics"/>
                <a:cs typeface="Montserrat Bold Italics"/>
                <a:sym typeface="Montserrat Bold Italics"/>
              </a:rPr>
              <a:t>2.3. Cơ sở dữ liệu</a:t>
            </a:r>
          </a:p>
        </p:txBody>
      </p:sp>
      <p:sp>
        <p:nvSpPr>
          <p:cNvPr id="6" name="TextBox 6"/>
          <p:cNvSpPr txBox="1"/>
          <p:nvPr/>
        </p:nvSpPr>
        <p:spPr>
          <a:xfrm>
            <a:off x="17716488" y="9509200"/>
            <a:ext cx="254397" cy="464645"/>
          </a:xfrm>
          <a:prstGeom prst="rect">
            <a:avLst/>
          </a:prstGeom>
        </p:spPr>
        <p:txBody>
          <a:bodyPr lIns="0" tIns="0" rIns="0" bIns="0" rtlCol="0" anchor="t">
            <a:spAutoFit/>
          </a:bodyPr>
          <a:lstStyle/>
          <a:p>
            <a:pPr algn="ctr">
              <a:lnSpc>
                <a:spcPts val="3831"/>
              </a:lnSpc>
              <a:spcBef>
                <a:spcPct val="0"/>
              </a:spcBef>
            </a:pPr>
            <a:r>
              <a:rPr lang="en-US" sz="2554" b="1">
                <a:solidFill>
                  <a:srgbClr val="0F4662"/>
                </a:solidFill>
                <a:latin typeface="Montserrat Bold"/>
                <a:ea typeface="Montserrat Bold"/>
                <a:cs typeface="Montserrat Bold"/>
                <a:sym typeface="Montserrat Bold"/>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AutoShape 2"/>
          <p:cNvSpPr/>
          <p:nvPr/>
        </p:nvSpPr>
        <p:spPr>
          <a:xfrm>
            <a:off x="5897880" y="9296400"/>
            <a:ext cx="6492240" cy="0"/>
          </a:xfrm>
          <a:prstGeom prst="line">
            <a:avLst/>
          </a:prstGeom>
          <a:ln w="76200" cap="flat">
            <a:solidFill>
              <a:srgbClr val="0F4662"/>
            </a:solidFill>
            <a:prstDash val="solid"/>
            <a:headEnd type="none" w="sm" len="sm"/>
            <a:tailEnd type="none" w="sm" len="sm"/>
          </a:ln>
        </p:spPr>
        <p:txBody>
          <a:bodyPr/>
          <a:lstStyle/>
          <a:p>
            <a:endParaRPr lang="en-US"/>
          </a:p>
        </p:txBody>
      </p:sp>
      <p:sp>
        <p:nvSpPr>
          <p:cNvPr id="3" name="Freeform 3"/>
          <p:cNvSpPr/>
          <p:nvPr/>
        </p:nvSpPr>
        <p:spPr>
          <a:xfrm>
            <a:off x="8304001" y="9769162"/>
            <a:ext cx="1679997" cy="249900"/>
          </a:xfrm>
          <a:custGeom>
            <a:avLst/>
            <a:gdLst/>
            <a:ahLst/>
            <a:cxnLst/>
            <a:rect l="l" t="t" r="r" b="b"/>
            <a:pathLst>
              <a:path w="1679997" h="249900">
                <a:moveTo>
                  <a:pt x="0" y="0"/>
                </a:moveTo>
                <a:lnTo>
                  <a:pt x="1679998" y="0"/>
                </a:lnTo>
                <a:lnTo>
                  <a:pt x="1679998"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840922" y="4572000"/>
            <a:ext cx="14606156" cy="1028700"/>
          </a:xfrm>
          <a:prstGeom prst="rect">
            <a:avLst/>
          </a:prstGeom>
        </p:spPr>
        <p:txBody>
          <a:bodyPr lIns="0" tIns="0" rIns="0" bIns="0" rtlCol="0" anchor="t">
            <a:spAutoFit/>
          </a:bodyPr>
          <a:lstStyle/>
          <a:p>
            <a:pPr marL="0" lvl="0" indent="0" algn="ctr">
              <a:lnSpc>
                <a:spcPts val="8400"/>
              </a:lnSpc>
              <a:spcBef>
                <a:spcPct val="0"/>
              </a:spcBef>
            </a:pPr>
            <a:r>
              <a:rPr lang="en-US" sz="6000" b="1" i="1">
                <a:solidFill>
                  <a:srgbClr val="0F4662"/>
                </a:solidFill>
                <a:latin typeface="Montserrat Bold Italics"/>
                <a:ea typeface="Montserrat Bold Italics"/>
                <a:cs typeface="Montserrat Bold Italics"/>
                <a:sym typeface="Montserrat Bold Italics"/>
              </a:rPr>
              <a:t>3. HỆ THỐNG CHẤM BÀI DOMJUDGE</a:t>
            </a:r>
          </a:p>
        </p:txBody>
      </p:sp>
      <p:sp>
        <p:nvSpPr>
          <p:cNvPr id="5" name="TextBox 5"/>
          <p:cNvSpPr txBox="1"/>
          <p:nvPr/>
        </p:nvSpPr>
        <p:spPr>
          <a:xfrm>
            <a:off x="17602201" y="9509200"/>
            <a:ext cx="400782" cy="446404"/>
          </a:xfrm>
          <a:prstGeom prst="rect">
            <a:avLst/>
          </a:prstGeom>
        </p:spPr>
        <p:txBody>
          <a:bodyPr wrap="square" lIns="0" tIns="0" rIns="0" bIns="0" rtlCol="0" anchor="t">
            <a:spAutoFit/>
          </a:bodyPr>
          <a:lstStyle/>
          <a:p>
            <a:pPr algn="ctr">
              <a:lnSpc>
                <a:spcPts val="3831"/>
              </a:lnSpc>
              <a:spcBef>
                <a:spcPct val="0"/>
              </a:spcBef>
            </a:pPr>
            <a:r>
              <a:rPr lang="en-US" sz="2554" b="1" dirty="0">
                <a:solidFill>
                  <a:srgbClr val="0F4662"/>
                </a:solidFill>
                <a:latin typeface="Montserrat Bold"/>
                <a:ea typeface="Montserrat Bold"/>
                <a:cs typeface="Montserrat Bold"/>
                <a:sym typeface="Montserrat Bold"/>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1024384" y="9529723"/>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a:off x="13620274" y="0"/>
            <a:ext cx="4667726" cy="10287000"/>
          </a:xfrm>
          <a:custGeom>
            <a:avLst/>
            <a:gdLst/>
            <a:ahLst/>
            <a:cxnLst/>
            <a:rect l="l" t="t" r="r" b="b"/>
            <a:pathLst>
              <a:path w="4667726" h="10287000">
                <a:moveTo>
                  <a:pt x="0" y="0"/>
                </a:moveTo>
                <a:lnTo>
                  <a:pt x="4667726" y="0"/>
                </a:lnTo>
                <a:lnTo>
                  <a:pt x="4667726" y="10287000"/>
                </a:lnTo>
                <a:lnTo>
                  <a:pt x="0" y="10287000"/>
                </a:lnTo>
                <a:lnTo>
                  <a:pt x="0" y="0"/>
                </a:lnTo>
                <a:close/>
              </a:path>
            </a:pathLst>
          </a:custGeom>
          <a:blipFill>
            <a:blip r:embed="rId5"/>
            <a:stretch>
              <a:fillRect/>
            </a:stretch>
          </a:blipFill>
        </p:spPr>
        <p:txBody>
          <a:bodyPr/>
          <a:lstStyle/>
          <a:p>
            <a:endParaRPr lang="en-US"/>
          </a:p>
        </p:txBody>
      </p:sp>
      <p:sp>
        <p:nvSpPr>
          <p:cNvPr id="4" name="TextBox 4"/>
          <p:cNvSpPr txBox="1"/>
          <p:nvPr/>
        </p:nvSpPr>
        <p:spPr>
          <a:xfrm>
            <a:off x="1024384" y="609234"/>
            <a:ext cx="14072064" cy="920114"/>
          </a:xfrm>
          <a:prstGeom prst="rect">
            <a:avLst/>
          </a:prstGeom>
        </p:spPr>
        <p:txBody>
          <a:bodyPr lIns="0" tIns="0" rIns="0" bIns="0" rtlCol="0" anchor="t">
            <a:spAutoFit/>
          </a:bodyPr>
          <a:lstStyle/>
          <a:p>
            <a:pPr marL="0" lvl="0" indent="0" algn="l">
              <a:lnSpc>
                <a:spcPts val="7560"/>
              </a:lnSpc>
              <a:spcBef>
                <a:spcPct val="0"/>
              </a:spcBef>
            </a:pPr>
            <a:r>
              <a:rPr lang="en-US" sz="5400" b="1" i="1">
                <a:solidFill>
                  <a:srgbClr val="0F4662"/>
                </a:solidFill>
                <a:latin typeface="Montserrat Bold Italics"/>
                <a:ea typeface="Montserrat Bold Italics"/>
                <a:cs typeface="Montserrat Bold Italics"/>
                <a:sym typeface="Montserrat Bold Italics"/>
              </a:rPr>
              <a:t>3. HỆ THỐNG CHẤM BÀI DOMJUDGE</a:t>
            </a:r>
          </a:p>
        </p:txBody>
      </p:sp>
      <p:sp>
        <p:nvSpPr>
          <p:cNvPr id="5" name="TextBox 5"/>
          <p:cNvSpPr txBox="1"/>
          <p:nvPr/>
        </p:nvSpPr>
        <p:spPr>
          <a:xfrm>
            <a:off x="1323160" y="1771384"/>
            <a:ext cx="11863111" cy="1462405"/>
          </a:xfrm>
          <a:prstGeom prst="rect">
            <a:avLst/>
          </a:prstGeom>
        </p:spPr>
        <p:txBody>
          <a:bodyPr lIns="0" tIns="0" rIns="0" bIns="0" rtlCol="0" anchor="t">
            <a:spAutoFit/>
          </a:bodyPr>
          <a:lstStyle/>
          <a:p>
            <a:pPr marL="0" lvl="0" indent="0" algn="l">
              <a:lnSpc>
                <a:spcPts val="3919"/>
              </a:lnSpc>
              <a:spcBef>
                <a:spcPct val="0"/>
              </a:spcBef>
            </a:pPr>
            <a:r>
              <a:rPr lang="en-US" sz="2799" i="1">
                <a:solidFill>
                  <a:srgbClr val="0F4662"/>
                </a:solidFill>
                <a:latin typeface="Montserrat Italics"/>
                <a:ea typeface="Montserrat Italics"/>
                <a:cs typeface="Montserrat Italics"/>
                <a:sym typeface="Montserrat Italics"/>
              </a:rPr>
              <a:t>     DOMJudge là một hệ thống mã nguồn mở được sử dụng rộng rãi trong các kỳ thi lập trình cho phép tự động chấm bài lập trình theo test case</a:t>
            </a:r>
          </a:p>
        </p:txBody>
      </p:sp>
      <p:sp>
        <p:nvSpPr>
          <p:cNvPr id="6" name="TextBox 6"/>
          <p:cNvSpPr txBox="1"/>
          <p:nvPr/>
        </p:nvSpPr>
        <p:spPr>
          <a:xfrm>
            <a:off x="1323160" y="5770570"/>
            <a:ext cx="11863111" cy="471805"/>
          </a:xfrm>
          <a:prstGeom prst="rect">
            <a:avLst/>
          </a:prstGeom>
        </p:spPr>
        <p:txBody>
          <a:bodyPr lIns="0" tIns="0" rIns="0" bIns="0" rtlCol="0" anchor="t">
            <a:spAutoFit/>
          </a:bodyPr>
          <a:lstStyle/>
          <a:p>
            <a:pPr algn="l">
              <a:lnSpc>
                <a:spcPts val="3919"/>
              </a:lnSpc>
              <a:spcBef>
                <a:spcPct val="0"/>
              </a:spcBef>
            </a:pPr>
            <a:r>
              <a:rPr lang="en-US" sz="2799" i="1">
                <a:solidFill>
                  <a:srgbClr val="0F4662"/>
                </a:solidFill>
                <a:latin typeface="Montserrat Italics"/>
                <a:ea typeface="Montserrat Italics"/>
                <a:cs typeface="Montserrat Italics"/>
                <a:sym typeface="Montserrat Italics"/>
              </a:rPr>
              <a:t>     Quy trình chấm bài của DOMJudge:</a:t>
            </a:r>
          </a:p>
        </p:txBody>
      </p:sp>
      <p:sp>
        <p:nvSpPr>
          <p:cNvPr id="7" name="TextBox 7"/>
          <p:cNvSpPr txBox="1"/>
          <p:nvPr/>
        </p:nvSpPr>
        <p:spPr>
          <a:xfrm>
            <a:off x="1593771" y="6368696"/>
            <a:ext cx="11321888" cy="2453005"/>
          </a:xfrm>
          <a:prstGeom prst="rect">
            <a:avLst/>
          </a:prstGeom>
        </p:spPr>
        <p:txBody>
          <a:bodyPr lIns="0" tIns="0" rIns="0" bIns="0" rtlCol="0" anchor="t">
            <a:spAutoFit/>
          </a:bodyPr>
          <a:lstStyle/>
          <a:p>
            <a:pPr marL="604519" lvl="1" indent="-302260" algn="l">
              <a:lnSpc>
                <a:spcPts val="3919"/>
              </a:lnSpc>
              <a:buFont typeface="Arial"/>
              <a:buChar char="•"/>
            </a:pPr>
            <a:r>
              <a:rPr lang="en-US" sz="2799" i="1">
                <a:solidFill>
                  <a:srgbClr val="0F4662"/>
                </a:solidFill>
                <a:latin typeface="Montserrat Italics"/>
                <a:ea typeface="Montserrat Italics"/>
                <a:cs typeface="Montserrat Italics"/>
                <a:sym typeface="Montserrat Italics"/>
              </a:rPr>
              <a:t>Nhận submissions </a:t>
            </a:r>
          </a:p>
          <a:p>
            <a:pPr marL="604519" lvl="1" indent="-302260" algn="l">
              <a:lnSpc>
                <a:spcPts val="3919"/>
              </a:lnSpc>
              <a:buFont typeface="Arial"/>
              <a:buChar char="•"/>
            </a:pPr>
            <a:r>
              <a:rPr lang="en-US" sz="2799" i="1">
                <a:solidFill>
                  <a:srgbClr val="0F4662"/>
                </a:solidFill>
                <a:latin typeface="Montserrat Italics"/>
                <a:ea typeface="Montserrat Italics"/>
                <a:cs typeface="Montserrat Italics"/>
                <a:sym typeface="Montserrat Italics"/>
              </a:rPr>
              <a:t>Biên dịch</a:t>
            </a:r>
          </a:p>
          <a:p>
            <a:pPr marL="604519" lvl="1" indent="-302260" algn="l">
              <a:lnSpc>
                <a:spcPts val="3919"/>
              </a:lnSpc>
              <a:buFont typeface="Arial"/>
              <a:buChar char="•"/>
            </a:pPr>
            <a:r>
              <a:rPr lang="en-US" sz="2799" i="1">
                <a:solidFill>
                  <a:srgbClr val="0F4662"/>
                </a:solidFill>
                <a:latin typeface="Montserrat Italics"/>
                <a:ea typeface="Montserrat Italics"/>
                <a:cs typeface="Montserrat Italics"/>
                <a:sym typeface="Montserrat Italics"/>
              </a:rPr>
              <a:t>Chạy trên từng testcase</a:t>
            </a:r>
          </a:p>
          <a:p>
            <a:pPr marL="604519" lvl="1" indent="-302260" algn="l">
              <a:lnSpc>
                <a:spcPts val="3919"/>
              </a:lnSpc>
              <a:buFont typeface="Arial"/>
              <a:buChar char="•"/>
            </a:pPr>
            <a:r>
              <a:rPr lang="en-US" sz="2799" i="1">
                <a:solidFill>
                  <a:srgbClr val="0F4662"/>
                </a:solidFill>
                <a:latin typeface="Montserrat Italics"/>
                <a:ea typeface="Montserrat Italics"/>
                <a:cs typeface="Montserrat Italics"/>
                <a:sym typeface="Montserrat Italics"/>
              </a:rPr>
              <a:t>So sánh kết quả</a:t>
            </a:r>
          </a:p>
          <a:p>
            <a:pPr marL="604519" lvl="1" indent="-302260" algn="l">
              <a:lnSpc>
                <a:spcPts val="3919"/>
              </a:lnSpc>
              <a:spcBef>
                <a:spcPct val="0"/>
              </a:spcBef>
              <a:buFont typeface="Arial"/>
              <a:buChar char="•"/>
            </a:pPr>
            <a:r>
              <a:rPr lang="en-US" sz="2799" i="1">
                <a:solidFill>
                  <a:srgbClr val="0F4662"/>
                </a:solidFill>
                <a:latin typeface="Montserrat Italics"/>
                <a:ea typeface="Montserrat Italics"/>
                <a:cs typeface="Montserrat Italics"/>
                <a:sym typeface="Montserrat Italics"/>
              </a:rPr>
              <a:t>Trả về kết quả (AC/WA/TLE/CE/....)</a:t>
            </a:r>
          </a:p>
        </p:txBody>
      </p:sp>
      <p:sp>
        <p:nvSpPr>
          <p:cNvPr id="8" name="TextBox 8"/>
          <p:cNvSpPr txBox="1"/>
          <p:nvPr/>
        </p:nvSpPr>
        <p:spPr>
          <a:xfrm>
            <a:off x="1323160" y="3471915"/>
            <a:ext cx="11863111" cy="471805"/>
          </a:xfrm>
          <a:prstGeom prst="rect">
            <a:avLst/>
          </a:prstGeom>
        </p:spPr>
        <p:txBody>
          <a:bodyPr lIns="0" tIns="0" rIns="0" bIns="0" rtlCol="0" anchor="t">
            <a:spAutoFit/>
          </a:bodyPr>
          <a:lstStyle/>
          <a:p>
            <a:pPr algn="l">
              <a:lnSpc>
                <a:spcPts val="3919"/>
              </a:lnSpc>
              <a:spcBef>
                <a:spcPct val="0"/>
              </a:spcBef>
            </a:pPr>
            <a:r>
              <a:rPr lang="en-US" sz="2799" i="1">
                <a:solidFill>
                  <a:srgbClr val="0F4662"/>
                </a:solidFill>
                <a:latin typeface="Montserrat Italics"/>
                <a:ea typeface="Montserrat Italics"/>
                <a:cs typeface="Montserrat Italics"/>
                <a:sym typeface="Montserrat Italics"/>
              </a:rPr>
              <a:t>     Các chức năng chính của DOMJudge:</a:t>
            </a:r>
          </a:p>
        </p:txBody>
      </p:sp>
      <p:sp>
        <p:nvSpPr>
          <p:cNvPr id="9" name="TextBox 9"/>
          <p:cNvSpPr txBox="1"/>
          <p:nvPr/>
        </p:nvSpPr>
        <p:spPr>
          <a:xfrm>
            <a:off x="1593771" y="4070040"/>
            <a:ext cx="11321888" cy="1462405"/>
          </a:xfrm>
          <a:prstGeom prst="rect">
            <a:avLst/>
          </a:prstGeom>
        </p:spPr>
        <p:txBody>
          <a:bodyPr lIns="0" tIns="0" rIns="0" bIns="0" rtlCol="0" anchor="t">
            <a:spAutoFit/>
          </a:bodyPr>
          <a:lstStyle/>
          <a:p>
            <a:pPr marL="604519" lvl="1" indent="-302260" algn="l">
              <a:lnSpc>
                <a:spcPts val="3919"/>
              </a:lnSpc>
              <a:buFont typeface="Arial"/>
              <a:buChar char="•"/>
            </a:pPr>
            <a:r>
              <a:rPr lang="en-US" sz="2799" i="1">
                <a:solidFill>
                  <a:srgbClr val="0F4662"/>
                </a:solidFill>
                <a:latin typeface="Montserrat Italics"/>
                <a:ea typeface="Montserrat Italics"/>
                <a:cs typeface="Montserrat Italics"/>
                <a:sym typeface="Montserrat Italics"/>
              </a:rPr>
              <a:t>Quản lý các cuộc thi</a:t>
            </a:r>
          </a:p>
          <a:p>
            <a:pPr marL="604519" lvl="1" indent="-302260" algn="l">
              <a:lnSpc>
                <a:spcPts val="3919"/>
              </a:lnSpc>
              <a:buFont typeface="Arial"/>
              <a:buChar char="•"/>
            </a:pPr>
            <a:r>
              <a:rPr lang="en-US" sz="2799" i="1">
                <a:solidFill>
                  <a:srgbClr val="0F4662"/>
                </a:solidFill>
                <a:latin typeface="Montserrat Italics"/>
                <a:ea typeface="Montserrat Italics"/>
                <a:cs typeface="Montserrat Italics"/>
                <a:sym typeface="Montserrat Italics"/>
              </a:rPr>
              <a:t>Quản lý problems và testcase</a:t>
            </a:r>
          </a:p>
          <a:p>
            <a:pPr marL="604519" lvl="1" indent="-302260" algn="l">
              <a:lnSpc>
                <a:spcPts val="3919"/>
              </a:lnSpc>
              <a:spcBef>
                <a:spcPct val="0"/>
              </a:spcBef>
              <a:buFont typeface="Arial"/>
              <a:buChar char="•"/>
            </a:pPr>
            <a:r>
              <a:rPr lang="en-US" sz="2799" i="1">
                <a:solidFill>
                  <a:srgbClr val="0F4662"/>
                </a:solidFill>
                <a:latin typeface="Montserrat Italics"/>
                <a:ea typeface="Montserrat Italics"/>
                <a:cs typeface="Montserrat Italics"/>
                <a:sym typeface="Montserrat Italics"/>
              </a:rPr>
              <a:t>Chấm bài</a:t>
            </a:r>
          </a:p>
        </p:txBody>
      </p:sp>
      <p:sp>
        <p:nvSpPr>
          <p:cNvPr id="10" name="TextBox 10"/>
          <p:cNvSpPr txBox="1"/>
          <p:nvPr/>
        </p:nvSpPr>
        <p:spPr>
          <a:xfrm>
            <a:off x="17684044" y="9509200"/>
            <a:ext cx="319286" cy="464645"/>
          </a:xfrm>
          <a:prstGeom prst="rect">
            <a:avLst/>
          </a:prstGeom>
        </p:spPr>
        <p:txBody>
          <a:bodyPr lIns="0" tIns="0" rIns="0" bIns="0" rtlCol="0" anchor="t">
            <a:spAutoFit/>
          </a:bodyPr>
          <a:lstStyle/>
          <a:p>
            <a:pPr algn="ctr">
              <a:lnSpc>
                <a:spcPts val="3831"/>
              </a:lnSpc>
              <a:spcBef>
                <a:spcPct val="0"/>
              </a:spcBef>
            </a:pPr>
            <a:r>
              <a:rPr lang="en-US" sz="2554" b="1">
                <a:solidFill>
                  <a:srgbClr val="0F4662"/>
                </a:solidFill>
                <a:latin typeface="Montserrat Bold"/>
                <a:ea typeface="Montserrat Bold"/>
                <a:cs typeface="Montserrat Bold"/>
                <a:sym typeface="Montserrat Bold"/>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a:extLst>
            <a:ext uri="{FF2B5EF4-FFF2-40B4-BE49-F238E27FC236}">
              <a16:creationId xmlns:a16="http://schemas.microsoft.com/office/drawing/2014/main" id="{ED49AD25-8B1F-83CF-C1C0-0BD3AEA0624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E6DCC9D-F943-D843-C405-C1766C4FF40B}"/>
              </a:ext>
            </a:extLst>
          </p:cNvPr>
          <p:cNvSpPr/>
          <p:nvPr/>
        </p:nvSpPr>
        <p:spPr>
          <a:xfrm>
            <a:off x="1024384" y="9529723"/>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TextBox 4">
            <a:extLst>
              <a:ext uri="{FF2B5EF4-FFF2-40B4-BE49-F238E27FC236}">
                <a16:creationId xmlns:a16="http://schemas.microsoft.com/office/drawing/2014/main" id="{62C0191C-0527-EF5C-129C-F8749A788C15}"/>
              </a:ext>
            </a:extLst>
          </p:cNvPr>
          <p:cNvSpPr txBox="1"/>
          <p:nvPr/>
        </p:nvSpPr>
        <p:spPr>
          <a:xfrm>
            <a:off x="1024384" y="609234"/>
            <a:ext cx="14072064" cy="920114"/>
          </a:xfrm>
          <a:prstGeom prst="rect">
            <a:avLst/>
          </a:prstGeom>
        </p:spPr>
        <p:txBody>
          <a:bodyPr lIns="0" tIns="0" rIns="0" bIns="0" rtlCol="0" anchor="t">
            <a:spAutoFit/>
          </a:bodyPr>
          <a:lstStyle/>
          <a:p>
            <a:pPr marL="0" lvl="0" indent="0" algn="l">
              <a:lnSpc>
                <a:spcPts val="7560"/>
              </a:lnSpc>
              <a:spcBef>
                <a:spcPct val="0"/>
              </a:spcBef>
            </a:pPr>
            <a:r>
              <a:rPr lang="en-US" sz="5400" b="1" i="1">
                <a:solidFill>
                  <a:srgbClr val="0F4662"/>
                </a:solidFill>
                <a:latin typeface="Montserrat Bold Italics"/>
                <a:ea typeface="Montserrat Bold Italics"/>
                <a:cs typeface="Montserrat Bold Italics"/>
                <a:sym typeface="Montserrat Bold Italics"/>
              </a:rPr>
              <a:t>3. HỆ THỐNG CHẤM BÀI DOMJUDGE</a:t>
            </a:r>
          </a:p>
        </p:txBody>
      </p:sp>
      <p:sp>
        <p:nvSpPr>
          <p:cNvPr id="5" name="TextBox 5">
            <a:extLst>
              <a:ext uri="{FF2B5EF4-FFF2-40B4-BE49-F238E27FC236}">
                <a16:creationId xmlns:a16="http://schemas.microsoft.com/office/drawing/2014/main" id="{85EA4DF6-76A4-6C0D-7566-EE64F182D6A4}"/>
              </a:ext>
            </a:extLst>
          </p:cNvPr>
          <p:cNvSpPr txBox="1"/>
          <p:nvPr/>
        </p:nvSpPr>
        <p:spPr>
          <a:xfrm>
            <a:off x="1323160" y="1771384"/>
            <a:ext cx="11863111" cy="463781"/>
          </a:xfrm>
          <a:prstGeom prst="rect">
            <a:avLst/>
          </a:prstGeom>
        </p:spPr>
        <p:txBody>
          <a:bodyPr lIns="0" tIns="0" rIns="0" bIns="0" rtlCol="0" anchor="t">
            <a:spAutoFit/>
          </a:bodyPr>
          <a:lstStyle/>
          <a:p>
            <a:pPr marL="0" lvl="0" indent="0" algn="l">
              <a:lnSpc>
                <a:spcPts val="3919"/>
              </a:lnSpc>
              <a:spcBef>
                <a:spcPct val="0"/>
              </a:spcBef>
            </a:pPr>
            <a:r>
              <a:rPr lang="en-US" sz="2799" b="1" i="1" dirty="0" err="1">
                <a:solidFill>
                  <a:srgbClr val="0F4662"/>
                </a:solidFill>
                <a:latin typeface="Montserrat Italics"/>
                <a:ea typeface="Montserrat Italics"/>
                <a:cs typeface="Montserrat Italics"/>
                <a:sym typeface="Montserrat Italics"/>
              </a:rPr>
              <a:t>Bài</a:t>
            </a:r>
            <a:r>
              <a:rPr lang="en-US" sz="2799" b="1" i="1" dirty="0">
                <a:solidFill>
                  <a:srgbClr val="0F4662"/>
                </a:solidFill>
                <a:latin typeface="Montserrat Italics"/>
                <a:ea typeface="Montserrat Italics"/>
                <a:cs typeface="Montserrat Italics"/>
                <a:sym typeface="Montserrat Italics"/>
              </a:rPr>
              <a:t> </a:t>
            </a:r>
            <a:r>
              <a:rPr lang="en-US" sz="2799" b="1" i="1" dirty="0" err="1">
                <a:solidFill>
                  <a:srgbClr val="0F4662"/>
                </a:solidFill>
                <a:latin typeface="Montserrat Italics"/>
                <a:ea typeface="Montserrat Italics"/>
                <a:cs typeface="Montserrat Italics"/>
                <a:sym typeface="Montserrat Italics"/>
              </a:rPr>
              <a:t>toán</a:t>
            </a:r>
            <a:r>
              <a:rPr lang="en-US" sz="2799" b="1" i="1" dirty="0">
                <a:solidFill>
                  <a:srgbClr val="0F4662"/>
                </a:solidFill>
                <a:latin typeface="Montserrat Italics"/>
                <a:ea typeface="Montserrat Italics"/>
                <a:cs typeface="Montserrat Italics"/>
                <a:sym typeface="Montserrat Italics"/>
              </a:rPr>
              <a:t>: In </a:t>
            </a:r>
            <a:r>
              <a:rPr lang="en-US" sz="2799" b="1" i="1" dirty="0" err="1">
                <a:solidFill>
                  <a:srgbClr val="0F4662"/>
                </a:solidFill>
                <a:latin typeface="Montserrat Italics"/>
                <a:ea typeface="Montserrat Italics"/>
                <a:cs typeface="Montserrat Italics"/>
                <a:sym typeface="Montserrat Italics"/>
              </a:rPr>
              <a:t>ra</a:t>
            </a:r>
            <a:r>
              <a:rPr lang="en-US" sz="2799" b="1" i="1" dirty="0">
                <a:solidFill>
                  <a:srgbClr val="0F4662"/>
                </a:solidFill>
                <a:latin typeface="Montserrat Italics"/>
                <a:ea typeface="Montserrat Italics"/>
                <a:cs typeface="Montserrat Italics"/>
                <a:sym typeface="Montserrat Italics"/>
              </a:rPr>
              <a:t> 2 </a:t>
            </a:r>
            <a:r>
              <a:rPr lang="en-US" sz="2799" b="1" i="1" dirty="0" err="1">
                <a:solidFill>
                  <a:srgbClr val="0F4662"/>
                </a:solidFill>
                <a:latin typeface="Montserrat Italics"/>
                <a:ea typeface="Montserrat Italics"/>
                <a:cs typeface="Montserrat Italics"/>
                <a:sym typeface="Montserrat Italics"/>
              </a:rPr>
              <a:t>số</a:t>
            </a:r>
            <a:r>
              <a:rPr lang="en-US" sz="2799" b="1" i="1" dirty="0">
                <a:solidFill>
                  <a:srgbClr val="0F4662"/>
                </a:solidFill>
                <a:latin typeface="Montserrat Italics"/>
                <a:ea typeface="Montserrat Italics"/>
                <a:cs typeface="Montserrat Italics"/>
                <a:sym typeface="Montserrat Italics"/>
              </a:rPr>
              <a:t> </a:t>
            </a:r>
            <a:r>
              <a:rPr lang="en-US" sz="2799" b="1" i="1" dirty="0" err="1">
                <a:solidFill>
                  <a:srgbClr val="0F4662"/>
                </a:solidFill>
                <a:latin typeface="Montserrat Italics"/>
                <a:ea typeface="Montserrat Italics"/>
                <a:cs typeface="Montserrat Italics"/>
                <a:sym typeface="Montserrat Italics"/>
              </a:rPr>
              <a:t>nguyên</a:t>
            </a:r>
            <a:r>
              <a:rPr lang="en-US" sz="2799" b="1" i="1" dirty="0">
                <a:solidFill>
                  <a:srgbClr val="0F4662"/>
                </a:solidFill>
                <a:latin typeface="Montserrat Italics"/>
                <a:ea typeface="Montserrat Italics"/>
                <a:cs typeface="Montserrat Italics"/>
                <a:sym typeface="Montserrat Italics"/>
              </a:rPr>
              <a:t> </a:t>
            </a:r>
            <a:r>
              <a:rPr lang="en-US" sz="2799" b="1" i="1" dirty="0" err="1">
                <a:solidFill>
                  <a:srgbClr val="0F4662"/>
                </a:solidFill>
                <a:latin typeface="Montserrat Italics"/>
                <a:ea typeface="Montserrat Italics"/>
                <a:cs typeface="Montserrat Italics"/>
                <a:sym typeface="Montserrat Italics"/>
              </a:rPr>
              <a:t>có</a:t>
            </a:r>
            <a:r>
              <a:rPr lang="en-US" sz="2799" b="1" i="1" dirty="0">
                <a:solidFill>
                  <a:srgbClr val="0F4662"/>
                </a:solidFill>
                <a:latin typeface="Montserrat Italics"/>
                <a:ea typeface="Montserrat Italics"/>
                <a:cs typeface="Montserrat Italics"/>
                <a:sym typeface="Montserrat Italics"/>
              </a:rPr>
              <a:t> </a:t>
            </a:r>
            <a:r>
              <a:rPr lang="en-US" sz="2799" b="1" i="1" dirty="0" err="1">
                <a:solidFill>
                  <a:srgbClr val="0F4662"/>
                </a:solidFill>
                <a:latin typeface="Montserrat Italics"/>
                <a:ea typeface="Montserrat Italics"/>
                <a:cs typeface="Montserrat Italics"/>
                <a:sym typeface="Montserrat Italics"/>
              </a:rPr>
              <a:t>tổng</a:t>
            </a:r>
            <a:r>
              <a:rPr lang="en-US" sz="2799" b="1" i="1" dirty="0">
                <a:solidFill>
                  <a:srgbClr val="0F4662"/>
                </a:solidFill>
                <a:latin typeface="Montserrat Italics"/>
                <a:ea typeface="Montserrat Italics"/>
                <a:cs typeface="Montserrat Italics"/>
                <a:sym typeface="Montserrat Italics"/>
              </a:rPr>
              <a:t> </a:t>
            </a:r>
            <a:r>
              <a:rPr lang="en-US" sz="2799" b="1" i="1" dirty="0" err="1">
                <a:solidFill>
                  <a:srgbClr val="0F4662"/>
                </a:solidFill>
                <a:latin typeface="Montserrat Italics"/>
                <a:ea typeface="Montserrat Italics"/>
                <a:cs typeface="Montserrat Italics"/>
                <a:sym typeface="Montserrat Italics"/>
              </a:rPr>
              <a:t>bằng</a:t>
            </a:r>
            <a:r>
              <a:rPr lang="en-US" sz="2799" b="1" i="1" dirty="0">
                <a:solidFill>
                  <a:srgbClr val="0F4662"/>
                </a:solidFill>
                <a:latin typeface="Montserrat Italics"/>
                <a:ea typeface="Montserrat Italics"/>
                <a:cs typeface="Montserrat Italics"/>
                <a:sym typeface="Montserrat Italics"/>
              </a:rPr>
              <a:t> N</a:t>
            </a:r>
          </a:p>
        </p:txBody>
      </p:sp>
      <p:sp>
        <p:nvSpPr>
          <p:cNvPr id="10" name="TextBox 10">
            <a:extLst>
              <a:ext uri="{FF2B5EF4-FFF2-40B4-BE49-F238E27FC236}">
                <a16:creationId xmlns:a16="http://schemas.microsoft.com/office/drawing/2014/main" id="{4C415241-28B1-A23F-6BE4-31F64C984A02}"/>
              </a:ext>
            </a:extLst>
          </p:cNvPr>
          <p:cNvSpPr txBox="1"/>
          <p:nvPr/>
        </p:nvSpPr>
        <p:spPr>
          <a:xfrm>
            <a:off x="17684044" y="9509200"/>
            <a:ext cx="375356" cy="446404"/>
          </a:xfrm>
          <a:prstGeom prst="rect">
            <a:avLst/>
          </a:prstGeom>
        </p:spPr>
        <p:txBody>
          <a:bodyPr wrap="square" lIns="0" tIns="0" rIns="0" bIns="0" rtlCol="0" anchor="t">
            <a:spAutoFit/>
          </a:bodyPr>
          <a:lstStyle/>
          <a:p>
            <a:pPr algn="ctr">
              <a:lnSpc>
                <a:spcPts val="3831"/>
              </a:lnSpc>
              <a:spcBef>
                <a:spcPct val="0"/>
              </a:spcBef>
            </a:pPr>
            <a:r>
              <a:rPr lang="en-US" sz="2554" b="1" dirty="0">
                <a:solidFill>
                  <a:srgbClr val="0F4662"/>
                </a:solidFill>
                <a:latin typeface="Montserrat Bold"/>
                <a:ea typeface="Montserrat Bold"/>
                <a:cs typeface="Montserrat Bold"/>
                <a:sym typeface="Montserrat Bold"/>
              </a:rPr>
              <a:t>14</a:t>
            </a:r>
          </a:p>
        </p:txBody>
      </p:sp>
      <p:pic>
        <p:nvPicPr>
          <p:cNvPr id="11" name="Picture 10">
            <a:extLst>
              <a:ext uri="{FF2B5EF4-FFF2-40B4-BE49-F238E27FC236}">
                <a16:creationId xmlns:a16="http://schemas.microsoft.com/office/drawing/2014/main" id="{C3A3FB78-1FA5-9C13-A6F7-E3938999D74A}"/>
              </a:ext>
            </a:extLst>
          </p:cNvPr>
          <p:cNvPicPr>
            <a:picLocks noChangeAspect="1"/>
          </p:cNvPicPr>
          <p:nvPr/>
        </p:nvPicPr>
        <p:blipFill>
          <a:blip r:embed="rId5"/>
          <a:stretch>
            <a:fillRect/>
          </a:stretch>
        </p:blipFill>
        <p:spPr>
          <a:xfrm>
            <a:off x="1024384" y="2454341"/>
            <a:ext cx="7483179" cy="3528461"/>
          </a:xfrm>
          <a:prstGeom prst="rect">
            <a:avLst/>
          </a:prstGeom>
        </p:spPr>
      </p:pic>
      <p:pic>
        <p:nvPicPr>
          <p:cNvPr id="12" name="Picture 11">
            <a:extLst>
              <a:ext uri="{FF2B5EF4-FFF2-40B4-BE49-F238E27FC236}">
                <a16:creationId xmlns:a16="http://schemas.microsoft.com/office/drawing/2014/main" id="{559EC5CA-A66A-F341-042F-16C241526E0F}"/>
              </a:ext>
            </a:extLst>
          </p:cNvPr>
          <p:cNvPicPr>
            <a:picLocks noChangeAspect="1"/>
          </p:cNvPicPr>
          <p:nvPr/>
        </p:nvPicPr>
        <p:blipFill>
          <a:blip r:embed="rId6"/>
          <a:stretch>
            <a:fillRect/>
          </a:stretch>
        </p:blipFill>
        <p:spPr>
          <a:xfrm>
            <a:off x="8991600" y="2400300"/>
            <a:ext cx="8153400" cy="6600825"/>
          </a:xfrm>
          <a:prstGeom prst="rect">
            <a:avLst/>
          </a:prstGeom>
        </p:spPr>
      </p:pic>
      <p:pic>
        <p:nvPicPr>
          <p:cNvPr id="15" name="Picture 14">
            <a:extLst>
              <a:ext uri="{FF2B5EF4-FFF2-40B4-BE49-F238E27FC236}">
                <a16:creationId xmlns:a16="http://schemas.microsoft.com/office/drawing/2014/main" id="{7B9090A8-EEDB-708E-B0A4-59AB75314E16}"/>
              </a:ext>
            </a:extLst>
          </p:cNvPr>
          <p:cNvPicPr>
            <a:picLocks noChangeAspect="1"/>
          </p:cNvPicPr>
          <p:nvPr/>
        </p:nvPicPr>
        <p:blipFill>
          <a:blip r:embed="rId7"/>
          <a:stretch>
            <a:fillRect/>
          </a:stretch>
        </p:blipFill>
        <p:spPr>
          <a:xfrm>
            <a:off x="1024384" y="6179118"/>
            <a:ext cx="7483179" cy="2931960"/>
          </a:xfrm>
          <a:prstGeom prst="rect">
            <a:avLst/>
          </a:prstGeom>
        </p:spPr>
      </p:pic>
    </p:spTree>
    <p:extLst>
      <p:ext uri="{BB962C8B-B14F-4D97-AF65-F5344CB8AC3E}">
        <p14:creationId xmlns:p14="http://schemas.microsoft.com/office/powerpoint/2010/main" val="5745771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AutoShape 2"/>
          <p:cNvSpPr/>
          <p:nvPr/>
        </p:nvSpPr>
        <p:spPr>
          <a:xfrm>
            <a:off x="5897880" y="9296400"/>
            <a:ext cx="6492240" cy="0"/>
          </a:xfrm>
          <a:prstGeom prst="line">
            <a:avLst/>
          </a:prstGeom>
          <a:ln w="76200" cap="flat">
            <a:solidFill>
              <a:srgbClr val="0F4662"/>
            </a:solidFill>
            <a:prstDash val="solid"/>
            <a:headEnd type="none" w="sm" len="sm"/>
            <a:tailEnd type="none" w="sm" len="sm"/>
          </a:ln>
        </p:spPr>
        <p:txBody>
          <a:bodyPr/>
          <a:lstStyle/>
          <a:p>
            <a:endParaRPr lang="en-US"/>
          </a:p>
        </p:txBody>
      </p:sp>
      <p:sp>
        <p:nvSpPr>
          <p:cNvPr id="3" name="Freeform 3"/>
          <p:cNvSpPr/>
          <p:nvPr/>
        </p:nvSpPr>
        <p:spPr>
          <a:xfrm>
            <a:off x="8304001" y="9769162"/>
            <a:ext cx="1679997" cy="249900"/>
          </a:xfrm>
          <a:custGeom>
            <a:avLst/>
            <a:gdLst/>
            <a:ahLst/>
            <a:cxnLst/>
            <a:rect l="l" t="t" r="r" b="b"/>
            <a:pathLst>
              <a:path w="1679997" h="249900">
                <a:moveTo>
                  <a:pt x="0" y="0"/>
                </a:moveTo>
                <a:lnTo>
                  <a:pt x="1679998" y="0"/>
                </a:lnTo>
                <a:lnTo>
                  <a:pt x="1679998"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2105536" y="4572000"/>
            <a:ext cx="14076927" cy="1028700"/>
          </a:xfrm>
          <a:prstGeom prst="rect">
            <a:avLst/>
          </a:prstGeom>
        </p:spPr>
        <p:txBody>
          <a:bodyPr lIns="0" tIns="0" rIns="0" bIns="0" rtlCol="0" anchor="t">
            <a:spAutoFit/>
          </a:bodyPr>
          <a:lstStyle/>
          <a:p>
            <a:pPr marL="0" lvl="0" indent="0" algn="ctr">
              <a:lnSpc>
                <a:spcPts val="8400"/>
              </a:lnSpc>
              <a:spcBef>
                <a:spcPct val="0"/>
              </a:spcBef>
            </a:pPr>
            <a:r>
              <a:rPr lang="en-US" sz="6000" b="1" i="1">
                <a:solidFill>
                  <a:srgbClr val="0F4662"/>
                </a:solidFill>
                <a:latin typeface="Montserrat Bold Italics"/>
                <a:ea typeface="Montserrat Bold Italics"/>
                <a:cs typeface="Montserrat Bold Italics"/>
                <a:sym typeface="Montserrat Bold Italics"/>
              </a:rPr>
              <a:t>4. XÂY DỰNG HỆ THỐNG GỢI Ý</a:t>
            </a:r>
          </a:p>
        </p:txBody>
      </p:sp>
      <p:sp>
        <p:nvSpPr>
          <p:cNvPr id="5" name="TextBox 5"/>
          <p:cNvSpPr txBox="1"/>
          <p:nvPr/>
        </p:nvSpPr>
        <p:spPr>
          <a:xfrm>
            <a:off x="17449800" y="9509200"/>
            <a:ext cx="569256" cy="446404"/>
          </a:xfrm>
          <a:prstGeom prst="rect">
            <a:avLst/>
          </a:prstGeom>
        </p:spPr>
        <p:txBody>
          <a:bodyPr wrap="square" lIns="0" tIns="0" rIns="0" bIns="0" rtlCol="0" anchor="t">
            <a:spAutoFit/>
          </a:bodyPr>
          <a:lstStyle/>
          <a:p>
            <a:pPr algn="ctr">
              <a:lnSpc>
                <a:spcPts val="3831"/>
              </a:lnSpc>
              <a:spcBef>
                <a:spcPct val="0"/>
              </a:spcBef>
            </a:pPr>
            <a:r>
              <a:rPr lang="en-US" sz="2554" b="1" dirty="0">
                <a:solidFill>
                  <a:srgbClr val="0F4662"/>
                </a:solidFill>
                <a:latin typeface="Montserrat Bold"/>
                <a:ea typeface="Montserrat Bold"/>
                <a:cs typeface="Montserrat Bold"/>
                <a:sym typeface="Montserrat Bold"/>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15579303" y="714009"/>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a:off x="1024384" y="9529723"/>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9877855" y="2233188"/>
            <a:ext cx="8115902" cy="6340549"/>
          </a:xfrm>
          <a:custGeom>
            <a:avLst/>
            <a:gdLst/>
            <a:ahLst/>
            <a:cxnLst/>
            <a:rect l="l" t="t" r="r" b="b"/>
            <a:pathLst>
              <a:path w="8115902" h="6340549">
                <a:moveTo>
                  <a:pt x="0" y="0"/>
                </a:moveTo>
                <a:lnTo>
                  <a:pt x="8115902" y="0"/>
                </a:lnTo>
                <a:lnTo>
                  <a:pt x="8115902" y="6340549"/>
                </a:lnTo>
                <a:lnTo>
                  <a:pt x="0" y="6340549"/>
                </a:lnTo>
                <a:lnTo>
                  <a:pt x="0" y="0"/>
                </a:lnTo>
                <a:close/>
              </a:path>
            </a:pathLst>
          </a:custGeom>
          <a:blipFill>
            <a:blip r:embed="rId5"/>
            <a:stretch>
              <a:fillRect/>
            </a:stretch>
          </a:blipFill>
        </p:spPr>
        <p:txBody>
          <a:bodyPr/>
          <a:lstStyle/>
          <a:p>
            <a:endParaRPr lang="en-US"/>
          </a:p>
        </p:txBody>
      </p:sp>
      <p:sp>
        <p:nvSpPr>
          <p:cNvPr id="5" name="TextBox 5"/>
          <p:cNvSpPr txBox="1"/>
          <p:nvPr/>
        </p:nvSpPr>
        <p:spPr>
          <a:xfrm>
            <a:off x="1024384" y="609234"/>
            <a:ext cx="14072064" cy="920114"/>
          </a:xfrm>
          <a:prstGeom prst="rect">
            <a:avLst/>
          </a:prstGeom>
        </p:spPr>
        <p:txBody>
          <a:bodyPr lIns="0" tIns="0" rIns="0" bIns="0" rtlCol="0" anchor="t">
            <a:spAutoFit/>
          </a:bodyPr>
          <a:lstStyle/>
          <a:p>
            <a:pPr marL="0" lvl="0" indent="0" algn="l">
              <a:lnSpc>
                <a:spcPts val="7560"/>
              </a:lnSpc>
              <a:spcBef>
                <a:spcPct val="0"/>
              </a:spcBef>
            </a:pPr>
            <a:r>
              <a:rPr lang="en-US" sz="5400" b="1" i="1">
                <a:solidFill>
                  <a:srgbClr val="0F4662"/>
                </a:solidFill>
                <a:latin typeface="Montserrat Bold Italics"/>
                <a:ea typeface="Montserrat Bold Italics"/>
                <a:cs typeface="Montserrat Bold Italics"/>
                <a:sym typeface="Montserrat Bold Italics"/>
              </a:rPr>
              <a:t>4. XÂY DỰNG HỆ THỐNG GỢI Ý</a:t>
            </a:r>
          </a:p>
        </p:txBody>
      </p:sp>
      <p:sp>
        <p:nvSpPr>
          <p:cNvPr id="6" name="TextBox 6"/>
          <p:cNvSpPr txBox="1"/>
          <p:nvPr/>
        </p:nvSpPr>
        <p:spPr>
          <a:xfrm>
            <a:off x="1238298" y="1541039"/>
            <a:ext cx="14072064" cy="606424"/>
          </a:xfrm>
          <a:prstGeom prst="rect">
            <a:avLst/>
          </a:prstGeom>
        </p:spPr>
        <p:txBody>
          <a:bodyPr lIns="0" tIns="0" rIns="0" bIns="0" rtlCol="0" anchor="t">
            <a:spAutoFit/>
          </a:bodyPr>
          <a:lstStyle/>
          <a:p>
            <a:pPr marL="0" lvl="0" indent="0" algn="l">
              <a:lnSpc>
                <a:spcPts val="4900"/>
              </a:lnSpc>
              <a:spcBef>
                <a:spcPct val="0"/>
              </a:spcBef>
            </a:pPr>
            <a:r>
              <a:rPr lang="en-US" sz="3500" b="1" i="1">
                <a:solidFill>
                  <a:srgbClr val="0F4662"/>
                </a:solidFill>
                <a:latin typeface="Montserrat Bold Italics"/>
                <a:ea typeface="Montserrat Bold Italics"/>
                <a:cs typeface="Montserrat Bold Italics"/>
                <a:sym typeface="Montserrat Bold Italics"/>
              </a:rPr>
              <a:t>4.1. Tổng quan về bài toán</a:t>
            </a:r>
          </a:p>
        </p:txBody>
      </p:sp>
      <p:sp>
        <p:nvSpPr>
          <p:cNvPr id="7" name="TextBox 7"/>
          <p:cNvSpPr txBox="1"/>
          <p:nvPr/>
        </p:nvSpPr>
        <p:spPr>
          <a:xfrm>
            <a:off x="1238298" y="2654449"/>
            <a:ext cx="8187935" cy="4939294"/>
          </a:xfrm>
          <a:prstGeom prst="rect">
            <a:avLst/>
          </a:prstGeom>
        </p:spPr>
        <p:txBody>
          <a:bodyPr lIns="0" tIns="0" rIns="0" bIns="0" rtlCol="0" anchor="t">
            <a:spAutoFit/>
          </a:bodyPr>
          <a:lstStyle/>
          <a:p>
            <a:pPr marL="602280" lvl="1" indent="-301140" algn="just">
              <a:lnSpc>
                <a:spcPts val="3905"/>
              </a:lnSpc>
              <a:buFont typeface="Arial"/>
              <a:buChar char="•"/>
            </a:pPr>
            <a:r>
              <a:rPr lang="en-US" sz="2789" b="1" i="1">
                <a:solidFill>
                  <a:srgbClr val="0F4662"/>
                </a:solidFill>
                <a:latin typeface="Montserrat Bold Italics"/>
                <a:ea typeface="Montserrat Bold Italics"/>
                <a:cs typeface="Montserrat Bold Italics"/>
                <a:sym typeface="Montserrat Bold Italics"/>
              </a:rPr>
              <a:t>Lí do xây dựng:</a:t>
            </a:r>
            <a:r>
              <a:rPr lang="en-US" sz="2789">
                <a:solidFill>
                  <a:srgbClr val="0F4662"/>
                </a:solidFill>
                <a:latin typeface="Montserrat"/>
                <a:ea typeface="Montserrat"/>
                <a:cs typeface="Montserrat"/>
                <a:sym typeface="Montserrat"/>
              </a:rPr>
              <a:t> Hỗ trợ người dùng, người học không bị mất phương hướng</a:t>
            </a:r>
          </a:p>
          <a:p>
            <a:pPr marL="602280" lvl="1" indent="-301140" algn="just">
              <a:lnSpc>
                <a:spcPts val="3905"/>
              </a:lnSpc>
              <a:buFont typeface="Arial"/>
              <a:buChar char="•"/>
            </a:pPr>
            <a:r>
              <a:rPr lang="en-US" sz="2789" b="1" i="1">
                <a:solidFill>
                  <a:srgbClr val="0F4662"/>
                </a:solidFill>
                <a:latin typeface="Montserrat Bold Italics"/>
                <a:ea typeface="Montserrat Bold Italics"/>
                <a:cs typeface="Montserrat Bold Italics"/>
                <a:sym typeface="Montserrat Bold Italics"/>
              </a:rPr>
              <a:t>Thách thức về dữ liệu:</a:t>
            </a:r>
          </a:p>
          <a:p>
            <a:pPr marL="1204560" lvl="2" indent="-401520" algn="just">
              <a:lnSpc>
                <a:spcPts val="3905"/>
              </a:lnSpc>
              <a:buFont typeface="Arial"/>
              <a:buChar char="⚬"/>
            </a:pPr>
            <a:r>
              <a:rPr lang="en-US" sz="2789">
                <a:solidFill>
                  <a:srgbClr val="0F4662"/>
                </a:solidFill>
                <a:latin typeface="Montserrat"/>
                <a:ea typeface="Montserrat"/>
                <a:cs typeface="Montserrat"/>
                <a:sym typeface="Montserrat"/>
              </a:rPr>
              <a:t>Dữ liệu thưa: </a:t>
            </a:r>
          </a:p>
          <a:p>
            <a:pPr marL="1204560" lvl="2" indent="-401520" algn="just">
              <a:lnSpc>
                <a:spcPts val="3905"/>
              </a:lnSpc>
              <a:buFont typeface="Arial"/>
              <a:buChar char="⚬"/>
            </a:pPr>
            <a:r>
              <a:rPr lang="en-US" sz="2789">
                <a:solidFill>
                  <a:srgbClr val="0F4662"/>
                </a:solidFill>
                <a:latin typeface="Montserrat"/>
                <a:ea typeface="Montserrat"/>
                <a:cs typeface="Montserrat"/>
                <a:sym typeface="Montserrat"/>
              </a:rPr>
              <a:t>Phản hồi ẩn: Khi người dùng nộp bài chỉ có "Đúng" / "Sai", phải dựa trên số lần submission để đánh giá</a:t>
            </a:r>
          </a:p>
          <a:p>
            <a:pPr algn="just">
              <a:lnSpc>
                <a:spcPts val="3905"/>
              </a:lnSpc>
            </a:pPr>
            <a:endParaRPr lang="en-US" sz="2789">
              <a:solidFill>
                <a:srgbClr val="0F4662"/>
              </a:solidFill>
              <a:latin typeface="Montserrat"/>
              <a:ea typeface="Montserrat"/>
              <a:cs typeface="Montserrat"/>
              <a:sym typeface="Montserrat"/>
            </a:endParaRPr>
          </a:p>
          <a:p>
            <a:pPr algn="just">
              <a:lnSpc>
                <a:spcPts val="3905"/>
              </a:lnSpc>
            </a:pPr>
            <a:r>
              <a:rPr lang="en-US" sz="2789">
                <a:solidFill>
                  <a:srgbClr val="0F4662"/>
                </a:solidFill>
                <a:latin typeface="Montserrat"/>
                <a:ea typeface="Montserrat"/>
                <a:cs typeface="Montserrat"/>
                <a:sym typeface="Montserrat"/>
              </a:rPr>
              <a:t>   </a:t>
            </a:r>
            <a:r>
              <a:rPr lang="en-US" sz="2789" b="1" i="1">
                <a:solidFill>
                  <a:srgbClr val="0F4662"/>
                </a:solidFill>
                <a:latin typeface="Montserrat Bold Italics"/>
                <a:ea typeface="Montserrat Bold Italics"/>
                <a:cs typeface="Montserrat Bold Italics"/>
                <a:sym typeface="Montserrat Bold Italics"/>
              </a:rPr>
              <a:t>Giải pháp</a:t>
            </a:r>
            <a:r>
              <a:rPr lang="en-US" sz="2789">
                <a:solidFill>
                  <a:srgbClr val="0F4662"/>
                </a:solidFill>
                <a:latin typeface="Montserrat"/>
                <a:ea typeface="Montserrat"/>
                <a:cs typeface="Montserrat"/>
                <a:sym typeface="Montserrat"/>
              </a:rPr>
              <a:t>: Xây dựng hệ thống gợi ý lai ghép giữa lọc theo nội dung và   lọc cộng tác</a:t>
            </a:r>
          </a:p>
        </p:txBody>
      </p:sp>
      <p:sp>
        <p:nvSpPr>
          <p:cNvPr id="8" name="TextBox 8"/>
          <p:cNvSpPr txBox="1"/>
          <p:nvPr/>
        </p:nvSpPr>
        <p:spPr>
          <a:xfrm>
            <a:off x="17602200" y="9509200"/>
            <a:ext cx="401626" cy="950420"/>
          </a:xfrm>
          <a:prstGeom prst="rect">
            <a:avLst/>
          </a:prstGeom>
        </p:spPr>
        <p:txBody>
          <a:bodyPr wrap="square" lIns="0" tIns="0" rIns="0" bIns="0" rtlCol="0" anchor="t">
            <a:spAutoFit/>
          </a:bodyPr>
          <a:lstStyle/>
          <a:p>
            <a:pPr algn="ctr">
              <a:lnSpc>
                <a:spcPts val="3831"/>
              </a:lnSpc>
            </a:pPr>
            <a:r>
              <a:rPr lang="en-US" sz="2554" b="1" dirty="0">
                <a:solidFill>
                  <a:srgbClr val="0F4662"/>
                </a:solidFill>
                <a:latin typeface="Montserrat Bold"/>
                <a:ea typeface="Montserrat Bold"/>
                <a:cs typeface="Montserrat Bold"/>
                <a:sym typeface="Montserrat Bold"/>
              </a:rPr>
              <a:t>16</a:t>
            </a:r>
          </a:p>
          <a:p>
            <a:pPr algn="ctr">
              <a:lnSpc>
                <a:spcPts val="3831"/>
              </a:lnSpc>
              <a:spcBef>
                <a:spcPct val="0"/>
              </a:spcBef>
            </a:pPr>
            <a:endParaRPr lang="en-US" sz="2554" b="1" dirty="0">
              <a:solidFill>
                <a:srgbClr val="0F4662"/>
              </a:solidFill>
              <a:latin typeface="Montserrat Bold"/>
              <a:ea typeface="Montserrat Bold"/>
              <a:cs typeface="Montserrat Bold"/>
              <a:sym typeface="Montserrat Bo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15579303" y="714009"/>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a:off x="1024384" y="9529723"/>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TextBox 6"/>
          <p:cNvSpPr txBox="1"/>
          <p:nvPr/>
        </p:nvSpPr>
        <p:spPr>
          <a:xfrm>
            <a:off x="1024384" y="609234"/>
            <a:ext cx="14072064" cy="920114"/>
          </a:xfrm>
          <a:prstGeom prst="rect">
            <a:avLst/>
          </a:prstGeom>
        </p:spPr>
        <p:txBody>
          <a:bodyPr lIns="0" tIns="0" rIns="0" bIns="0" rtlCol="0" anchor="t">
            <a:spAutoFit/>
          </a:bodyPr>
          <a:lstStyle/>
          <a:p>
            <a:pPr marL="0" lvl="0" indent="0" algn="l">
              <a:lnSpc>
                <a:spcPts val="7560"/>
              </a:lnSpc>
              <a:spcBef>
                <a:spcPct val="0"/>
              </a:spcBef>
            </a:pPr>
            <a:r>
              <a:rPr lang="en-US" sz="5400" b="1" i="1">
                <a:solidFill>
                  <a:srgbClr val="0F4662"/>
                </a:solidFill>
                <a:latin typeface="Montserrat Bold Italics"/>
                <a:ea typeface="Montserrat Bold Italics"/>
                <a:cs typeface="Montserrat Bold Italics"/>
                <a:sym typeface="Montserrat Bold Italics"/>
              </a:rPr>
              <a:t>4. XÂY DỰNG HỆ THỐNG GỢI Ý</a:t>
            </a:r>
          </a:p>
        </p:txBody>
      </p:sp>
      <p:sp>
        <p:nvSpPr>
          <p:cNvPr id="7" name="TextBox 7"/>
          <p:cNvSpPr txBox="1"/>
          <p:nvPr/>
        </p:nvSpPr>
        <p:spPr>
          <a:xfrm>
            <a:off x="1238298" y="1541039"/>
            <a:ext cx="14072064" cy="606424"/>
          </a:xfrm>
          <a:prstGeom prst="rect">
            <a:avLst/>
          </a:prstGeom>
        </p:spPr>
        <p:txBody>
          <a:bodyPr lIns="0" tIns="0" rIns="0" bIns="0" rtlCol="0" anchor="t">
            <a:spAutoFit/>
          </a:bodyPr>
          <a:lstStyle/>
          <a:p>
            <a:pPr marL="0" lvl="0" indent="0" algn="l">
              <a:lnSpc>
                <a:spcPts val="4900"/>
              </a:lnSpc>
              <a:spcBef>
                <a:spcPct val="0"/>
              </a:spcBef>
            </a:pPr>
            <a:r>
              <a:rPr lang="en-US" sz="3500" b="1" i="1">
                <a:solidFill>
                  <a:srgbClr val="0F4662"/>
                </a:solidFill>
                <a:latin typeface="Montserrat Bold Italics"/>
                <a:ea typeface="Montserrat Bold Italics"/>
                <a:cs typeface="Montserrat Bold Italics"/>
                <a:sym typeface="Montserrat Bold Italics"/>
              </a:rPr>
              <a:t>4.2. Lọc theo nội dung sử dụng KNN</a:t>
            </a:r>
          </a:p>
        </p:txBody>
      </p:sp>
      <p:sp>
        <p:nvSpPr>
          <p:cNvPr id="8" name="TextBox 8"/>
          <p:cNvSpPr txBox="1"/>
          <p:nvPr/>
        </p:nvSpPr>
        <p:spPr>
          <a:xfrm>
            <a:off x="1238298" y="2654449"/>
            <a:ext cx="8765507" cy="4939294"/>
          </a:xfrm>
          <a:prstGeom prst="rect">
            <a:avLst/>
          </a:prstGeom>
        </p:spPr>
        <p:txBody>
          <a:bodyPr lIns="0" tIns="0" rIns="0" bIns="0" rtlCol="0" anchor="t">
            <a:spAutoFit/>
          </a:bodyPr>
          <a:lstStyle/>
          <a:p>
            <a:pPr algn="just">
              <a:lnSpc>
                <a:spcPts val="3905"/>
              </a:lnSpc>
            </a:pPr>
            <a:r>
              <a:rPr lang="en-US" sz="2789" b="1" i="1" dirty="0">
                <a:solidFill>
                  <a:srgbClr val="0F4662"/>
                </a:solidFill>
                <a:latin typeface="Montserrat Bold Italics"/>
                <a:ea typeface="Montserrat Bold Italics"/>
                <a:cs typeface="Montserrat Bold Italics"/>
                <a:sym typeface="Montserrat Bold Italics"/>
              </a:rPr>
              <a:t>Nguyên </a:t>
            </a:r>
            <a:r>
              <a:rPr lang="en-US" sz="2789" b="1" i="1" dirty="0" err="1">
                <a:solidFill>
                  <a:srgbClr val="0F4662"/>
                </a:solidFill>
                <a:latin typeface="Montserrat Bold Italics"/>
                <a:ea typeface="Montserrat Bold Italics"/>
                <a:cs typeface="Montserrat Bold Italics"/>
                <a:sym typeface="Montserrat Bold Italics"/>
              </a:rPr>
              <a:t>lý</a:t>
            </a:r>
            <a:r>
              <a:rPr lang="en-US" sz="2789" b="1" i="1" dirty="0">
                <a:solidFill>
                  <a:srgbClr val="0F4662"/>
                </a:solidFill>
                <a:latin typeface="Montserrat Bold Italics"/>
                <a:ea typeface="Montserrat Bold Italics"/>
                <a:cs typeface="Montserrat Bold Italics"/>
                <a:sym typeface="Montserrat Bold Italics"/>
              </a:rPr>
              <a:t>:</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gợi</a:t>
            </a:r>
            <a:r>
              <a:rPr lang="en-US" sz="2789" dirty="0">
                <a:solidFill>
                  <a:srgbClr val="0F4662"/>
                </a:solidFill>
                <a:latin typeface="Montserrat"/>
                <a:ea typeface="Montserrat"/>
                <a:cs typeface="Montserrat"/>
                <a:sym typeface="Montserrat"/>
              </a:rPr>
              <a:t> ý </a:t>
            </a:r>
            <a:r>
              <a:rPr lang="en-US" sz="2789" dirty="0" err="1">
                <a:solidFill>
                  <a:srgbClr val="0F4662"/>
                </a:solidFill>
                <a:latin typeface="Montserrat"/>
                <a:ea typeface="Montserrat"/>
                <a:cs typeface="Montserrat"/>
                <a:sym typeface="Montserrat"/>
              </a:rPr>
              <a:t>các</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bài</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tập</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tương</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đồng</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về</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nội</a:t>
            </a:r>
            <a:r>
              <a:rPr lang="en-US" sz="2789" dirty="0">
                <a:solidFill>
                  <a:srgbClr val="0F4662"/>
                </a:solidFill>
                <a:latin typeface="Montserrat"/>
                <a:ea typeface="Montserrat"/>
                <a:cs typeface="Montserrat"/>
                <a:sym typeface="Montserrat"/>
              </a:rPr>
              <a:t> dung </a:t>
            </a:r>
            <a:r>
              <a:rPr lang="en-US" sz="2789" dirty="0" err="1">
                <a:solidFill>
                  <a:srgbClr val="0F4662"/>
                </a:solidFill>
                <a:latin typeface="Montserrat"/>
                <a:ea typeface="Montserrat"/>
                <a:cs typeface="Montserrat"/>
                <a:sym typeface="Montserrat"/>
              </a:rPr>
              <a:t>dựa</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trên</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các</a:t>
            </a:r>
            <a:r>
              <a:rPr lang="en-US" sz="2789" dirty="0">
                <a:solidFill>
                  <a:srgbClr val="0F4662"/>
                </a:solidFill>
                <a:latin typeface="Montserrat"/>
                <a:ea typeface="Montserrat"/>
                <a:cs typeface="Montserrat"/>
                <a:sym typeface="Montserrat"/>
              </a:rPr>
              <a:t> tags </a:t>
            </a:r>
            <a:r>
              <a:rPr lang="en-US" sz="2789" dirty="0" err="1">
                <a:solidFill>
                  <a:srgbClr val="0F4662"/>
                </a:solidFill>
                <a:latin typeface="Montserrat"/>
                <a:ea typeface="Montserrat"/>
                <a:cs typeface="Montserrat"/>
                <a:sym typeface="Montserrat"/>
              </a:rPr>
              <a:t>và</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độ</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khó</a:t>
            </a:r>
            <a:endParaRPr lang="en-US" sz="2789" dirty="0">
              <a:solidFill>
                <a:srgbClr val="0F4662"/>
              </a:solidFill>
              <a:latin typeface="Montserrat"/>
              <a:ea typeface="Montserrat"/>
              <a:cs typeface="Montserrat"/>
              <a:sym typeface="Montserrat"/>
            </a:endParaRPr>
          </a:p>
          <a:p>
            <a:pPr algn="just">
              <a:lnSpc>
                <a:spcPts val="3905"/>
              </a:lnSpc>
            </a:pPr>
            <a:r>
              <a:rPr lang="en-US" sz="2789" b="1" i="1" dirty="0" err="1">
                <a:solidFill>
                  <a:srgbClr val="0F4662"/>
                </a:solidFill>
                <a:latin typeface="Montserrat Bold Italics"/>
                <a:ea typeface="Montserrat Bold Italics"/>
                <a:cs typeface="Montserrat Bold Italics"/>
                <a:sym typeface="Montserrat Bold Italics"/>
              </a:rPr>
              <a:t>Kĩ</a:t>
            </a:r>
            <a:r>
              <a:rPr lang="en-US" sz="2789" b="1" i="1" dirty="0">
                <a:solidFill>
                  <a:srgbClr val="0F4662"/>
                </a:solidFill>
                <a:latin typeface="Montserrat Bold Italics"/>
                <a:ea typeface="Montserrat Bold Italics"/>
                <a:cs typeface="Montserrat Bold Italics"/>
                <a:sym typeface="Montserrat Bold Italics"/>
              </a:rPr>
              <a:t> </a:t>
            </a:r>
            <a:r>
              <a:rPr lang="en-US" sz="2789" b="1" i="1" dirty="0" err="1">
                <a:solidFill>
                  <a:srgbClr val="0F4662"/>
                </a:solidFill>
                <a:latin typeface="Montserrat Bold Italics"/>
                <a:ea typeface="Montserrat Bold Italics"/>
                <a:cs typeface="Montserrat Bold Italics"/>
                <a:sym typeface="Montserrat Bold Italics"/>
              </a:rPr>
              <a:t>thuật</a:t>
            </a:r>
            <a:r>
              <a:rPr lang="en-US" sz="2789" b="1" i="1" dirty="0">
                <a:solidFill>
                  <a:srgbClr val="0F4662"/>
                </a:solidFill>
                <a:latin typeface="Montserrat Bold Italics"/>
                <a:ea typeface="Montserrat Bold Italics"/>
                <a:cs typeface="Montserrat Bold Italics"/>
                <a:sym typeface="Montserrat Bold Italics"/>
              </a:rPr>
              <a:t>:</a:t>
            </a:r>
          </a:p>
          <a:p>
            <a:pPr marL="602280" lvl="1" indent="-301140" algn="just">
              <a:lnSpc>
                <a:spcPts val="3905"/>
              </a:lnSpc>
              <a:buFont typeface="Arial"/>
              <a:buChar char="•"/>
            </a:pPr>
            <a:r>
              <a:rPr lang="en-US" sz="2789" dirty="0">
                <a:solidFill>
                  <a:srgbClr val="0F4662"/>
                </a:solidFill>
                <a:latin typeface="Montserrat"/>
                <a:ea typeface="Montserrat"/>
                <a:cs typeface="Montserrat"/>
                <a:sym typeface="Montserrat"/>
              </a:rPr>
              <a:t>Vector </a:t>
            </a:r>
            <a:r>
              <a:rPr lang="en-US" sz="2789" dirty="0" err="1">
                <a:solidFill>
                  <a:srgbClr val="0F4662"/>
                </a:solidFill>
                <a:latin typeface="Montserrat"/>
                <a:ea typeface="Montserrat"/>
                <a:cs typeface="Montserrat"/>
                <a:sym typeface="Montserrat"/>
              </a:rPr>
              <a:t>hóa</a:t>
            </a:r>
            <a:r>
              <a:rPr lang="en-US" sz="2789" dirty="0">
                <a:solidFill>
                  <a:srgbClr val="0F4662"/>
                </a:solidFill>
                <a:latin typeface="Montserrat"/>
                <a:ea typeface="Montserrat"/>
                <a:cs typeface="Montserrat"/>
                <a:sym typeface="Montserrat"/>
              </a:rPr>
              <a:t>:</a:t>
            </a:r>
          </a:p>
          <a:p>
            <a:pPr marL="1204560" lvl="2" indent="-401520" algn="just">
              <a:lnSpc>
                <a:spcPts val="3905"/>
              </a:lnSpc>
              <a:buFont typeface="Arial"/>
              <a:buChar char="⚬"/>
            </a:pPr>
            <a:r>
              <a:rPr lang="en-US" sz="2789" dirty="0">
                <a:solidFill>
                  <a:srgbClr val="0F4662"/>
                </a:solidFill>
                <a:latin typeface="Montserrat"/>
                <a:ea typeface="Montserrat"/>
                <a:cs typeface="Montserrat"/>
                <a:sym typeface="Montserrat"/>
              </a:rPr>
              <a:t>One-hot encoding </a:t>
            </a:r>
            <a:r>
              <a:rPr lang="en-US" sz="2789" dirty="0" err="1">
                <a:solidFill>
                  <a:srgbClr val="0F4662"/>
                </a:solidFill>
                <a:latin typeface="Montserrat"/>
                <a:ea typeface="Montserrat"/>
                <a:cs typeface="Montserrat"/>
                <a:sym typeface="Montserrat"/>
              </a:rPr>
              <a:t>cho</a:t>
            </a:r>
            <a:r>
              <a:rPr lang="en-US" sz="2789" dirty="0">
                <a:solidFill>
                  <a:srgbClr val="0F4662"/>
                </a:solidFill>
                <a:latin typeface="Montserrat"/>
                <a:ea typeface="Montserrat"/>
                <a:cs typeface="Montserrat"/>
                <a:sym typeface="Montserrat"/>
              </a:rPr>
              <a:t> Tags.</a:t>
            </a:r>
          </a:p>
          <a:p>
            <a:pPr marL="1204560" lvl="2" indent="-401520" algn="just">
              <a:lnSpc>
                <a:spcPts val="3905"/>
              </a:lnSpc>
              <a:buFont typeface="Arial"/>
              <a:buChar char="⚬"/>
            </a:pPr>
            <a:r>
              <a:rPr lang="en-US" sz="2789" dirty="0" err="1">
                <a:solidFill>
                  <a:srgbClr val="0F4662"/>
                </a:solidFill>
                <a:latin typeface="Montserrat"/>
                <a:ea typeface="Montserrat"/>
                <a:cs typeface="Montserrat"/>
                <a:sym typeface="Montserrat"/>
              </a:rPr>
              <a:t>Chuẩn</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hóa</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độ</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khó</a:t>
            </a:r>
            <a:endParaRPr lang="en-US" sz="2789" dirty="0">
              <a:solidFill>
                <a:srgbClr val="0F4662"/>
              </a:solidFill>
              <a:latin typeface="Montserrat"/>
              <a:ea typeface="Montserrat"/>
              <a:cs typeface="Montserrat"/>
              <a:sym typeface="Montserrat"/>
            </a:endParaRPr>
          </a:p>
          <a:p>
            <a:pPr marL="602280" lvl="1" indent="-301140" algn="just">
              <a:lnSpc>
                <a:spcPts val="3905"/>
              </a:lnSpc>
              <a:buFont typeface="Arial"/>
              <a:buChar char="•"/>
            </a:pPr>
            <a:r>
              <a:rPr lang="en-US" sz="2789" dirty="0" err="1">
                <a:solidFill>
                  <a:srgbClr val="0F4662"/>
                </a:solidFill>
                <a:latin typeface="Montserrat"/>
                <a:ea typeface="Montserrat"/>
                <a:cs typeface="Montserrat"/>
                <a:sym typeface="Montserrat"/>
              </a:rPr>
              <a:t>Thuật</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toán</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Sử</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dụng</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thuật</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toán</a:t>
            </a:r>
            <a:r>
              <a:rPr lang="en-US" sz="2789" dirty="0">
                <a:solidFill>
                  <a:srgbClr val="0F4662"/>
                </a:solidFill>
                <a:latin typeface="Montserrat"/>
                <a:ea typeface="Montserrat"/>
                <a:cs typeface="Montserrat"/>
                <a:sym typeface="Montserrat"/>
              </a:rPr>
              <a:t> KNN </a:t>
            </a:r>
            <a:r>
              <a:rPr lang="en-US" sz="2789" dirty="0" err="1">
                <a:solidFill>
                  <a:srgbClr val="0F4662"/>
                </a:solidFill>
                <a:latin typeface="Montserrat"/>
                <a:ea typeface="Montserrat"/>
                <a:cs typeface="Montserrat"/>
                <a:sym typeface="Montserrat"/>
              </a:rPr>
              <a:t>với</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độ</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đo</a:t>
            </a:r>
            <a:r>
              <a:rPr lang="en-US" sz="2789" dirty="0">
                <a:solidFill>
                  <a:srgbClr val="0F4662"/>
                </a:solidFill>
                <a:latin typeface="Montserrat"/>
                <a:ea typeface="Montserrat"/>
                <a:cs typeface="Montserrat"/>
                <a:sym typeface="Montserrat"/>
              </a:rPr>
              <a:t> cosine </a:t>
            </a:r>
            <a:r>
              <a:rPr lang="en-US" sz="2789" dirty="0" err="1">
                <a:solidFill>
                  <a:srgbClr val="0F4662"/>
                </a:solidFill>
                <a:latin typeface="Montserrat"/>
                <a:ea typeface="Montserrat"/>
                <a:cs typeface="Montserrat"/>
                <a:sym typeface="Montserrat"/>
              </a:rPr>
              <a:t>để</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tìm</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kiếm</a:t>
            </a:r>
            <a:r>
              <a:rPr lang="en-US" sz="2789" dirty="0">
                <a:solidFill>
                  <a:srgbClr val="0F4662"/>
                </a:solidFill>
                <a:latin typeface="Montserrat"/>
                <a:ea typeface="Montserrat"/>
                <a:cs typeface="Montserrat"/>
                <a:sym typeface="Montserrat"/>
              </a:rPr>
              <a:t> k </a:t>
            </a:r>
            <a:r>
              <a:rPr lang="en-US" sz="2789" dirty="0" err="1">
                <a:solidFill>
                  <a:srgbClr val="0F4662"/>
                </a:solidFill>
                <a:latin typeface="Montserrat"/>
                <a:ea typeface="Montserrat"/>
                <a:cs typeface="Montserrat"/>
                <a:sym typeface="Montserrat"/>
              </a:rPr>
              <a:t>bài</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toán</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tương</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đồng</a:t>
            </a:r>
            <a:endParaRPr lang="en-US" sz="2789" dirty="0">
              <a:solidFill>
                <a:srgbClr val="0F4662"/>
              </a:solidFill>
              <a:latin typeface="Montserrat"/>
              <a:ea typeface="Montserrat"/>
              <a:cs typeface="Montserrat"/>
              <a:sym typeface="Montserrat"/>
            </a:endParaRPr>
          </a:p>
          <a:p>
            <a:pPr marL="1204560" lvl="2" indent="-401520" algn="just">
              <a:lnSpc>
                <a:spcPts val="3905"/>
              </a:lnSpc>
              <a:buFont typeface="Arial"/>
              <a:buChar char="⚬"/>
            </a:pPr>
            <a:r>
              <a:rPr lang="en-US" sz="2789" dirty="0">
                <a:solidFill>
                  <a:srgbClr val="0F4662"/>
                </a:solidFill>
                <a:latin typeface="Montserrat"/>
                <a:ea typeface="Montserrat"/>
                <a:cs typeface="Montserrat"/>
                <a:sym typeface="Montserrat"/>
              </a:rPr>
              <a:t>Công </a:t>
            </a:r>
            <a:r>
              <a:rPr lang="en-US" sz="2789" dirty="0" err="1">
                <a:solidFill>
                  <a:srgbClr val="0F4662"/>
                </a:solidFill>
                <a:latin typeface="Montserrat"/>
                <a:ea typeface="Montserrat"/>
                <a:cs typeface="Montserrat"/>
                <a:sym typeface="Montserrat"/>
              </a:rPr>
              <a:t>thức</a:t>
            </a:r>
            <a:r>
              <a:rPr lang="en-US" sz="2789" dirty="0">
                <a:solidFill>
                  <a:srgbClr val="0F4662"/>
                </a:solidFill>
                <a:latin typeface="Montserrat"/>
                <a:ea typeface="Montserrat"/>
                <a:cs typeface="Montserrat"/>
                <a:sym typeface="Montserrat"/>
              </a:rPr>
              <a:t>: </a:t>
            </a:r>
          </a:p>
          <a:p>
            <a:pPr algn="just">
              <a:lnSpc>
                <a:spcPts val="3905"/>
              </a:lnSpc>
            </a:pPr>
            <a:endParaRPr lang="en-US" sz="2789" dirty="0">
              <a:solidFill>
                <a:srgbClr val="0F4662"/>
              </a:solidFill>
              <a:latin typeface="Montserrat"/>
              <a:ea typeface="Montserrat"/>
              <a:cs typeface="Montserrat"/>
              <a:sym typeface="Montserrat"/>
            </a:endParaRPr>
          </a:p>
        </p:txBody>
      </p:sp>
      <p:sp>
        <p:nvSpPr>
          <p:cNvPr id="9" name="TextBox 9"/>
          <p:cNvSpPr txBox="1"/>
          <p:nvPr/>
        </p:nvSpPr>
        <p:spPr>
          <a:xfrm>
            <a:off x="17676761" y="9509200"/>
            <a:ext cx="333851" cy="950420"/>
          </a:xfrm>
          <a:prstGeom prst="rect">
            <a:avLst/>
          </a:prstGeom>
        </p:spPr>
        <p:txBody>
          <a:bodyPr lIns="0" tIns="0" rIns="0" bIns="0" rtlCol="0" anchor="t">
            <a:spAutoFit/>
          </a:bodyPr>
          <a:lstStyle/>
          <a:p>
            <a:pPr algn="ctr">
              <a:lnSpc>
                <a:spcPts val="3831"/>
              </a:lnSpc>
            </a:pPr>
            <a:r>
              <a:rPr lang="en-US" sz="2554" b="1" dirty="0">
                <a:solidFill>
                  <a:srgbClr val="0F4662"/>
                </a:solidFill>
                <a:latin typeface="Montserrat Bold"/>
                <a:ea typeface="Montserrat Bold"/>
                <a:cs typeface="Montserrat Bold"/>
                <a:sym typeface="Montserrat Bold"/>
              </a:rPr>
              <a:t>17</a:t>
            </a:r>
          </a:p>
          <a:p>
            <a:pPr algn="ctr">
              <a:lnSpc>
                <a:spcPts val="3831"/>
              </a:lnSpc>
              <a:spcBef>
                <a:spcPct val="0"/>
              </a:spcBef>
            </a:pPr>
            <a:endParaRPr lang="en-US" sz="2554" b="1" dirty="0">
              <a:solidFill>
                <a:srgbClr val="0F4662"/>
              </a:solidFill>
              <a:latin typeface="Montserrat Bold"/>
              <a:ea typeface="Montserrat Bold"/>
              <a:cs typeface="Montserrat Bold"/>
              <a:sym typeface="Montserrat Bold"/>
            </a:endParaRPr>
          </a:p>
        </p:txBody>
      </p:sp>
      <p:graphicFrame>
        <p:nvGraphicFramePr>
          <p:cNvPr id="10" name="Object 9">
            <a:extLst>
              <a:ext uri="{FF2B5EF4-FFF2-40B4-BE49-F238E27FC236}">
                <a16:creationId xmlns:a16="http://schemas.microsoft.com/office/drawing/2014/main" id="{B52E7EA5-265C-4B6D-4CC0-BD61FB69F5E8}"/>
              </a:ext>
            </a:extLst>
          </p:cNvPr>
          <p:cNvGraphicFramePr>
            <a:graphicFrameLocks noChangeAspect="1"/>
          </p:cNvGraphicFramePr>
          <p:nvPr>
            <p:extLst>
              <p:ext uri="{D42A27DB-BD31-4B8C-83A1-F6EECF244321}">
                <p14:modId xmlns:p14="http://schemas.microsoft.com/office/powerpoint/2010/main" val="2353221853"/>
              </p:ext>
            </p:extLst>
          </p:nvPr>
        </p:nvGraphicFramePr>
        <p:xfrm>
          <a:off x="2839372" y="7190133"/>
          <a:ext cx="5221044" cy="1371600"/>
        </p:xfrm>
        <a:graphic>
          <a:graphicData uri="http://schemas.openxmlformats.org/presentationml/2006/ole">
            <mc:AlternateContent xmlns:mc="http://schemas.openxmlformats.org/markup-compatibility/2006">
              <mc:Choice xmlns:v="urn:schemas-microsoft-com:vml" Requires="v">
                <p:oleObj name="Equation" r:id="rId5" imgW="2218372" imgH="581873" progId="Equation.DSMT4">
                  <p:embed/>
                </p:oleObj>
              </mc:Choice>
              <mc:Fallback>
                <p:oleObj name="Equation" r:id="rId5" imgW="2218372" imgH="581873" progId="Equation.DSMT4">
                  <p:embed/>
                  <p:pic>
                    <p:nvPicPr>
                      <p:cNvPr id="0" name=""/>
                      <p:cNvPicPr/>
                      <p:nvPr/>
                    </p:nvPicPr>
                    <p:blipFill>
                      <a:blip r:embed="rId6"/>
                      <a:stretch>
                        <a:fillRect/>
                      </a:stretch>
                    </p:blipFill>
                    <p:spPr>
                      <a:xfrm>
                        <a:off x="2839372" y="7190133"/>
                        <a:ext cx="5221044" cy="1371600"/>
                      </a:xfrm>
                      <a:prstGeom prst="rect">
                        <a:avLst/>
                      </a:prstGeom>
                    </p:spPr>
                  </p:pic>
                </p:oleObj>
              </mc:Fallback>
            </mc:AlternateContent>
          </a:graphicData>
        </a:graphic>
      </p:graphicFrame>
      <p:pic>
        <p:nvPicPr>
          <p:cNvPr id="13" name="Picture 12">
            <a:extLst>
              <a:ext uri="{FF2B5EF4-FFF2-40B4-BE49-F238E27FC236}">
                <a16:creationId xmlns:a16="http://schemas.microsoft.com/office/drawing/2014/main" id="{FC077715-CDCF-35F8-2DB8-78E7036715DB}"/>
              </a:ext>
            </a:extLst>
          </p:cNvPr>
          <p:cNvPicPr>
            <a:picLocks noChangeAspect="1"/>
          </p:cNvPicPr>
          <p:nvPr/>
        </p:nvPicPr>
        <p:blipFill>
          <a:blip r:embed="rId7"/>
          <a:stretch>
            <a:fillRect/>
          </a:stretch>
        </p:blipFill>
        <p:spPr>
          <a:xfrm>
            <a:off x="10120850" y="2552700"/>
            <a:ext cx="7889762" cy="471673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15579303" y="714009"/>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a:off x="1024384" y="9529723"/>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a:off x="9762124" y="2804688"/>
            <a:ext cx="8295008" cy="4432959"/>
          </a:xfrm>
          <a:custGeom>
            <a:avLst/>
            <a:gdLst/>
            <a:ahLst/>
            <a:cxnLst/>
            <a:rect l="l" t="t" r="r" b="b"/>
            <a:pathLst>
              <a:path w="8295008" h="4432959">
                <a:moveTo>
                  <a:pt x="0" y="0"/>
                </a:moveTo>
                <a:lnTo>
                  <a:pt x="8295008" y="0"/>
                </a:lnTo>
                <a:lnTo>
                  <a:pt x="8295008" y="4432959"/>
                </a:lnTo>
                <a:lnTo>
                  <a:pt x="0" y="4432959"/>
                </a:lnTo>
                <a:lnTo>
                  <a:pt x="0" y="0"/>
                </a:lnTo>
                <a:close/>
              </a:path>
            </a:pathLst>
          </a:custGeom>
          <a:blipFill>
            <a:blip r:embed="rId5"/>
            <a:stretch>
              <a:fillRect l="-1262" r="-1262"/>
            </a:stretch>
          </a:blipFill>
        </p:spPr>
        <p:txBody>
          <a:bodyPr/>
          <a:lstStyle/>
          <a:p>
            <a:endParaRPr lang="en-US"/>
          </a:p>
        </p:txBody>
      </p:sp>
      <p:sp>
        <p:nvSpPr>
          <p:cNvPr id="6" name="TextBox 6"/>
          <p:cNvSpPr txBox="1"/>
          <p:nvPr/>
        </p:nvSpPr>
        <p:spPr>
          <a:xfrm>
            <a:off x="1024384" y="609234"/>
            <a:ext cx="14072064" cy="920114"/>
          </a:xfrm>
          <a:prstGeom prst="rect">
            <a:avLst/>
          </a:prstGeom>
        </p:spPr>
        <p:txBody>
          <a:bodyPr lIns="0" tIns="0" rIns="0" bIns="0" rtlCol="0" anchor="t">
            <a:spAutoFit/>
          </a:bodyPr>
          <a:lstStyle/>
          <a:p>
            <a:pPr marL="0" lvl="0" indent="0" algn="l">
              <a:lnSpc>
                <a:spcPts val="7560"/>
              </a:lnSpc>
              <a:spcBef>
                <a:spcPct val="0"/>
              </a:spcBef>
            </a:pPr>
            <a:r>
              <a:rPr lang="en-US" sz="5400" b="1" i="1">
                <a:solidFill>
                  <a:srgbClr val="0F4662"/>
                </a:solidFill>
                <a:latin typeface="Montserrat Bold Italics"/>
                <a:ea typeface="Montserrat Bold Italics"/>
                <a:cs typeface="Montserrat Bold Italics"/>
                <a:sym typeface="Montserrat Bold Italics"/>
              </a:rPr>
              <a:t>4. XÂY DỰNG HỆ THỐNG GỢI Ý</a:t>
            </a:r>
          </a:p>
        </p:txBody>
      </p:sp>
      <p:sp>
        <p:nvSpPr>
          <p:cNvPr id="7" name="TextBox 7"/>
          <p:cNvSpPr txBox="1"/>
          <p:nvPr/>
        </p:nvSpPr>
        <p:spPr>
          <a:xfrm>
            <a:off x="1238298" y="1541039"/>
            <a:ext cx="14072064" cy="606424"/>
          </a:xfrm>
          <a:prstGeom prst="rect">
            <a:avLst/>
          </a:prstGeom>
        </p:spPr>
        <p:txBody>
          <a:bodyPr lIns="0" tIns="0" rIns="0" bIns="0" rtlCol="0" anchor="t">
            <a:spAutoFit/>
          </a:bodyPr>
          <a:lstStyle/>
          <a:p>
            <a:pPr marL="0" lvl="0" indent="0" algn="l">
              <a:lnSpc>
                <a:spcPts val="4900"/>
              </a:lnSpc>
              <a:spcBef>
                <a:spcPct val="0"/>
              </a:spcBef>
            </a:pPr>
            <a:r>
              <a:rPr lang="en-US" sz="3500" b="1" i="1">
                <a:solidFill>
                  <a:srgbClr val="0F4662"/>
                </a:solidFill>
                <a:latin typeface="Montserrat Bold Italics"/>
                <a:ea typeface="Montserrat Bold Italics"/>
                <a:cs typeface="Montserrat Bold Italics"/>
                <a:sym typeface="Montserrat Bold Italics"/>
              </a:rPr>
              <a:t>4.3. Lọc cộng tác sử dụng ALS (Alternating Least Squares)</a:t>
            </a:r>
          </a:p>
        </p:txBody>
      </p:sp>
      <p:sp>
        <p:nvSpPr>
          <p:cNvPr id="8" name="TextBox 8"/>
          <p:cNvSpPr txBox="1"/>
          <p:nvPr/>
        </p:nvSpPr>
        <p:spPr>
          <a:xfrm>
            <a:off x="1238298" y="2654449"/>
            <a:ext cx="8187935" cy="3948694"/>
          </a:xfrm>
          <a:prstGeom prst="rect">
            <a:avLst/>
          </a:prstGeom>
        </p:spPr>
        <p:txBody>
          <a:bodyPr lIns="0" tIns="0" rIns="0" bIns="0" rtlCol="0" anchor="t">
            <a:spAutoFit/>
          </a:bodyPr>
          <a:lstStyle/>
          <a:p>
            <a:pPr algn="just">
              <a:lnSpc>
                <a:spcPts val="3905"/>
              </a:lnSpc>
            </a:pPr>
            <a:r>
              <a:rPr lang="en-US" sz="2789" b="1" i="1" dirty="0">
                <a:solidFill>
                  <a:srgbClr val="0F4662"/>
                </a:solidFill>
                <a:latin typeface="Montserrat Bold Italics"/>
                <a:ea typeface="Montserrat Bold Italics"/>
                <a:cs typeface="Montserrat Bold Italics"/>
                <a:sym typeface="Montserrat Bold Italics"/>
              </a:rPr>
              <a:t>Nguyên </a:t>
            </a:r>
            <a:r>
              <a:rPr lang="en-US" sz="2789" b="1" i="1" dirty="0" err="1">
                <a:solidFill>
                  <a:srgbClr val="0F4662"/>
                </a:solidFill>
                <a:latin typeface="Montserrat Bold Italics"/>
                <a:ea typeface="Montserrat Bold Italics"/>
                <a:cs typeface="Montserrat Bold Italics"/>
                <a:sym typeface="Montserrat Bold Italics"/>
              </a:rPr>
              <a:t>lý</a:t>
            </a:r>
            <a:r>
              <a:rPr lang="en-US" sz="2789" b="1" i="1" dirty="0">
                <a:solidFill>
                  <a:srgbClr val="0F4662"/>
                </a:solidFill>
                <a:latin typeface="Montserrat Bold Italics"/>
                <a:ea typeface="Montserrat Bold Italics"/>
                <a:cs typeface="Montserrat Bold Italics"/>
                <a:sym typeface="Montserrat Bold Italics"/>
              </a:rPr>
              <a:t>:</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gợi</a:t>
            </a:r>
            <a:r>
              <a:rPr lang="en-US" sz="2789" dirty="0">
                <a:solidFill>
                  <a:srgbClr val="0F4662"/>
                </a:solidFill>
                <a:latin typeface="Montserrat"/>
                <a:ea typeface="Montserrat"/>
                <a:cs typeface="Montserrat"/>
                <a:sym typeface="Montserrat"/>
              </a:rPr>
              <a:t> ý </a:t>
            </a:r>
            <a:r>
              <a:rPr lang="en-US" sz="2789" dirty="0" err="1">
                <a:solidFill>
                  <a:srgbClr val="0F4662"/>
                </a:solidFill>
                <a:latin typeface="Montserrat"/>
                <a:ea typeface="Montserrat"/>
                <a:cs typeface="Montserrat"/>
                <a:sym typeface="Montserrat"/>
              </a:rPr>
              <a:t>các</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bài</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tập</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dựa</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trên</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hành</a:t>
            </a:r>
            <a:r>
              <a:rPr lang="en-US" sz="2789" dirty="0">
                <a:solidFill>
                  <a:srgbClr val="0F4662"/>
                </a:solidFill>
                <a:latin typeface="Montserrat"/>
                <a:ea typeface="Montserrat"/>
                <a:cs typeface="Montserrat"/>
                <a:sym typeface="Montserrat"/>
              </a:rPr>
              <a:t> vi </a:t>
            </a:r>
            <a:r>
              <a:rPr lang="en-US" sz="2789" dirty="0" err="1">
                <a:solidFill>
                  <a:srgbClr val="0F4662"/>
                </a:solidFill>
                <a:latin typeface="Montserrat"/>
                <a:ea typeface="Montserrat"/>
                <a:cs typeface="Montserrat"/>
                <a:sym typeface="Montserrat"/>
              </a:rPr>
              <a:t>của</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người</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dùng</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tương</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đồng</a:t>
            </a:r>
            <a:endParaRPr lang="en-US" sz="2789" dirty="0">
              <a:solidFill>
                <a:srgbClr val="0F4662"/>
              </a:solidFill>
              <a:latin typeface="Montserrat"/>
              <a:ea typeface="Montserrat"/>
              <a:cs typeface="Montserrat"/>
              <a:sym typeface="Montserrat"/>
            </a:endParaRPr>
          </a:p>
          <a:p>
            <a:pPr algn="just">
              <a:lnSpc>
                <a:spcPts val="3905"/>
              </a:lnSpc>
            </a:pPr>
            <a:r>
              <a:rPr lang="en-US" sz="2789" b="1" i="1" dirty="0" err="1">
                <a:solidFill>
                  <a:srgbClr val="0F4662"/>
                </a:solidFill>
                <a:latin typeface="Montserrat Bold Italics"/>
                <a:ea typeface="Montserrat Bold Italics"/>
                <a:cs typeface="Montserrat Bold Italics"/>
                <a:sym typeface="Montserrat Bold Italics"/>
              </a:rPr>
              <a:t>Kĩ</a:t>
            </a:r>
            <a:r>
              <a:rPr lang="en-US" sz="2789" b="1" i="1" dirty="0">
                <a:solidFill>
                  <a:srgbClr val="0F4662"/>
                </a:solidFill>
                <a:latin typeface="Montserrat Bold Italics"/>
                <a:ea typeface="Montserrat Bold Italics"/>
                <a:cs typeface="Montserrat Bold Italics"/>
                <a:sym typeface="Montserrat Bold Italics"/>
              </a:rPr>
              <a:t> </a:t>
            </a:r>
            <a:r>
              <a:rPr lang="en-US" sz="2789" b="1" i="1" dirty="0" err="1">
                <a:solidFill>
                  <a:srgbClr val="0F4662"/>
                </a:solidFill>
                <a:latin typeface="Montserrat Bold Italics"/>
                <a:ea typeface="Montserrat Bold Italics"/>
                <a:cs typeface="Montserrat Bold Italics"/>
                <a:sym typeface="Montserrat Bold Italics"/>
              </a:rPr>
              <a:t>thuật</a:t>
            </a:r>
            <a:r>
              <a:rPr lang="en-US" sz="2789" b="1" i="1" dirty="0">
                <a:solidFill>
                  <a:srgbClr val="0F4662"/>
                </a:solidFill>
                <a:latin typeface="Montserrat Bold Italics"/>
                <a:ea typeface="Montserrat Bold Italics"/>
                <a:cs typeface="Montserrat Bold Italics"/>
                <a:sym typeface="Montserrat Bold Italics"/>
              </a:rPr>
              <a:t>:</a:t>
            </a:r>
          </a:p>
          <a:p>
            <a:pPr marL="602280" lvl="1" indent="-301140" algn="just">
              <a:lnSpc>
                <a:spcPts val="3905"/>
              </a:lnSpc>
              <a:buFont typeface="Arial"/>
              <a:buChar char="•"/>
            </a:pPr>
            <a:r>
              <a:rPr lang="en-US" sz="2789" dirty="0" err="1">
                <a:solidFill>
                  <a:srgbClr val="0F4662"/>
                </a:solidFill>
                <a:latin typeface="Montserrat"/>
                <a:ea typeface="Montserrat"/>
                <a:cs typeface="Montserrat"/>
                <a:sym typeface="Montserrat"/>
              </a:rPr>
              <a:t>Sử</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dụng</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thuật</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toán</a:t>
            </a:r>
            <a:r>
              <a:rPr lang="en-US" sz="2789" dirty="0">
                <a:solidFill>
                  <a:srgbClr val="0F4662"/>
                </a:solidFill>
                <a:latin typeface="Montserrat"/>
                <a:ea typeface="Montserrat"/>
                <a:cs typeface="Montserrat"/>
                <a:sym typeface="Montserrat"/>
              </a:rPr>
              <a:t> ALS implicit feedback </a:t>
            </a:r>
            <a:r>
              <a:rPr lang="en-US" sz="2789" dirty="0" err="1">
                <a:solidFill>
                  <a:srgbClr val="0F4662"/>
                </a:solidFill>
                <a:latin typeface="Montserrat"/>
                <a:ea typeface="Montserrat"/>
                <a:cs typeface="Montserrat"/>
                <a:sym typeface="Montserrat"/>
              </a:rPr>
              <a:t>phân</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rã</a:t>
            </a:r>
            <a:r>
              <a:rPr lang="en-US" sz="2789" dirty="0">
                <a:solidFill>
                  <a:srgbClr val="0F4662"/>
                </a:solidFill>
                <a:latin typeface="Montserrat"/>
                <a:ea typeface="Montserrat"/>
                <a:cs typeface="Montserrat"/>
                <a:sym typeface="Montserrat"/>
              </a:rPr>
              <a:t> ma </a:t>
            </a:r>
            <a:r>
              <a:rPr lang="en-US" sz="2789" dirty="0" err="1">
                <a:solidFill>
                  <a:srgbClr val="0F4662"/>
                </a:solidFill>
                <a:latin typeface="Montserrat"/>
                <a:ea typeface="Montserrat"/>
                <a:cs typeface="Montserrat"/>
                <a:sym typeface="Montserrat"/>
              </a:rPr>
              <a:t>trận</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tương</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tác</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người</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dùng</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và</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bài</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tập</a:t>
            </a:r>
            <a:endParaRPr lang="en-US" sz="2789" dirty="0">
              <a:solidFill>
                <a:srgbClr val="0F4662"/>
              </a:solidFill>
              <a:latin typeface="Montserrat"/>
              <a:ea typeface="Montserrat"/>
              <a:cs typeface="Montserrat"/>
              <a:sym typeface="Montserrat"/>
            </a:endParaRPr>
          </a:p>
          <a:p>
            <a:pPr marL="1204560" lvl="2" indent="-401520" algn="just">
              <a:lnSpc>
                <a:spcPts val="3905"/>
              </a:lnSpc>
              <a:buFont typeface="Arial"/>
              <a:buChar char="⚬"/>
            </a:pPr>
            <a:r>
              <a:rPr lang="en-US" sz="2789" dirty="0">
                <a:solidFill>
                  <a:srgbClr val="0F4662"/>
                </a:solidFill>
                <a:latin typeface="Montserrat"/>
                <a:ea typeface="Montserrat"/>
                <a:cs typeface="Montserrat"/>
                <a:sym typeface="Montserrat"/>
              </a:rPr>
              <a:t>Công </a:t>
            </a:r>
            <a:r>
              <a:rPr lang="en-US" sz="2789" dirty="0" err="1">
                <a:solidFill>
                  <a:srgbClr val="0F4662"/>
                </a:solidFill>
                <a:latin typeface="Montserrat"/>
                <a:ea typeface="Montserrat"/>
                <a:cs typeface="Montserrat"/>
                <a:sym typeface="Montserrat"/>
              </a:rPr>
              <a:t>thức</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hàm</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mất</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mát</a:t>
            </a:r>
            <a:r>
              <a:rPr lang="en-US" sz="2789" dirty="0">
                <a:solidFill>
                  <a:srgbClr val="0F4662"/>
                </a:solidFill>
                <a:latin typeface="Montserrat"/>
                <a:ea typeface="Montserrat"/>
                <a:cs typeface="Montserrat"/>
                <a:sym typeface="Montserrat"/>
              </a:rPr>
              <a:t>:</a:t>
            </a:r>
          </a:p>
          <a:p>
            <a:pPr algn="just">
              <a:lnSpc>
                <a:spcPts val="3905"/>
              </a:lnSpc>
            </a:pPr>
            <a:endParaRPr lang="en-US" sz="2789" dirty="0">
              <a:solidFill>
                <a:srgbClr val="0F4662"/>
              </a:solidFill>
              <a:latin typeface="Montserrat"/>
              <a:ea typeface="Montserrat"/>
              <a:cs typeface="Montserrat"/>
              <a:sym typeface="Montserrat"/>
            </a:endParaRPr>
          </a:p>
        </p:txBody>
      </p:sp>
      <p:sp>
        <p:nvSpPr>
          <p:cNvPr id="9" name="TextBox 9"/>
          <p:cNvSpPr txBox="1"/>
          <p:nvPr/>
        </p:nvSpPr>
        <p:spPr>
          <a:xfrm>
            <a:off x="17373600" y="9509200"/>
            <a:ext cx="634274" cy="446404"/>
          </a:xfrm>
          <a:prstGeom prst="rect">
            <a:avLst/>
          </a:prstGeom>
        </p:spPr>
        <p:txBody>
          <a:bodyPr wrap="square" lIns="0" tIns="0" rIns="0" bIns="0" rtlCol="0" anchor="t">
            <a:spAutoFit/>
          </a:bodyPr>
          <a:lstStyle/>
          <a:p>
            <a:pPr algn="ctr">
              <a:lnSpc>
                <a:spcPts val="3831"/>
              </a:lnSpc>
              <a:spcBef>
                <a:spcPct val="0"/>
              </a:spcBef>
            </a:pPr>
            <a:r>
              <a:rPr lang="en-US" sz="2554" b="1" dirty="0">
                <a:solidFill>
                  <a:srgbClr val="0F4662"/>
                </a:solidFill>
                <a:latin typeface="Montserrat Bold"/>
                <a:ea typeface="Montserrat Bold"/>
                <a:cs typeface="Montserrat Bold"/>
                <a:sym typeface="Montserrat Bold"/>
              </a:rPr>
              <a:t>18</a:t>
            </a:r>
          </a:p>
        </p:txBody>
      </p:sp>
      <p:graphicFrame>
        <p:nvGraphicFramePr>
          <p:cNvPr id="10" name="Object 9">
            <a:extLst>
              <a:ext uri="{FF2B5EF4-FFF2-40B4-BE49-F238E27FC236}">
                <a16:creationId xmlns:a16="http://schemas.microsoft.com/office/drawing/2014/main" id="{553D11B6-DE4C-EE79-AB47-0000DF480E91}"/>
              </a:ext>
            </a:extLst>
          </p:cNvPr>
          <p:cNvGraphicFramePr>
            <a:graphicFrameLocks noChangeAspect="1"/>
          </p:cNvGraphicFramePr>
          <p:nvPr>
            <p:extLst>
              <p:ext uri="{D42A27DB-BD31-4B8C-83A1-F6EECF244321}">
                <p14:modId xmlns:p14="http://schemas.microsoft.com/office/powerpoint/2010/main" val="318725128"/>
              </p:ext>
            </p:extLst>
          </p:nvPr>
        </p:nvGraphicFramePr>
        <p:xfrm>
          <a:off x="1828800" y="6399447"/>
          <a:ext cx="7181245" cy="838200"/>
        </p:xfrm>
        <a:graphic>
          <a:graphicData uri="http://schemas.openxmlformats.org/presentationml/2006/ole">
            <mc:AlternateContent xmlns:mc="http://schemas.openxmlformats.org/markup-compatibility/2006">
              <mc:Choice xmlns:v="urn:schemas-microsoft-com:vml" Requires="v">
                <p:oleObj name="Equation" r:id="rId6" imgW="3427413" imgH="400533" progId="Equation.DSMT4">
                  <p:embed/>
                </p:oleObj>
              </mc:Choice>
              <mc:Fallback>
                <p:oleObj name="Equation" r:id="rId6" imgW="3427413" imgH="400533" progId="Equation.DSMT4">
                  <p:embed/>
                  <p:pic>
                    <p:nvPicPr>
                      <p:cNvPr id="0" name=""/>
                      <p:cNvPicPr/>
                      <p:nvPr/>
                    </p:nvPicPr>
                    <p:blipFill>
                      <a:blip r:embed="rId7"/>
                      <a:stretch>
                        <a:fillRect/>
                      </a:stretch>
                    </p:blipFill>
                    <p:spPr>
                      <a:xfrm>
                        <a:off x="1828800" y="6399447"/>
                        <a:ext cx="7181245" cy="838200"/>
                      </a:xfrm>
                      <a:prstGeom prst="rect">
                        <a:avLst/>
                      </a:prstGeom>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15579303" y="714009"/>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a:off x="1024384" y="9529723"/>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a:off x="9600679" y="2888414"/>
            <a:ext cx="8572932" cy="4689038"/>
          </a:xfrm>
          <a:custGeom>
            <a:avLst/>
            <a:gdLst/>
            <a:ahLst/>
            <a:cxnLst/>
            <a:rect l="l" t="t" r="r" b="b"/>
            <a:pathLst>
              <a:path w="8572932" h="4689038">
                <a:moveTo>
                  <a:pt x="0" y="0"/>
                </a:moveTo>
                <a:lnTo>
                  <a:pt x="8572932" y="0"/>
                </a:lnTo>
                <a:lnTo>
                  <a:pt x="8572932" y="4689038"/>
                </a:lnTo>
                <a:lnTo>
                  <a:pt x="0" y="4689038"/>
                </a:lnTo>
                <a:lnTo>
                  <a:pt x="0" y="0"/>
                </a:lnTo>
                <a:close/>
              </a:path>
            </a:pathLst>
          </a:custGeom>
          <a:blipFill>
            <a:blip r:embed="rId5"/>
            <a:stretch>
              <a:fillRect l="-1721" r="-1721"/>
            </a:stretch>
          </a:blipFill>
        </p:spPr>
        <p:txBody>
          <a:bodyPr/>
          <a:lstStyle/>
          <a:p>
            <a:endParaRPr lang="en-US"/>
          </a:p>
        </p:txBody>
      </p:sp>
      <p:sp>
        <p:nvSpPr>
          <p:cNvPr id="6" name="TextBox 6"/>
          <p:cNvSpPr txBox="1"/>
          <p:nvPr/>
        </p:nvSpPr>
        <p:spPr>
          <a:xfrm>
            <a:off x="1024384" y="609234"/>
            <a:ext cx="14072064" cy="920114"/>
          </a:xfrm>
          <a:prstGeom prst="rect">
            <a:avLst/>
          </a:prstGeom>
        </p:spPr>
        <p:txBody>
          <a:bodyPr lIns="0" tIns="0" rIns="0" bIns="0" rtlCol="0" anchor="t">
            <a:spAutoFit/>
          </a:bodyPr>
          <a:lstStyle/>
          <a:p>
            <a:pPr marL="0" lvl="0" indent="0" algn="l">
              <a:lnSpc>
                <a:spcPts val="7560"/>
              </a:lnSpc>
              <a:spcBef>
                <a:spcPct val="0"/>
              </a:spcBef>
            </a:pPr>
            <a:r>
              <a:rPr lang="en-US" sz="5400" b="1" i="1">
                <a:solidFill>
                  <a:srgbClr val="0F4662"/>
                </a:solidFill>
                <a:latin typeface="Montserrat Bold Italics"/>
                <a:ea typeface="Montserrat Bold Italics"/>
                <a:cs typeface="Montserrat Bold Italics"/>
                <a:sym typeface="Montserrat Bold Italics"/>
              </a:rPr>
              <a:t>4. XÂY DỰNG HỆ THỐNG GỢI Ý</a:t>
            </a:r>
          </a:p>
        </p:txBody>
      </p:sp>
      <p:sp>
        <p:nvSpPr>
          <p:cNvPr id="7" name="TextBox 7"/>
          <p:cNvSpPr txBox="1"/>
          <p:nvPr/>
        </p:nvSpPr>
        <p:spPr>
          <a:xfrm>
            <a:off x="1238298" y="1541039"/>
            <a:ext cx="14072064" cy="606424"/>
          </a:xfrm>
          <a:prstGeom prst="rect">
            <a:avLst/>
          </a:prstGeom>
        </p:spPr>
        <p:txBody>
          <a:bodyPr lIns="0" tIns="0" rIns="0" bIns="0" rtlCol="0" anchor="t">
            <a:spAutoFit/>
          </a:bodyPr>
          <a:lstStyle/>
          <a:p>
            <a:pPr marL="0" lvl="0" indent="0" algn="l">
              <a:lnSpc>
                <a:spcPts val="4900"/>
              </a:lnSpc>
              <a:spcBef>
                <a:spcPct val="0"/>
              </a:spcBef>
            </a:pPr>
            <a:r>
              <a:rPr lang="en-US" sz="3500" b="1" i="1">
                <a:solidFill>
                  <a:srgbClr val="0F4662"/>
                </a:solidFill>
                <a:latin typeface="Montserrat Bold Italics"/>
                <a:ea typeface="Montserrat Bold Italics"/>
                <a:cs typeface="Montserrat Bold Italics"/>
                <a:sym typeface="Montserrat Bold Italics"/>
              </a:rPr>
              <a:t>4.4. Chiến lược lai ghép</a:t>
            </a:r>
          </a:p>
        </p:txBody>
      </p:sp>
      <p:sp>
        <p:nvSpPr>
          <p:cNvPr id="8" name="TextBox 8"/>
          <p:cNvSpPr txBox="1"/>
          <p:nvPr/>
        </p:nvSpPr>
        <p:spPr>
          <a:xfrm>
            <a:off x="1238298" y="2654449"/>
            <a:ext cx="8125494" cy="3948694"/>
          </a:xfrm>
          <a:prstGeom prst="rect">
            <a:avLst/>
          </a:prstGeom>
        </p:spPr>
        <p:txBody>
          <a:bodyPr lIns="0" tIns="0" rIns="0" bIns="0" rtlCol="0" anchor="t">
            <a:spAutoFit/>
          </a:bodyPr>
          <a:lstStyle/>
          <a:p>
            <a:pPr algn="just">
              <a:lnSpc>
                <a:spcPts val="3905"/>
              </a:lnSpc>
            </a:pPr>
            <a:r>
              <a:rPr lang="en-US" sz="2789" b="1" i="1">
                <a:solidFill>
                  <a:srgbClr val="0F4662"/>
                </a:solidFill>
                <a:latin typeface="Montserrat Bold Italics"/>
                <a:ea typeface="Montserrat Bold Italics"/>
                <a:cs typeface="Montserrat Bold Italics"/>
                <a:sym typeface="Montserrat Bold Italics"/>
              </a:rPr>
              <a:t>Mục tiêu:</a:t>
            </a:r>
            <a:r>
              <a:rPr lang="en-US" sz="2789">
                <a:solidFill>
                  <a:srgbClr val="0F4662"/>
                </a:solidFill>
                <a:latin typeface="Montserrat"/>
                <a:ea typeface="Montserrat"/>
                <a:cs typeface="Montserrat"/>
                <a:sym typeface="Montserrat"/>
              </a:rPr>
              <a:t> tăng thêm độ chính xác khi gợi ý và giảm Cold Start</a:t>
            </a:r>
          </a:p>
          <a:p>
            <a:pPr algn="just">
              <a:lnSpc>
                <a:spcPts val="3905"/>
              </a:lnSpc>
            </a:pPr>
            <a:r>
              <a:rPr lang="en-US" sz="2789" b="1" i="1">
                <a:solidFill>
                  <a:srgbClr val="0F4662"/>
                </a:solidFill>
                <a:latin typeface="Montserrat Bold Italics"/>
                <a:ea typeface="Montserrat Bold Italics"/>
                <a:cs typeface="Montserrat Bold Italics"/>
                <a:sym typeface="Montserrat Bold Italics"/>
              </a:rPr>
              <a:t>Kĩ thuật:</a:t>
            </a:r>
          </a:p>
          <a:p>
            <a:pPr marL="602280" lvl="1" indent="-301140" algn="just">
              <a:lnSpc>
                <a:spcPts val="3905"/>
              </a:lnSpc>
              <a:buFont typeface="Arial"/>
              <a:buChar char="•"/>
            </a:pPr>
            <a:r>
              <a:rPr lang="en-US" sz="2789">
                <a:solidFill>
                  <a:srgbClr val="0F4662"/>
                </a:solidFill>
                <a:latin typeface="Montserrat"/>
                <a:ea typeface="Montserrat"/>
                <a:cs typeface="Montserrat"/>
                <a:sym typeface="Montserrat"/>
              </a:rPr>
              <a:t>Chuẩn hóa: sử dụng Min-Max Scale đưa score 2 loại về [0;1]</a:t>
            </a:r>
          </a:p>
          <a:p>
            <a:pPr marL="602280" lvl="1" indent="-301140" algn="just">
              <a:lnSpc>
                <a:spcPts val="3905"/>
              </a:lnSpc>
              <a:buFont typeface="Arial"/>
              <a:buChar char="•"/>
            </a:pPr>
            <a:r>
              <a:rPr lang="en-US" sz="2789">
                <a:solidFill>
                  <a:srgbClr val="0F4662"/>
                </a:solidFill>
                <a:latin typeface="Montserrat"/>
                <a:ea typeface="Montserrat"/>
                <a:cs typeface="Montserrat"/>
                <a:sym typeface="Montserrat"/>
              </a:rPr>
              <a:t>Sử dụng chiến lược lai ghép có trọng số </a:t>
            </a:r>
          </a:p>
          <a:p>
            <a:pPr marL="1204560" lvl="2" indent="-401520" algn="just">
              <a:lnSpc>
                <a:spcPts val="3905"/>
              </a:lnSpc>
              <a:buFont typeface="Arial"/>
              <a:buChar char="⚬"/>
            </a:pPr>
            <a:r>
              <a:rPr lang="en-US" sz="2789">
                <a:solidFill>
                  <a:srgbClr val="0F4662"/>
                </a:solidFill>
                <a:latin typeface="Montserrat"/>
                <a:ea typeface="Montserrat"/>
                <a:cs typeface="Montserrat"/>
                <a:sym typeface="Montserrat"/>
              </a:rPr>
              <a:t>Công thức:</a:t>
            </a:r>
          </a:p>
          <a:p>
            <a:pPr algn="just">
              <a:lnSpc>
                <a:spcPts val="3905"/>
              </a:lnSpc>
            </a:pPr>
            <a:endParaRPr lang="en-US" sz="2789">
              <a:solidFill>
                <a:srgbClr val="0F4662"/>
              </a:solidFill>
              <a:latin typeface="Montserrat"/>
              <a:ea typeface="Montserrat"/>
              <a:cs typeface="Montserrat"/>
              <a:sym typeface="Montserrat"/>
            </a:endParaRPr>
          </a:p>
        </p:txBody>
      </p:sp>
      <p:sp>
        <p:nvSpPr>
          <p:cNvPr id="9" name="TextBox 9"/>
          <p:cNvSpPr txBox="1"/>
          <p:nvPr/>
        </p:nvSpPr>
        <p:spPr>
          <a:xfrm>
            <a:off x="1238298" y="7364201"/>
            <a:ext cx="8125494" cy="976894"/>
          </a:xfrm>
          <a:prstGeom prst="rect">
            <a:avLst/>
          </a:prstGeom>
        </p:spPr>
        <p:txBody>
          <a:bodyPr lIns="0" tIns="0" rIns="0" bIns="0" rtlCol="0" anchor="t">
            <a:spAutoFit/>
          </a:bodyPr>
          <a:lstStyle/>
          <a:p>
            <a:pPr algn="just">
              <a:lnSpc>
                <a:spcPts val="3905"/>
              </a:lnSpc>
            </a:pPr>
            <a:r>
              <a:rPr lang="en-US" sz="2789" b="1" i="1">
                <a:solidFill>
                  <a:srgbClr val="0F4662"/>
                </a:solidFill>
                <a:latin typeface="Montserrat Bold Italics"/>
                <a:ea typeface="Montserrat Bold Italics"/>
                <a:cs typeface="Montserrat Bold Italics"/>
                <a:sym typeface="Montserrat Bold Italics"/>
              </a:rPr>
              <a:t>Kết quả:</a:t>
            </a:r>
            <a:r>
              <a:rPr lang="en-US" sz="2789">
                <a:solidFill>
                  <a:srgbClr val="0F4662"/>
                </a:solidFill>
                <a:latin typeface="Montserrat"/>
                <a:ea typeface="Montserrat"/>
                <a:cs typeface="Montserrat"/>
                <a:sym typeface="Montserrat"/>
              </a:rPr>
              <a:t> Cân bằng giữa xu hướng cộng đồng và sở thích cá nhân.</a:t>
            </a:r>
          </a:p>
        </p:txBody>
      </p:sp>
      <p:sp>
        <p:nvSpPr>
          <p:cNvPr id="10" name="TextBox 10"/>
          <p:cNvSpPr txBox="1"/>
          <p:nvPr/>
        </p:nvSpPr>
        <p:spPr>
          <a:xfrm>
            <a:off x="17673011" y="9509200"/>
            <a:ext cx="341352" cy="446404"/>
          </a:xfrm>
          <a:prstGeom prst="rect">
            <a:avLst/>
          </a:prstGeom>
        </p:spPr>
        <p:txBody>
          <a:bodyPr lIns="0" tIns="0" rIns="0" bIns="0" rtlCol="0" anchor="t">
            <a:spAutoFit/>
          </a:bodyPr>
          <a:lstStyle/>
          <a:p>
            <a:pPr algn="ctr">
              <a:lnSpc>
                <a:spcPts val="3831"/>
              </a:lnSpc>
              <a:spcBef>
                <a:spcPct val="0"/>
              </a:spcBef>
            </a:pPr>
            <a:r>
              <a:rPr lang="en-US" sz="2554" b="1" dirty="0">
                <a:solidFill>
                  <a:srgbClr val="0F4662"/>
                </a:solidFill>
                <a:latin typeface="Montserrat Bold"/>
                <a:ea typeface="Montserrat Bold"/>
                <a:cs typeface="Montserrat Bold"/>
                <a:sym typeface="Montserrat Bold"/>
              </a:rPr>
              <a:t>19</a:t>
            </a:r>
          </a:p>
        </p:txBody>
      </p:sp>
      <p:graphicFrame>
        <p:nvGraphicFramePr>
          <p:cNvPr id="11" name="Object 10">
            <a:extLst>
              <a:ext uri="{FF2B5EF4-FFF2-40B4-BE49-F238E27FC236}">
                <a16:creationId xmlns:a16="http://schemas.microsoft.com/office/drawing/2014/main" id="{CD619EF2-F06F-4582-A86E-9D1805105405}"/>
              </a:ext>
            </a:extLst>
          </p:cNvPr>
          <p:cNvGraphicFramePr>
            <a:graphicFrameLocks noChangeAspect="1"/>
          </p:cNvGraphicFramePr>
          <p:nvPr>
            <p:extLst>
              <p:ext uri="{D42A27DB-BD31-4B8C-83A1-F6EECF244321}">
                <p14:modId xmlns:p14="http://schemas.microsoft.com/office/powerpoint/2010/main" val="1100181062"/>
              </p:ext>
            </p:extLst>
          </p:nvPr>
        </p:nvGraphicFramePr>
        <p:xfrm>
          <a:off x="1828800" y="6295978"/>
          <a:ext cx="7137918" cy="614329"/>
        </p:xfrm>
        <a:graphic>
          <a:graphicData uri="http://schemas.openxmlformats.org/presentationml/2006/ole">
            <mc:AlternateContent xmlns:mc="http://schemas.openxmlformats.org/markup-compatibility/2006">
              <mc:Choice xmlns:v="urn:schemas-microsoft-com:vml" Requires="v">
                <p:oleObj name="Equation" r:id="rId6" imgW="3098520" imgH="266400" progId="Equation.DSMT4">
                  <p:embed/>
                </p:oleObj>
              </mc:Choice>
              <mc:Fallback>
                <p:oleObj name="Equation" r:id="rId6" imgW="3098520" imgH="266400" progId="Equation.DSMT4">
                  <p:embed/>
                  <p:pic>
                    <p:nvPicPr>
                      <p:cNvPr id="0" name=""/>
                      <p:cNvPicPr/>
                      <p:nvPr/>
                    </p:nvPicPr>
                    <p:blipFill>
                      <a:blip r:embed="rId7"/>
                      <a:stretch>
                        <a:fillRect/>
                      </a:stretch>
                    </p:blipFill>
                    <p:spPr>
                      <a:xfrm>
                        <a:off x="1828800" y="6295978"/>
                        <a:ext cx="7137918" cy="614329"/>
                      </a:xfrm>
                      <a:prstGeom prst="rect">
                        <a:avLst/>
                      </a:prstGeom>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15579303" y="714009"/>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a:off x="1024384" y="9529723"/>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TextBox 4"/>
          <p:cNvSpPr txBox="1"/>
          <p:nvPr/>
        </p:nvSpPr>
        <p:spPr>
          <a:xfrm>
            <a:off x="1238298" y="2590012"/>
            <a:ext cx="8297205" cy="3948694"/>
          </a:xfrm>
          <a:prstGeom prst="rect">
            <a:avLst/>
          </a:prstGeom>
        </p:spPr>
        <p:txBody>
          <a:bodyPr lIns="0" tIns="0" rIns="0" bIns="0" rtlCol="0" anchor="t">
            <a:spAutoFit/>
          </a:bodyPr>
          <a:lstStyle/>
          <a:p>
            <a:pPr algn="just">
              <a:lnSpc>
                <a:spcPts val="3905"/>
              </a:lnSpc>
            </a:pPr>
            <a:r>
              <a:rPr lang="en-US" sz="2789" b="1" i="1" dirty="0" err="1">
                <a:solidFill>
                  <a:srgbClr val="0F4662"/>
                </a:solidFill>
                <a:latin typeface="Montserrat Bold Italics"/>
                <a:ea typeface="Montserrat Bold Italics"/>
                <a:cs typeface="Montserrat Bold Italics"/>
                <a:sym typeface="Montserrat Bold Italics"/>
              </a:rPr>
              <a:t>Vấn</a:t>
            </a:r>
            <a:r>
              <a:rPr lang="en-US" sz="2789" b="1" i="1" dirty="0">
                <a:solidFill>
                  <a:srgbClr val="0F4662"/>
                </a:solidFill>
                <a:latin typeface="Montserrat Bold Italics"/>
                <a:ea typeface="Montserrat Bold Italics"/>
                <a:cs typeface="Montserrat Bold Italics"/>
                <a:sym typeface="Montserrat Bold Italics"/>
              </a:rPr>
              <a:t> </a:t>
            </a:r>
            <a:r>
              <a:rPr lang="en-US" sz="2789" b="1" i="1" dirty="0" err="1">
                <a:solidFill>
                  <a:srgbClr val="0F4662"/>
                </a:solidFill>
                <a:latin typeface="Montserrat Bold Italics"/>
                <a:ea typeface="Montserrat Bold Italics"/>
                <a:cs typeface="Montserrat Bold Italics"/>
                <a:sym typeface="Montserrat Bold Italics"/>
              </a:rPr>
              <a:t>đề</a:t>
            </a:r>
            <a:r>
              <a:rPr lang="en-US" sz="2789" b="1" i="1" dirty="0">
                <a:solidFill>
                  <a:srgbClr val="0F4662"/>
                </a:solidFill>
                <a:latin typeface="Montserrat Bold Italics"/>
                <a:ea typeface="Montserrat Bold Italics"/>
                <a:cs typeface="Montserrat Bold Italics"/>
                <a:sym typeface="Montserrat Bold Italics"/>
              </a:rPr>
              <a:t>:</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Độ</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khó</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tĩnh</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thường</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chủ</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quan</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chưa</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sát</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thực</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tế</a:t>
            </a:r>
            <a:endParaRPr lang="en-US" sz="2789" dirty="0">
              <a:solidFill>
                <a:srgbClr val="0F4662"/>
              </a:solidFill>
              <a:latin typeface="Montserrat"/>
              <a:ea typeface="Montserrat"/>
              <a:cs typeface="Montserrat"/>
              <a:sym typeface="Montserrat"/>
            </a:endParaRPr>
          </a:p>
          <a:p>
            <a:pPr algn="just">
              <a:lnSpc>
                <a:spcPts val="3905"/>
              </a:lnSpc>
            </a:pPr>
            <a:r>
              <a:rPr lang="en-US" sz="2789" b="1" i="1" dirty="0" err="1">
                <a:solidFill>
                  <a:srgbClr val="0F4662"/>
                </a:solidFill>
                <a:latin typeface="Montserrat Bold Italics"/>
                <a:ea typeface="Montserrat Bold Italics"/>
                <a:cs typeface="Montserrat Bold Italics"/>
                <a:sym typeface="Montserrat Bold Italics"/>
              </a:rPr>
              <a:t>Giải</a:t>
            </a:r>
            <a:r>
              <a:rPr lang="en-US" sz="2789" b="1" i="1" dirty="0">
                <a:solidFill>
                  <a:srgbClr val="0F4662"/>
                </a:solidFill>
                <a:latin typeface="Montserrat Bold Italics"/>
                <a:ea typeface="Montserrat Bold Italics"/>
                <a:cs typeface="Montserrat Bold Italics"/>
                <a:sym typeface="Montserrat Bold Italics"/>
              </a:rPr>
              <a:t> </a:t>
            </a:r>
            <a:r>
              <a:rPr lang="en-US" sz="2789" b="1" i="1" dirty="0" err="1">
                <a:solidFill>
                  <a:srgbClr val="0F4662"/>
                </a:solidFill>
                <a:latin typeface="Montserrat Bold Italics"/>
                <a:ea typeface="Montserrat Bold Italics"/>
                <a:cs typeface="Montserrat Bold Italics"/>
                <a:sym typeface="Montserrat Bold Italics"/>
              </a:rPr>
              <a:t>pháp</a:t>
            </a:r>
            <a:r>
              <a:rPr lang="en-US" sz="2789" b="1" i="1" dirty="0">
                <a:solidFill>
                  <a:srgbClr val="0F4662"/>
                </a:solidFill>
                <a:latin typeface="Montserrat Bold Italics"/>
                <a:ea typeface="Montserrat Bold Italics"/>
                <a:cs typeface="Montserrat Bold Italics"/>
                <a:sym typeface="Montserrat Bold Italics"/>
              </a:rPr>
              <a:t> </a:t>
            </a:r>
            <a:r>
              <a:rPr lang="en-US" sz="2789" b="1" i="1" dirty="0" err="1">
                <a:solidFill>
                  <a:srgbClr val="0F4662"/>
                </a:solidFill>
                <a:latin typeface="Montserrat Bold Italics"/>
                <a:ea typeface="Montserrat Bold Italics"/>
                <a:cs typeface="Montserrat Bold Italics"/>
                <a:sym typeface="Montserrat Bold Italics"/>
              </a:rPr>
              <a:t>elo</a:t>
            </a:r>
            <a:r>
              <a:rPr lang="en-US" sz="2789" b="1" i="1" dirty="0">
                <a:solidFill>
                  <a:srgbClr val="0F4662"/>
                </a:solidFill>
                <a:latin typeface="Montserrat Bold Italics"/>
                <a:ea typeface="Montserrat Bold Italics"/>
                <a:cs typeface="Montserrat Bold Italics"/>
                <a:sym typeface="Montserrat Bold Italics"/>
              </a:rPr>
              <a:t>:</a:t>
            </a:r>
          </a:p>
          <a:p>
            <a:pPr marL="602280" lvl="1" indent="-301140" algn="just">
              <a:lnSpc>
                <a:spcPts val="3905"/>
              </a:lnSpc>
              <a:buFont typeface="Arial"/>
              <a:buChar char="•"/>
            </a:pPr>
            <a:r>
              <a:rPr lang="en-US" sz="2789" dirty="0" err="1">
                <a:solidFill>
                  <a:srgbClr val="0F4662"/>
                </a:solidFill>
                <a:latin typeface="Montserrat"/>
                <a:ea typeface="Montserrat"/>
                <a:cs typeface="Montserrat"/>
                <a:sym typeface="Montserrat"/>
              </a:rPr>
              <a:t>Cập</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nhật</a:t>
            </a:r>
            <a:r>
              <a:rPr lang="en-US" sz="2789" dirty="0">
                <a:solidFill>
                  <a:srgbClr val="0F4662"/>
                </a:solidFill>
                <a:latin typeface="Montserrat"/>
                <a:ea typeface="Montserrat"/>
                <a:cs typeface="Montserrat"/>
                <a:sym typeface="Montserrat"/>
              </a:rPr>
              <a:t> Rating </a:t>
            </a:r>
            <a:r>
              <a:rPr lang="en-US" sz="2789" dirty="0" err="1">
                <a:solidFill>
                  <a:srgbClr val="0F4662"/>
                </a:solidFill>
                <a:latin typeface="Montserrat"/>
                <a:ea typeface="Montserrat"/>
                <a:cs typeface="Montserrat"/>
                <a:sym typeface="Montserrat"/>
              </a:rPr>
              <a:t>độ</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khó</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của</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bài</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tập</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dựa</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trên</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elo</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của</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người</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giải</a:t>
            </a:r>
            <a:endParaRPr lang="en-US" sz="2789" dirty="0">
              <a:solidFill>
                <a:srgbClr val="0F4662"/>
              </a:solidFill>
              <a:latin typeface="Montserrat"/>
              <a:ea typeface="Montserrat"/>
              <a:cs typeface="Montserrat"/>
              <a:sym typeface="Montserrat"/>
            </a:endParaRPr>
          </a:p>
          <a:p>
            <a:pPr marL="1204560" lvl="2" indent="-401520" algn="just">
              <a:lnSpc>
                <a:spcPts val="3905"/>
              </a:lnSpc>
              <a:buFont typeface="Arial"/>
              <a:buChar char="⚬"/>
            </a:pPr>
            <a:r>
              <a:rPr lang="en-US" sz="2789" dirty="0">
                <a:solidFill>
                  <a:srgbClr val="0F4662"/>
                </a:solidFill>
                <a:latin typeface="Montserrat"/>
                <a:ea typeface="Montserrat"/>
                <a:cs typeface="Montserrat"/>
                <a:sym typeface="Montserrat"/>
              </a:rPr>
              <a:t>Công </a:t>
            </a:r>
            <a:r>
              <a:rPr lang="en-US" sz="2789" dirty="0" err="1">
                <a:solidFill>
                  <a:srgbClr val="0F4662"/>
                </a:solidFill>
                <a:latin typeface="Montserrat"/>
                <a:ea typeface="Montserrat"/>
                <a:cs typeface="Montserrat"/>
                <a:sym typeface="Montserrat"/>
              </a:rPr>
              <a:t>thức</a:t>
            </a:r>
            <a:r>
              <a:rPr lang="en-US" sz="2789" dirty="0">
                <a:solidFill>
                  <a:srgbClr val="0F4662"/>
                </a:solidFill>
                <a:latin typeface="Montserrat"/>
                <a:ea typeface="Montserrat"/>
                <a:cs typeface="Montserrat"/>
                <a:sym typeface="Montserrat"/>
              </a:rPr>
              <a:t> </a:t>
            </a:r>
            <a:r>
              <a:rPr lang="en-US" sz="2789" dirty="0" err="1">
                <a:solidFill>
                  <a:srgbClr val="0F4662"/>
                </a:solidFill>
                <a:latin typeface="Montserrat"/>
                <a:ea typeface="Montserrat"/>
                <a:cs typeface="Montserrat"/>
                <a:sym typeface="Montserrat"/>
              </a:rPr>
              <a:t>elo</a:t>
            </a:r>
            <a:r>
              <a:rPr lang="en-US" sz="2789" dirty="0">
                <a:solidFill>
                  <a:srgbClr val="0F4662"/>
                </a:solidFill>
                <a:latin typeface="Montserrat"/>
                <a:ea typeface="Montserrat"/>
                <a:cs typeface="Montserrat"/>
                <a:sym typeface="Montserrat"/>
              </a:rPr>
              <a:t>:</a:t>
            </a:r>
          </a:p>
          <a:p>
            <a:pPr marL="1204560" lvl="2" indent="-401520" algn="just">
              <a:lnSpc>
                <a:spcPts val="3905"/>
              </a:lnSpc>
              <a:buFont typeface="Arial"/>
              <a:buChar char="⚬"/>
            </a:pPr>
            <a:r>
              <a:rPr lang="en-US" sz="2789" dirty="0">
                <a:solidFill>
                  <a:srgbClr val="0F4662"/>
                </a:solidFill>
                <a:latin typeface="Montserrat"/>
                <a:ea typeface="Montserrat"/>
                <a:cs typeface="Montserrat"/>
                <a:sym typeface="Montserrat"/>
              </a:rPr>
              <a:t>Trong </a:t>
            </a:r>
            <a:r>
              <a:rPr lang="en-US" sz="2789" dirty="0" err="1">
                <a:solidFill>
                  <a:srgbClr val="0F4662"/>
                </a:solidFill>
                <a:latin typeface="Montserrat"/>
                <a:ea typeface="Montserrat"/>
                <a:cs typeface="Montserrat"/>
                <a:sym typeface="Montserrat"/>
              </a:rPr>
              <a:t>đó</a:t>
            </a:r>
            <a:r>
              <a:rPr lang="en-US" sz="2789" dirty="0">
                <a:solidFill>
                  <a:srgbClr val="0F4662"/>
                </a:solidFill>
                <a:latin typeface="Montserrat"/>
                <a:ea typeface="Montserrat"/>
                <a:cs typeface="Montserrat"/>
                <a:sym typeface="Montserrat"/>
              </a:rPr>
              <a:t>: </a:t>
            </a:r>
          </a:p>
          <a:p>
            <a:pPr algn="just">
              <a:lnSpc>
                <a:spcPts val="3905"/>
              </a:lnSpc>
            </a:pPr>
            <a:endParaRPr lang="en-US" sz="2789" dirty="0">
              <a:solidFill>
                <a:srgbClr val="0F4662"/>
              </a:solidFill>
              <a:latin typeface="Montserrat"/>
              <a:ea typeface="Montserrat"/>
              <a:cs typeface="Montserrat"/>
              <a:sym typeface="Montserrat"/>
            </a:endParaRPr>
          </a:p>
        </p:txBody>
      </p:sp>
      <p:sp>
        <p:nvSpPr>
          <p:cNvPr id="7" name="Freeform 7"/>
          <p:cNvSpPr/>
          <p:nvPr/>
        </p:nvSpPr>
        <p:spPr>
          <a:xfrm>
            <a:off x="9738504" y="2776211"/>
            <a:ext cx="8307516" cy="5254504"/>
          </a:xfrm>
          <a:custGeom>
            <a:avLst/>
            <a:gdLst/>
            <a:ahLst/>
            <a:cxnLst/>
            <a:rect l="l" t="t" r="r" b="b"/>
            <a:pathLst>
              <a:path w="8307516" h="5254504">
                <a:moveTo>
                  <a:pt x="0" y="0"/>
                </a:moveTo>
                <a:lnTo>
                  <a:pt x="8307516" y="0"/>
                </a:lnTo>
                <a:lnTo>
                  <a:pt x="8307516" y="5254503"/>
                </a:lnTo>
                <a:lnTo>
                  <a:pt x="0" y="5254503"/>
                </a:lnTo>
                <a:lnTo>
                  <a:pt x="0" y="0"/>
                </a:lnTo>
                <a:close/>
              </a:path>
            </a:pathLst>
          </a:custGeom>
          <a:blipFill>
            <a:blip r:embed="rId5"/>
            <a:stretch>
              <a:fillRect/>
            </a:stretch>
          </a:blipFill>
        </p:spPr>
        <p:txBody>
          <a:bodyPr/>
          <a:lstStyle/>
          <a:p>
            <a:endParaRPr lang="en-US"/>
          </a:p>
        </p:txBody>
      </p:sp>
      <p:sp>
        <p:nvSpPr>
          <p:cNvPr id="8" name="TextBox 8"/>
          <p:cNvSpPr txBox="1"/>
          <p:nvPr/>
        </p:nvSpPr>
        <p:spPr>
          <a:xfrm>
            <a:off x="1024384" y="609234"/>
            <a:ext cx="14072064" cy="920114"/>
          </a:xfrm>
          <a:prstGeom prst="rect">
            <a:avLst/>
          </a:prstGeom>
        </p:spPr>
        <p:txBody>
          <a:bodyPr lIns="0" tIns="0" rIns="0" bIns="0" rtlCol="0" anchor="t">
            <a:spAutoFit/>
          </a:bodyPr>
          <a:lstStyle/>
          <a:p>
            <a:pPr marL="0" lvl="0" indent="0" algn="l">
              <a:lnSpc>
                <a:spcPts val="7560"/>
              </a:lnSpc>
              <a:spcBef>
                <a:spcPct val="0"/>
              </a:spcBef>
            </a:pPr>
            <a:r>
              <a:rPr lang="en-US" sz="5400" b="1" i="1">
                <a:solidFill>
                  <a:srgbClr val="0F4662"/>
                </a:solidFill>
                <a:latin typeface="Montserrat Bold Italics"/>
                <a:ea typeface="Montserrat Bold Italics"/>
                <a:cs typeface="Montserrat Bold Italics"/>
                <a:sym typeface="Montserrat Bold Italics"/>
              </a:rPr>
              <a:t>4. XÂY DỰNG HỆ THỐNG GỢI Ý</a:t>
            </a:r>
          </a:p>
        </p:txBody>
      </p:sp>
      <p:sp>
        <p:nvSpPr>
          <p:cNvPr id="9" name="TextBox 9"/>
          <p:cNvSpPr txBox="1"/>
          <p:nvPr/>
        </p:nvSpPr>
        <p:spPr>
          <a:xfrm>
            <a:off x="1238298" y="1541039"/>
            <a:ext cx="14072064" cy="606424"/>
          </a:xfrm>
          <a:prstGeom prst="rect">
            <a:avLst/>
          </a:prstGeom>
        </p:spPr>
        <p:txBody>
          <a:bodyPr lIns="0" tIns="0" rIns="0" bIns="0" rtlCol="0" anchor="t">
            <a:spAutoFit/>
          </a:bodyPr>
          <a:lstStyle/>
          <a:p>
            <a:pPr marL="0" lvl="0" indent="0" algn="l">
              <a:lnSpc>
                <a:spcPts val="4900"/>
              </a:lnSpc>
              <a:spcBef>
                <a:spcPct val="0"/>
              </a:spcBef>
            </a:pPr>
            <a:r>
              <a:rPr lang="en-US" sz="3500" b="1" i="1">
                <a:solidFill>
                  <a:srgbClr val="0F4662"/>
                </a:solidFill>
                <a:latin typeface="Montserrat Bold Italics"/>
                <a:ea typeface="Montserrat Bold Italics"/>
                <a:cs typeface="Montserrat Bold Italics"/>
                <a:sym typeface="Montserrat Bold Italics"/>
              </a:rPr>
              <a:t>4.4. Đánh giá độ khó động cho bài tập</a:t>
            </a:r>
          </a:p>
        </p:txBody>
      </p:sp>
      <p:sp>
        <p:nvSpPr>
          <p:cNvPr id="10" name="TextBox 10"/>
          <p:cNvSpPr txBox="1"/>
          <p:nvPr/>
        </p:nvSpPr>
        <p:spPr>
          <a:xfrm>
            <a:off x="1324153" y="7697576"/>
            <a:ext cx="8125494" cy="976894"/>
          </a:xfrm>
          <a:prstGeom prst="rect">
            <a:avLst/>
          </a:prstGeom>
        </p:spPr>
        <p:txBody>
          <a:bodyPr lIns="0" tIns="0" rIns="0" bIns="0" rtlCol="0" anchor="t">
            <a:spAutoFit/>
          </a:bodyPr>
          <a:lstStyle/>
          <a:p>
            <a:pPr algn="just">
              <a:lnSpc>
                <a:spcPts val="3905"/>
              </a:lnSpc>
            </a:pPr>
            <a:r>
              <a:rPr lang="en-US" sz="2789" b="1" i="1">
                <a:solidFill>
                  <a:srgbClr val="0F4662"/>
                </a:solidFill>
                <a:latin typeface="Montserrat Bold Italics"/>
                <a:ea typeface="Montserrat Bold Italics"/>
                <a:cs typeface="Montserrat Bold Italics"/>
                <a:sym typeface="Montserrat Bold Italics"/>
              </a:rPr>
              <a:t>Kết quả:</a:t>
            </a:r>
            <a:r>
              <a:rPr lang="en-US" sz="2789">
                <a:solidFill>
                  <a:srgbClr val="0F4662"/>
                </a:solidFill>
                <a:latin typeface="Montserrat"/>
                <a:ea typeface="Montserrat"/>
                <a:cs typeface="Montserrat"/>
                <a:sym typeface="Montserrat"/>
              </a:rPr>
              <a:t> Bài tập luôn được gợi ý phù hợp với người học.</a:t>
            </a:r>
          </a:p>
        </p:txBody>
      </p:sp>
      <p:sp>
        <p:nvSpPr>
          <p:cNvPr id="11" name="TextBox 11"/>
          <p:cNvSpPr txBox="1"/>
          <p:nvPr/>
        </p:nvSpPr>
        <p:spPr>
          <a:xfrm>
            <a:off x="17676761" y="9509200"/>
            <a:ext cx="458839" cy="446404"/>
          </a:xfrm>
          <a:prstGeom prst="rect">
            <a:avLst/>
          </a:prstGeom>
        </p:spPr>
        <p:txBody>
          <a:bodyPr wrap="square" lIns="0" tIns="0" rIns="0" bIns="0" rtlCol="0" anchor="t">
            <a:spAutoFit/>
          </a:bodyPr>
          <a:lstStyle/>
          <a:p>
            <a:pPr algn="ctr">
              <a:lnSpc>
                <a:spcPts val="3831"/>
              </a:lnSpc>
              <a:spcBef>
                <a:spcPct val="0"/>
              </a:spcBef>
            </a:pPr>
            <a:r>
              <a:rPr lang="en-US" sz="2554" b="1" dirty="0">
                <a:solidFill>
                  <a:srgbClr val="0F4662"/>
                </a:solidFill>
                <a:latin typeface="Montserrat Bold"/>
                <a:ea typeface="Montserrat Bold"/>
                <a:cs typeface="Montserrat Bold"/>
                <a:sym typeface="Montserrat Bold"/>
              </a:rPr>
              <a:t>20</a:t>
            </a:r>
          </a:p>
        </p:txBody>
      </p:sp>
      <p:graphicFrame>
        <p:nvGraphicFramePr>
          <p:cNvPr id="12" name="Object 11">
            <a:extLst>
              <a:ext uri="{FF2B5EF4-FFF2-40B4-BE49-F238E27FC236}">
                <a16:creationId xmlns:a16="http://schemas.microsoft.com/office/drawing/2014/main" id="{6BD9E427-DD16-FADD-2560-B09B1F504E6C}"/>
              </a:ext>
            </a:extLst>
          </p:cNvPr>
          <p:cNvGraphicFramePr>
            <a:graphicFrameLocks noChangeAspect="1"/>
          </p:cNvGraphicFramePr>
          <p:nvPr>
            <p:extLst>
              <p:ext uri="{D42A27DB-BD31-4B8C-83A1-F6EECF244321}">
                <p14:modId xmlns:p14="http://schemas.microsoft.com/office/powerpoint/2010/main" val="407136329"/>
              </p:ext>
            </p:extLst>
          </p:nvPr>
        </p:nvGraphicFramePr>
        <p:xfrm>
          <a:off x="5410200" y="5051663"/>
          <a:ext cx="3288364" cy="561428"/>
        </p:xfrm>
        <a:graphic>
          <a:graphicData uri="http://schemas.openxmlformats.org/presentationml/2006/ole">
            <mc:AlternateContent xmlns:mc="http://schemas.openxmlformats.org/markup-compatibility/2006">
              <mc:Choice xmlns:v="urn:schemas-microsoft-com:vml" Requires="v">
                <p:oleObj name="Equation" r:id="rId6" imgW="1561317" imgH="267142" progId="Equation.DSMT4">
                  <p:embed/>
                </p:oleObj>
              </mc:Choice>
              <mc:Fallback>
                <p:oleObj name="Equation" r:id="rId6" imgW="1561317" imgH="267142" progId="Equation.DSMT4">
                  <p:embed/>
                  <p:pic>
                    <p:nvPicPr>
                      <p:cNvPr id="0" name=""/>
                      <p:cNvPicPr/>
                      <p:nvPr/>
                    </p:nvPicPr>
                    <p:blipFill>
                      <a:blip r:embed="rId7"/>
                      <a:stretch>
                        <a:fillRect/>
                      </a:stretch>
                    </p:blipFill>
                    <p:spPr>
                      <a:xfrm>
                        <a:off x="5410200" y="5051663"/>
                        <a:ext cx="3288364" cy="561428"/>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E9FFCBF8-1AD2-CD55-D78B-4ECE14D69B0F}"/>
              </a:ext>
            </a:extLst>
          </p:cNvPr>
          <p:cNvGraphicFramePr>
            <a:graphicFrameLocks noChangeAspect="1"/>
          </p:cNvGraphicFramePr>
          <p:nvPr>
            <p:extLst>
              <p:ext uri="{D42A27DB-BD31-4B8C-83A1-F6EECF244321}">
                <p14:modId xmlns:p14="http://schemas.microsoft.com/office/powerpoint/2010/main" val="900521749"/>
              </p:ext>
            </p:extLst>
          </p:nvPr>
        </p:nvGraphicFramePr>
        <p:xfrm>
          <a:off x="4038600" y="5996137"/>
          <a:ext cx="2971800" cy="1551648"/>
        </p:xfrm>
        <a:graphic>
          <a:graphicData uri="http://schemas.openxmlformats.org/presentationml/2006/ole">
            <mc:AlternateContent xmlns:mc="http://schemas.openxmlformats.org/markup-compatibility/2006">
              <mc:Choice xmlns:v="urn:schemas-microsoft-com:vml" Requires="v">
                <p:oleObj name="Equation" r:id="rId8" imgW="1075902" imgH="562766" progId="Equation.DSMT4">
                  <p:embed/>
                </p:oleObj>
              </mc:Choice>
              <mc:Fallback>
                <p:oleObj name="Equation" r:id="rId8" imgW="1075902" imgH="562766" progId="Equation.DSMT4">
                  <p:embed/>
                  <p:pic>
                    <p:nvPicPr>
                      <p:cNvPr id="0" name=""/>
                      <p:cNvPicPr/>
                      <p:nvPr/>
                    </p:nvPicPr>
                    <p:blipFill>
                      <a:blip r:embed="rId9"/>
                      <a:stretch>
                        <a:fillRect/>
                      </a:stretch>
                    </p:blipFill>
                    <p:spPr>
                      <a:xfrm>
                        <a:off x="4038600" y="5996137"/>
                        <a:ext cx="2971800" cy="1551648"/>
                      </a:xfrm>
                      <a:prstGeom prst="rect">
                        <a:avLst/>
                      </a:prstGeom>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579303" y="714009"/>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a:off x="1024384" y="9529723"/>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1864383" y="3874885"/>
            <a:ext cx="14219263" cy="4452630"/>
          </a:xfrm>
          <a:custGeom>
            <a:avLst/>
            <a:gdLst/>
            <a:ahLst/>
            <a:cxnLst/>
            <a:rect l="l" t="t" r="r" b="b"/>
            <a:pathLst>
              <a:path w="14219263" h="4452630">
                <a:moveTo>
                  <a:pt x="0" y="0"/>
                </a:moveTo>
                <a:lnTo>
                  <a:pt x="14219263" y="0"/>
                </a:lnTo>
                <a:lnTo>
                  <a:pt x="14219263" y="4452630"/>
                </a:lnTo>
                <a:lnTo>
                  <a:pt x="0" y="4452630"/>
                </a:lnTo>
                <a:lnTo>
                  <a:pt x="0" y="0"/>
                </a:lnTo>
                <a:close/>
              </a:path>
            </a:pathLst>
          </a:custGeom>
          <a:blipFill>
            <a:blip r:embed="rId5"/>
            <a:stretch>
              <a:fillRect/>
            </a:stretch>
          </a:blipFill>
        </p:spPr>
        <p:txBody>
          <a:bodyPr/>
          <a:lstStyle/>
          <a:p>
            <a:endParaRPr lang="en-US"/>
          </a:p>
        </p:txBody>
      </p:sp>
      <p:sp>
        <p:nvSpPr>
          <p:cNvPr id="5" name="TextBox 5"/>
          <p:cNvSpPr txBox="1"/>
          <p:nvPr/>
        </p:nvSpPr>
        <p:spPr>
          <a:xfrm>
            <a:off x="1024384" y="609234"/>
            <a:ext cx="14072064" cy="920114"/>
          </a:xfrm>
          <a:prstGeom prst="rect">
            <a:avLst/>
          </a:prstGeom>
        </p:spPr>
        <p:txBody>
          <a:bodyPr lIns="0" tIns="0" rIns="0" bIns="0" rtlCol="0" anchor="t">
            <a:spAutoFit/>
          </a:bodyPr>
          <a:lstStyle/>
          <a:p>
            <a:pPr marL="0" lvl="0" indent="0" algn="l">
              <a:lnSpc>
                <a:spcPts val="7560"/>
              </a:lnSpc>
              <a:spcBef>
                <a:spcPct val="0"/>
              </a:spcBef>
            </a:pPr>
            <a:r>
              <a:rPr lang="en-US" sz="5400" b="1" i="1">
                <a:solidFill>
                  <a:srgbClr val="0F4662"/>
                </a:solidFill>
                <a:latin typeface="Montserrat Bold Italics"/>
                <a:ea typeface="Montserrat Bold Italics"/>
                <a:cs typeface="Montserrat Bold Italics"/>
                <a:sym typeface="Montserrat Bold Italics"/>
              </a:rPr>
              <a:t>4. XÂY DỰNG HỆ THỐNG GỢI Ý</a:t>
            </a:r>
          </a:p>
        </p:txBody>
      </p:sp>
      <p:sp>
        <p:nvSpPr>
          <p:cNvPr id="6" name="TextBox 6"/>
          <p:cNvSpPr txBox="1"/>
          <p:nvPr/>
        </p:nvSpPr>
        <p:spPr>
          <a:xfrm>
            <a:off x="1238298" y="1541039"/>
            <a:ext cx="14072064" cy="606424"/>
          </a:xfrm>
          <a:prstGeom prst="rect">
            <a:avLst/>
          </a:prstGeom>
        </p:spPr>
        <p:txBody>
          <a:bodyPr lIns="0" tIns="0" rIns="0" bIns="0" rtlCol="0" anchor="t">
            <a:spAutoFit/>
          </a:bodyPr>
          <a:lstStyle/>
          <a:p>
            <a:pPr marL="0" lvl="0" indent="0" algn="l">
              <a:lnSpc>
                <a:spcPts val="4900"/>
              </a:lnSpc>
              <a:spcBef>
                <a:spcPct val="0"/>
              </a:spcBef>
            </a:pPr>
            <a:r>
              <a:rPr lang="en-US" sz="3500" b="1" i="1">
                <a:solidFill>
                  <a:srgbClr val="0F4662"/>
                </a:solidFill>
                <a:latin typeface="Montserrat Bold Italics"/>
                <a:ea typeface="Montserrat Bold Italics"/>
                <a:cs typeface="Montserrat Bold Italics"/>
                <a:sym typeface="Montserrat Bold Italics"/>
              </a:rPr>
              <a:t>4.5. Kết quả đạt được</a:t>
            </a:r>
          </a:p>
        </p:txBody>
      </p:sp>
      <p:sp>
        <p:nvSpPr>
          <p:cNvPr id="7" name="TextBox 7"/>
          <p:cNvSpPr txBox="1"/>
          <p:nvPr/>
        </p:nvSpPr>
        <p:spPr>
          <a:xfrm>
            <a:off x="1238298" y="2590012"/>
            <a:ext cx="8297205" cy="976894"/>
          </a:xfrm>
          <a:prstGeom prst="rect">
            <a:avLst/>
          </a:prstGeom>
        </p:spPr>
        <p:txBody>
          <a:bodyPr lIns="0" tIns="0" rIns="0" bIns="0" rtlCol="0" anchor="t">
            <a:spAutoFit/>
          </a:bodyPr>
          <a:lstStyle/>
          <a:p>
            <a:pPr algn="just">
              <a:lnSpc>
                <a:spcPts val="3905"/>
              </a:lnSpc>
            </a:pPr>
            <a:endParaRPr/>
          </a:p>
          <a:p>
            <a:pPr algn="just">
              <a:lnSpc>
                <a:spcPts val="3905"/>
              </a:lnSpc>
            </a:pPr>
            <a:endParaRPr/>
          </a:p>
        </p:txBody>
      </p:sp>
      <p:sp>
        <p:nvSpPr>
          <p:cNvPr id="8" name="TextBox 8"/>
          <p:cNvSpPr txBox="1"/>
          <p:nvPr/>
        </p:nvSpPr>
        <p:spPr>
          <a:xfrm>
            <a:off x="1238298" y="2590012"/>
            <a:ext cx="14712940" cy="976894"/>
          </a:xfrm>
          <a:prstGeom prst="rect">
            <a:avLst/>
          </a:prstGeom>
        </p:spPr>
        <p:txBody>
          <a:bodyPr lIns="0" tIns="0" rIns="0" bIns="0" rtlCol="0" anchor="t">
            <a:spAutoFit/>
          </a:bodyPr>
          <a:lstStyle/>
          <a:p>
            <a:pPr marL="602280" lvl="1" indent="-301140" algn="just">
              <a:lnSpc>
                <a:spcPts val="3905"/>
              </a:lnSpc>
              <a:buFont typeface="Arial"/>
              <a:buChar char="•"/>
            </a:pPr>
            <a:r>
              <a:rPr lang="en-US" sz="2789">
                <a:solidFill>
                  <a:srgbClr val="0F4662"/>
                </a:solidFill>
                <a:latin typeface="Montserrat"/>
                <a:ea typeface="Montserrat"/>
                <a:cs typeface="Montserrat"/>
                <a:sym typeface="Montserrat"/>
              </a:rPr>
              <a:t>Hệ thống đã đưa ra được các bài tập gợi ý cho người dùng với mức độ độ khó vừa phải phù hợp với người dùng.</a:t>
            </a:r>
          </a:p>
        </p:txBody>
      </p:sp>
      <p:sp>
        <p:nvSpPr>
          <p:cNvPr id="9" name="TextBox 9"/>
          <p:cNvSpPr txBox="1"/>
          <p:nvPr/>
        </p:nvSpPr>
        <p:spPr>
          <a:xfrm>
            <a:off x="6956897" y="8365615"/>
            <a:ext cx="4320703" cy="389252"/>
          </a:xfrm>
          <a:prstGeom prst="rect">
            <a:avLst/>
          </a:prstGeom>
        </p:spPr>
        <p:txBody>
          <a:bodyPr wrap="square" lIns="0" tIns="0" rIns="0" bIns="0" rtlCol="0" anchor="t">
            <a:spAutoFit/>
          </a:bodyPr>
          <a:lstStyle/>
          <a:p>
            <a:pPr algn="ctr">
              <a:lnSpc>
                <a:spcPts val="3220"/>
              </a:lnSpc>
              <a:spcBef>
                <a:spcPct val="0"/>
              </a:spcBef>
            </a:pPr>
            <a:r>
              <a:rPr lang="en-US" sz="2300" dirty="0" err="1">
                <a:solidFill>
                  <a:srgbClr val="0F4662"/>
                </a:solidFill>
                <a:latin typeface="Montserrat"/>
                <a:ea typeface="Montserrat"/>
                <a:cs typeface="Montserrat"/>
                <a:sym typeface="Montserrat"/>
              </a:rPr>
              <a:t>Kết</a:t>
            </a:r>
            <a:r>
              <a:rPr lang="en-US" sz="2300" dirty="0">
                <a:solidFill>
                  <a:srgbClr val="0F4662"/>
                </a:solidFill>
                <a:latin typeface="Montserrat"/>
                <a:ea typeface="Montserrat"/>
                <a:cs typeface="Montserrat"/>
                <a:sym typeface="Montserrat"/>
              </a:rPr>
              <a:t> </a:t>
            </a:r>
            <a:r>
              <a:rPr lang="en-US" sz="2300" dirty="0" err="1">
                <a:solidFill>
                  <a:srgbClr val="0F4662"/>
                </a:solidFill>
                <a:latin typeface="Montserrat"/>
                <a:ea typeface="Montserrat"/>
                <a:cs typeface="Montserrat"/>
                <a:sym typeface="Montserrat"/>
              </a:rPr>
              <a:t>quả</a:t>
            </a:r>
            <a:r>
              <a:rPr lang="en-US" sz="2300" dirty="0">
                <a:solidFill>
                  <a:srgbClr val="0F4662"/>
                </a:solidFill>
                <a:latin typeface="Montserrat"/>
                <a:ea typeface="Montserrat"/>
                <a:cs typeface="Montserrat"/>
                <a:sym typeface="Montserrat"/>
              </a:rPr>
              <a:t> </a:t>
            </a:r>
            <a:r>
              <a:rPr lang="en-US" sz="2300" dirty="0" err="1">
                <a:solidFill>
                  <a:srgbClr val="0F4662"/>
                </a:solidFill>
                <a:latin typeface="Montserrat"/>
                <a:ea typeface="Montserrat"/>
                <a:cs typeface="Montserrat"/>
                <a:sym typeface="Montserrat"/>
              </a:rPr>
              <a:t>gợi</a:t>
            </a:r>
            <a:r>
              <a:rPr lang="en-US" sz="2300" dirty="0">
                <a:solidFill>
                  <a:srgbClr val="0F4662"/>
                </a:solidFill>
                <a:latin typeface="Montserrat"/>
                <a:ea typeface="Montserrat"/>
                <a:cs typeface="Montserrat"/>
                <a:sym typeface="Montserrat"/>
              </a:rPr>
              <a:t> ý </a:t>
            </a:r>
            <a:r>
              <a:rPr lang="en-US" sz="2300" dirty="0" err="1">
                <a:solidFill>
                  <a:srgbClr val="0F4662"/>
                </a:solidFill>
                <a:latin typeface="Montserrat"/>
                <a:ea typeface="Montserrat"/>
                <a:cs typeface="Montserrat"/>
                <a:sym typeface="Montserrat"/>
              </a:rPr>
              <a:t>trên</a:t>
            </a:r>
            <a:r>
              <a:rPr lang="en-US" sz="2300" dirty="0">
                <a:solidFill>
                  <a:srgbClr val="0F4662"/>
                </a:solidFill>
                <a:latin typeface="Montserrat"/>
                <a:ea typeface="Montserrat"/>
                <a:cs typeface="Montserrat"/>
                <a:sym typeface="Montserrat"/>
              </a:rPr>
              <a:t> </a:t>
            </a:r>
            <a:r>
              <a:rPr lang="en-US" sz="2300" dirty="0" err="1">
                <a:solidFill>
                  <a:srgbClr val="0F4662"/>
                </a:solidFill>
                <a:latin typeface="Montserrat"/>
                <a:ea typeface="Montserrat"/>
                <a:cs typeface="Montserrat"/>
                <a:sym typeface="Montserrat"/>
              </a:rPr>
              <a:t>giao</a:t>
            </a:r>
            <a:r>
              <a:rPr lang="en-US" sz="2300" dirty="0">
                <a:solidFill>
                  <a:srgbClr val="0F4662"/>
                </a:solidFill>
                <a:latin typeface="Montserrat"/>
                <a:ea typeface="Montserrat"/>
                <a:cs typeface="Montserrat"/>
                <a:sym typeface="Montserrat"/>
              </a:rPr>
              <a:t> </a:t>
            </a:r>
            <a:r>
              <a:rPr lang="en-US" sz="2300" dirty="0" err="1">
                <a:solidFill>
                  <a:srgbClr val="0F4662"/>
                </a:solidFill>
                <a:latin typeface="Montserrat"/>
                <a:ea typeface="Montserrat"/>
                <a:cs typeface="Montserrat"/>
                <a:sym typeface="Montserrat"/>
              </a:rPr>
              <a:t>diện</a:t>
            </a:r>
            <a:endParaRPr lang="en-US" sz="2300" dirty="0">
              <a:solidFill>
                <a:srgbClr val="0F4662"/>
              </a:solidFill>
              <a:latin typeface="Montserrat"/>
              <a:ea typeface="Montserrat"/>
              <a:cs typeface="Montserrat"/>
              <a:sym typeface="Montserrat"/>
            </a:endParaRPr>
          </a:p>
        </p:txBody>
      </p:sp>
      <p:sp>
        <p:nvSpPr>
          <p:cNvPr id="10" name="TextBox 10"/>
          <p:cNvSpPr txBox="1"/>
          <p:nvPr/>
        </p:nvSpPr>
        <p:spPr>
          <a:xfrm>
            <a:off x="17449800" y="9509200"/>
            <a:ext cx="599389" cy="446404"/>
          </a:xfrm>
          <a:prstGeom prst="rect">
            <a:avLst/>
          </a:prstGeom>
        </p:spPr>
        <p:txBody>
          <a:bodyPr wrap="square" lIns="0" tIns="0" rIns="0" bIns="0" rtlCol="0" anchor="t">
            <a:spAutoFit/>
          </a:bodyPr>
          <a:lstStyle/>
          <a:p>
            <a:pPr algn="ctr">
              <a:lnSpc>
                <a:spcPts val="3831"/>
              </a:lnSpc>
              <a:spcBef>
                <a:spcPct val="0"/>
              </a:spcBef>
            </a:pPr>
            <a:r>
              <a:rPr lang="en-US" sz="2554" b="1" dirty="0">
                <a:solidFill>
                  <a:srgbClr val="0F4662"/>
                </a:solidFill>
                <a:latin typeface="Montserrat Bold"/>
                <a:ea typeface="Montserrat Bold"/>
                <a:cs typeface="Montserrat Bold"/>
                <a:sym typeface="Montserrat Bold"/>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AutoShape 2"/>
          <p:cNvSpPr/>
          <p:nvPr/>
        </p:nvSpPr>
        <p:spPr>
          <a:xfrm>
            <a:off x="5897880" y="9296400"/>
            <a:ext cx="6492240" cy="0"/>
          </a:xfrm>
          <a:prstGeom prst="line">
            <a:avLst/>
          </a:prstGeom>
          <a:ln w="76200" cap="flat">
            <a:solidFill>
              <a:srgbClr val="0F4662"/>
            </a:solidFill>
            <a:prstDash val="solid"/>
            <a:headEnd type="none" w="sm" len="sm"/>
            <a:tailEnd type="none" w="sm" len="sm"/>
          </a:ln>
        </p:spPr>
        <p:txBody>
          <a:bodyPr/>
          <a:lstStyle/>
          <a:p>
            <a:endParaRPr lang="en-US"/>
          </a:p>
        </p:txBody>
      </p:sp>
      <p:sp>
        <p:nvSpPr>
          <p:cNvPr id="3" name="Freeform 3"/>
          <p:cNvSpPr/>
          <p:nvPr/>
        </p:nvSpPr>
        <p:spPr>
          <a:xfrm>
            <a:off x="8304001" y="9769162"/>
            <a:ext cx="1679997" cy="249900"/>
          </a:xfrm>
          <a:custGeom>
            <a:avLst/>
            <a:gdLst/>
            <a:ahLst/>
            <a:cxnLst/>
            <a:rect l="l" t="t" r="r" b="b"/>
            <a:pathLst>
              <a:path w="1679997" h="249900">
                <a:moveTo>
                  <a:pt x="0" y="0"/>
                </a:moveTo>
                <a:lnTo>
                  <a:pt x="1679998" y="0"/>
                </a:lnTo>
                <a:lnTo>
                  <a:pt x="1679998"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2105536" y="4572000"/>
            <a:ext cx="14076927" cy="1028700"/>
          </a:xfrm>
          <a:prstGeom prst="rect">
            <a:avLst/>
          </a:prstGeom>
        </p:spPr>
        <p:txBody>
          <a:bodyPr lIns="0" tIns="0" rIns="0" bIns="0" rtlCol="0" anchor="t">
            <a:spAutoFit/>
          </a:bodyPr>
          <a:lstStyle/>
          <a:p>
            <a:pPr marL="0" lvl="0" indent="0" algn="ctr">
              <a:lnSpc>
                <a:spcPts val="8400"/>
              </a:lnSpc>
              <a:spcBef>
                <a:spcPct val="0"/>
              </a:spcBef>
            </a:pPr>
            <a:r>
              <a:rPr lang="en-US" sz="6000" b="1" i="1">
                <a:solidFill>
                  <a:srgbClr val="0F4662"/>
                </a:solidFill>
                <a:latin typeface="Montserrat Bold Italics"/>
                <a:ea typeface="Montserrat Bold Italics"/>
                <a:cs typeface="Montserrat Bold Italics"/>
                <a:sym typeface="Montserrat Bold Italics"/>
              </a:rPr>
              <a:t>5. TRIỂN KHAI HỆ THỐNG</a:t>
            </a:r>
          </a:p>
        </p:txBody>
      </p:sp>
      <p:sp>
        <p:nvSpPr>
          <p:cNvPr id="5" name="TextBox 5"/>
          <p:cNvSpPr txBox="1"/>
          <p:nvPr/>
        </p:nvSpPr>
        <p:spPr>
          <a:xfrm>
            <a:off x="17526001" y="9509200"/>
            <a:ext cx="476992" cy="446404"/>
          </a:xfrm>
          <a:prstGeom prst="rect">
            <a:avLst/>
          </a:prstGeom>
        </p:spPr>
        <p:txBody>
          <a:bodyPr wrap="square" lIns="0" tIns="0" rIns="0" bIns="0" rtlCol="0" anchor="t">
            <a:spAutoFit/>
          </a:bodyPr>
          <a:lstStyle/>
          <a:p>
            <a:pPr algn="ctr">
              <a:lnSpc>
                <a:spcPts val="3831"/>
              </a:lnSpc>
              <a:spcBef>
                <a:spcPct val="0"/>
              </a:spcBef>
            </a:pPr>
            <a:r>
              <a:rPr lang="en-US" sz="2554" b="1" dirty="0">
                <a:solidFill>
                  <a:srgbClr val="0F4662"/>
                </a:solidFill>
                <a:latin typeface="Montserrat Bold"/>
                <a:ea typeface="Montserrat Bold"/>
                <a:cs typeface="Montserrat Bold"/>
                <a:sym typeface="Montserrat Bold"/>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15579303" y="714009"/>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a:off x="1690398" y="2388043"/>
            <a:ext cx="6494264" cy="3328310"/>
          </a:xfrm>
          <a:custGeom>
            <a:avLst/>
            <a:gdLst/>
            <a:ahLst/>
            <a:cxnLst/>
            <a:rect l="l" t="t" r="r" b="b"/>
            <a:pathLst>
              <a:path w="6494264" h="3328310">
                <a:moveTo>
                  <a:pt x="0" y="0"/>
                </a:moveTo>
                <a:lnTo>
                  <a:pt x="6494265" y="0"/>
                </a:lnTo>
                <a:lnTo>
                  <a:pt x="6494265" y="3328310"/>
                </a:lnTo>
                <a:lnTo>
                  <a:pt x="0" y="3328310"/>
                </a:lnTo>
                <a:lnTo>
                  <a:pt x="0" y="0"/>
                </a:lnTo>
                <a:close/>
              </a:path>
            </a:pathLst>
          </a:custGeom>
          <a:blipFill>
            <a:blip r:embed="rId5"/>
            <a:stretch>
              <a:fillRect/>
            </a:stretch>
          </a:blipFill>
        </p:spPr>
        <p:txBody>
          <a:bodyPr/>
          <a:lstStyle/>
          <a:p>
            <a:endParaRPr lang="en-US"/>
          </a:p>
        </p:txBody>
      </p:sp>
      <p:sp>
        <p:nvSpPr>
          <p:cNvPr id="4" name="Freeform 4"/>
          <p:cNvSpPr/>
          <p:nvPr/>
        </p:nvSpPr>
        <p:spPr>
          <a:xfrm>
            <a:off x="8528144" y="2388043"/>
            <a:ext cx="6568304" cy="3382676"/>
          </a:xfrm>
          <a:custGeom>
            <a:avLst/>
            <a:gdLst/>
            <a:ahLst/>
            <a:cxnLst/>
            <a:rect l="l" t="t" r="r" b="b"/>
            <a:pathLst>
              <a:path w="6568304" h="3382676">
                <a:moveTo>
                  <a:pt x="0" y="0"/>
                </a:moveTo>
                <a:lnTo>
                  <a:pt x="6568304" y="0"/>
                </a:lnTo>
                <a:lnTo>
                  <a:pt x="6568304" y="3382676"/>
                </a:lnTo>
                <a:lnTo>
                  <a:pt x="0" y="3382676"/>
                </a:lnTo>
                <a:lnTo>
                  <a:pt x="0" y="0"/>
                </a:lnTo>
                <a:close/>
              </a:path>
            </a:pathLst>
          </a:custGeom>
          <a:blipFill>
            <a:blip r:embed="rId6"/>
            <a:stretch>
              <a:fillRect/>
            </a:stretch>
          </a:blipFill>
        </p:spPr>
        <p:txBody>
          <a:bodyPr/>
          <a:lstStyle/>
          <a:p>
            <a:endParaRPr lang="en-US"/>
          </a:p>
        </p:txBody>
      </p:sp>
      <p:sp>
        <p:nvSpPr>
          <p:cNvPr id="5" name="Freeform 5"/>
          <p:cNvSpPr/>
          <p:nvPr/>
        </p:nvSpPr>
        <p:spPr>
          <a:xfrm>
            <a:off x="1690398" y="5954478"/>
            <a:ext cx="6583931" cy="3374265"/>
          </a:xfrm>
          <a:custGeom>
            <a:avLst/>
            <a:gdLst/>
            <a:ahLst/>
            <a:cxnLst/>
            <a:rect l="l" t="t" r="r" b="b"/>
            <a:pathLst>
              <a:path w="6583931" h="3374265">
                <a:moveTo>
                  <a:pt x="0" y="0"/>
                </a:moveTo>
                <a:lnTo>
                  <a:pt x="6583932" y="0"/>
                </a:lnTo>
                <a:lnTo>
                  <a:pt x="6583932" y="3374265"/>
                </a:lnTo>
                <a:lnTo>
                  <a:pt x="0" y="3374265"/>
                </a:lnTo>
                <a:lnTo>
                  <a:pt x="0" y="0"/>
                </a:lnTo>
                <a:close/>
              </a:path>
            </a:pathLst>
          </a:custGeom>
          <a:blipFill>
            <a:blip r:embed="rId7"/>
            <a:stretch>
              <a:fillRect/>
            </a:stretch>
          </a:blipFill>
        </p:spPr>
        <p:txBody>
          <a:bodyPr/>
          <a:lstStyle/>
          <a:p>
            <a:endParaRPr lang="en-US"/>
          </a:p>
        </p:txBody>
      </p:sp>
      <p:sp>
        <p:nvSpPr>
          <p:cNvPr id="6" name="Freeform 6"/>
          <p:cNvSpPr/>
          <p:nvPr/>
        </p:nvSpPr>
        <p:spPr>
          <a:xfrm>
            <a:off x="8586842" y="6008844"/>
            <a:ext cx="6509606" cy="3319899"/>
          </a:xfrm>
          <a:custGeom>
            <a:avLst/>
            <a:gdLst/>
            <a:ahLst/>
            <a:cxnLst/>
            <a:rect l="l" t="t" r="r" b="b"/>
            <a:pathLst>
              <a:path w="6509606" h="3319899">
                <a:moveTo>
                  <a:pt x="0" y="0"/>
                </a:moveTo>
                <a:lnTo>
                  <a:pt x="6509606" y="0"/>
                </a:lnTo>
                <a:lnTo>
                  <a:pt x="6509606" y="3319899"/>
                </a:lnTo>
                <a:lnTo>
                  <a:pt x="0" y="3319899"/>
                </a:lnTo>
                <a:lnTo>
                  <a:pt x="0" y="0"/>
                </a:lnTo>
                <a:close/>
              </a:path>
            </a:pathLst>
          </a:custGeom>
          <a:blipFill>
            <a:blip r:embed="rId8"/>
            <a:stretch>
              <a:fillRect/>
            </a:stretch>
          </a:blipFill>
        </p:spPr>
        <p:txBody>
          <a:bodyPr/>
          <a:lstStyle/>
          <a:p>
            <a:endParaRPr lang="en-US"/>
          </a:p>
        </p:txBody>
      </p:sp>
      <p:sp>
        <p:nvSpPr>
          <p:cNvPr id="7" name="TextBox 7"/>
          <p:cNvSpPr txBox="1"/>
          <p:nvPr/>
        </p:nvSpPr>
        <p:spPr>
          <a:xfrm>
            <a:off x="1024384" y="609234"/>
            <a:ext cx="14072064" cy="920114"/>
          </a:xfrm>
          <a:prstGeom prst="rect">
            <a:avLst/>
          </a:prstGeom>
        </p:spPr>
        <p:txBody>
          <a:bodyPr lIns="0" tIns="0" rIns="0" bIns="0" rtlCol="0" anchor="t">
            <a:spAutoFit/>
          </a:bodyPr>
          <a:lstStyle/>
          <a:p>
            <a:pPr marL="0" lvl="0" indent="0" algn="l">
              <a:lnSpc>
                <a:spcPts val="7560"/>
              </a:lnSpc>
              <a:spcBef>
                <a:spcPct val="0"/>
              </a:spcBef>
            </a:pPr>
            <a:r>
              <a:rPr lang="en-US" sz="5400" b="1" i="1">
                <a:solidFill>
                  <a:srgbClr val="0F4662"/>
                </a:solidFill>
                <a:latin typeface="Montserrat Bold Italics"/>
                <a:ea typeface="Montserrat Bold Italics"/>
                <a:cs typeface="Montserrat Bold Italics"/>
                <a:sym typeface="Montserrat Bold Italics"/>
              </a:rPr>
              <a:t>5. TRIỂN KHAI HỆ THỐNG</a:t>
            </a:r>
          </a:p>
        </p:txBody>
      </p:sp>
      <p:sp>
        <p:nvSpPr>
          <p:cNvPr id="8" name="TextBox 8"/>
          <p:cNvSpPr txBox="1"/>
          <p:nvPr/>
        </p:nvSpPr>
        <p:spPr>
          <a:xfrm>
            <a:off x="1238298" y="1541039"/>
            <a:ext cx="14072064" cy="606424"/>
          </a:xfrm>
          <a:prstGeom prst="rect">
            <a:avLst/>
          </a:prstGeom>
        </p:spPr>
        <p:txBody>
          <a:bodyPr lIns="0" tIns="0" rIns="0" bIns="0" rtlCol="0" anchor="t">
            <a:spAutoFit/>
          </a:bodyPr>
          <a:lstStyle/>
          <a:p>
            <a:pPr marL="0" lvl="0" indent="0" algn="l">
              <a:lnSpc>
                <a:spcPts val="4900"/>
              </a:lnSpc>
              <a:spcBef>
                <a:spcPct val="0"/>
              </a:spcBef>
            </a:pPr>
            <a:r>
              <a:rPr lang="en-US" sz="3500" b="1" i="1">
                <a:solidFill>
                  <a:srgbClr val="0F4662"/>
                </a:solidFill>
                <a:latin typeface="Montserrat Bold Italics"/>
                <a:ea typeface="Montserrat Bold Italics"/>
                <a:cs typeface="Montserrat Bold Italics"/>
                <a:sym typeface="Montserrat Bold Italics"/>
              </a:rPr>
              <a:t>5.1. Giao diện admin</a:t>
            </a:r>
          </a:p>
        </p:txBody>
      </p:sp>
      <p:sp>
        <p:nvSpPr>
          <p:cNvPr id="9" name="TextBox 9"/>
          <p:cNvSpPr txBox="1"/>
          <p:nvPr/>
        </p:nvSpPr>
        <p:spPr>
          <a:xfrm>
            <a:off x="17449800" y="9509200"/>
            <a:ext cx="585280" cy="446404"/>
          </a:xfrm>
          <a:prstGeom prst="rect">
            <a:avLst/>
          </a:prstGeom>
        </p:spPr>
        <p:txBody>
          <a:bodyPr wrap="square" lIns="0" tIns="0" rIns="0" bIns="0" rtlCol="0" anchor="t">
            <a:spAutoFit/>
          </a:bodyPr>
          <a:lstStyle/>
          <a:p>
            <a:pPr algn="ctr">
              <a:lnSpc>
                <a:spcPts val="3831"/>
              </a:lnSpc>
              <a:spcBef>
                <a:spcPct val="0"/>
              </a:spcBef>
            </a:pPr>
            <a:r>
              <a:rPr lang="en-US" sz="2554" b="1" dirty="0">
                <a:solidFill>
                  <a:srgbClr val="0F4662"/>
                </a:solidFill>
                <a:latin typeface="Montserrat Bold"/>
                <a:ea typeface="Montserrat Bold"/>
                <a:cs typeface="Montserrat Bold"/>
                <a:sym typeface="Montserrat Bold"/>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15579303" y="714009"/>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TextBox 7"/>
          <p:cNvSpPr txBox="1"/>
          <p:nvPr/>
        </p:nvSpPr>
        <p:spPr>
          <a:xfrm>
            <a:off x="1024384" y="609234"/>
            <a:ext cx="14072064" cy="920114"/>
          </a:xfrm>
          <a:prstGeom prst="rect">
            <a:avLst/>
          </a:prstGeom>
        </p:spPr>
        <p:txBody>
          <a:bodyPr lIns="0" tIns="0" rIns="0" bIns="0" rtlCol="0" anchor="t">
            <a:spAutoFit/>
          </a:bodyPr>
          <a:lstStyle/>
          <a:p>
            <a:pPr marL="0" lvl="0" indent="0" algn="l">
              <a:lnSpc>
                <a:spcPts val="7560"/>
              </a:lnSpc>
              <a:spcBef>
                <a:spcPct val="0"/>
              </a:spcBef>
            </a:pPr>
            <a:r>
              <a:rPr lang="en-US" sz="5400" b="1" i="1">
                <a:solidFill>
                  <a:srgbClr val="0F4662"/>
                </a:solidFill>
                <a:latin typeface="Montserrat Bold Italics"/>
                <a:ea typeface="Montserrat Bold Italics"/>
                <a:cs typeface="Montserrat Bold Italics"/>
                <a:sym typeface="Montserrat Bold Italics"/>
              </a:rPr>
              <a:t>5. TRIỂN KHAI HỆ THỐNG</a:t>
            </a:r>
          </a:p>
        </p:txBody>
      </p:sp>
      <p:sp>
        <p:nvSpPr>
          <p:cNvPr id="8" name="TextBox 8"/>
          <p:cNvSpPr txBox="1"/>
          <p:nvPr/>
        </p:nvSpPr>
        <p:spPr>
          <a:xfrm>
            <a:off x="1238298" y="1541039"/>
            <a:ext cx="14072064" cy="606424"/>
          </a:xfrm>
          <a:prstGeom prst="rect">
            <a:avLst/>
          </a:prstGeom>
        </p:spPr>
        <p:txBody>
          <a:bodyPr lIns="0" tIns="0" rIns="0" bIns="0" rtlCol="0" anchor="t">
            <a:spAutoFit/>
          </a:bodyPr>
          <a:lstStyle/>
          <a:p>
            <a:pPr marL="0" lvl="0" indent="0" algn="l">
              <a:lnSpc>
                <a:spcPts val="4900"/>
              </a:lnSpc>
              <a:spcBef>
                <a:spcPct val="0"/>
              </a:spcBef>
            </a:pPr>
            <a:r>
              <a:rPr lang="en-US" sz="3500" b="1" i="1">
                <a:solidFill>
                  <a:srgbClr val="0F4662"/>
                </a:solidFill>
                <a:latin typeface="Montserrat Bold Italics"/>
                <a:ea typeface="Montserrat Bold Italics"/>
                <a:cs typeface="Montserrat Bold Italics"/>
                <a:sym typeface="Montserrat Bold Italics"/>
              </a:rPr>
              <a:t>5.2. Giao diện user</a:t>
            </a:r>
          </a:p>
        </p:txBody>
      </p:sp>
      <p:sp>
        <p:nvSpPr>
          <p:cNvPr id="9" name="TextBox 9"/>
          <p:cNvSpPr txBox="1"/>
          <p:nvPr/>
        </p:nvSpPr>
        <p:spPr>
          <a:xfrm>
            <a:off x="17526000" y="9509200"/>
            <a:ext cx="509437" cy="446404"/>
          </a:xfrm>
          <a:prstGeom prst="rect">
            <a:avLst/>
          </a:prstGeom>
        </p:spPr>
        <p:txBody>
          <a:bodyPr wrap="square" lIns="0" tIns="0" rIns="0" bIns="0" rtlCol="0" anchor="t">
            <a:spAutoFit/>
          </a:bodyPr>
          <a:lstStyle/>
          <a:p>
            <a:pPr algn="ctr">
              <a:lnSpc>
                <a:spcPts val="3831"/>
              </a:lnSpc>
              <a:spcBef>
                <a:spcPct val="0"/>
              </a:spcBef>
            </a:pPr>
            <a:r>
              <a:rPr lang="en-US" sz="2554" b="1" dirty="0">
                <a:solidFill>
                  <a:srgbClr val="0F4662"/>
                </a:solidFill>
                <a:latin typeface="Montserrat Bold"/>
                <a:ea typeface="Montserrat Bold"/>
                <a:cs typeface="Montserrat Bold"/>
                <a:sym typeface="Montserrat Bold"/>
              </a:rPr>
              <a:t>24</a:t>
            </a:r>
          </a:p>
        </p:txBody>
      </p:sp>
      <p:pic>
        <p:nvPicPr>
          <p:cNvPr id="10" name="Picture 9">
            <a:extLst>
              <a:ext uri="{FF2B5EF4-FFF2-40B4-BE49-F238E27FC236}">
                <a16:creationId xmlns:a16="http://schemas.microsoft.com/office/drawing/2014/main" id="{DC6FA2D6-EA60-D8AB-4BA0-6595541BE092}"/>
              </a:ext>
            </a:extLst>
          </p:cNvPr>
          <p:cNvPicPr>
            <a:picLocks noChangeAspect="1"/>
          </p:cNvPicPr>
          <p:nvPr/>
        </p:nvPicPr>
        <p:blipFill>
          <a:blip r:embed="rId5"/>
          <a:stretch>
            <a:fillRect/>
          </a:stretch>
        </p:blipFill>
        <p:spPr>
          <a:xfrm>
            <a:off x="1155455" y="2147463"/>
            <a:ext cx="6904961" cy="3817974"/>
          </a:xfrm>
          <a:prstGeom prst="rect">
            <a:avLst/>
          </a:prstGeom>
        </p:spPr>
      </p:pic>
      <p:pic>
        <p:nvPicPr>
          <p:cNvPr id="11" name="Picture 10">
            <a:extLst>
              <a:ext uri="{FF2B5EF4-FFF2-40B4-BE49-F238E27FC236}">
                <a16:creationId xmlns:a16="http://schemas.microsoft.com/office/drawing/2014/main" id="{CB8AA832-DB5C-1FE0-BD1D-715C4F9179EB}"/>
              </a:ext>
            </a:extLst>
          </p:cNvPr>
          <p:cNvPicPr>
            <a:picLocks noChangeAspect="1"/>
          </p:cNvPicPr>
          <p:nvPr/>
        </p:nvPicPr>
        <p:blipFill>
          <a:blip r:embed="rId6"/>
          <a:stretch>
            <a:fillRect/>
          </a:stretch>
        </p:blipFill>
        <p:spPr>
          <a:xfrm>
            <a:off x="8280599" y="2147463"/>
            <a:ext cx="7029763" cy="3887274"/>
          </a:xfrm>
          <a:prstGeom prst="rect">
            <a:avLst/>
          </a:prstGeom>
        </p:spPr>
      </p:pic>
      <p:pic>
        <p:nvPicPr>
          <p:cNvPr id="12" name="Picture 11">
            <a:extLst>
              <a:ext uri="{FF2B5EF4-FFF2-40B4-BE49-F238E27FC236}">
                <a16:creationId xmlns:a16="http://schemas.microsoft.com/office/drawing/2014/main" id="{FEF96004-F93F-663E-CE57-EF147B6B3C9B}"/>
              </a:ext>
            </a:extLst>
          </p:cNvPr>
          <p:cNvPicPr>
            <a:picLocks noChangeAspect="1"/>
          </p:cNvPicPr>
          <p:nvPr/>
        </p:nvPicPr>
        <p:blipFill>
          <a:blip r:embed="rId7"/>
          <a:stretch>
            <a:fillRect/>
          </a:stretch>
        </p:blipFill>
        <p:spPr>
          <a:xfrm>
            <a:off x="1155454" y="6075750"/>
            <a:ext cx="6845545" cy="3548229"/>
          </a:xfrm>
          <a:prstGeom prst="rect">
            <a:avLst/>
          </a:prstGeom>
        </p:spPr>
      </p:pic>
      <p:pic>
        <p:nvPicPr>
          <p:cNvPr id="13" name="Picture 12">
            <a:extLst>
              <a:ext uri="{FF2B5EF4-FFF2-40B4-BE49-F238E27FC236}">
                <a16:creationId xmlns:a16="http://schemas.microsoft.com/office/drawing/2014/main" id="{32852C90-4659-DD35-7C93-E64EE2D6BE92}"/>
              </a:ext>
            </a:extLst>
          </p:cNvPr>
          <p:cNvPicPr>
            <a:picLocks noChangeAspect="1"/>
          </p:cNvPicPr>
          <p:nvPr/>
        </p:nvPicPr>
        <p:blipFill>
          <a:blip r:embed="rId8"/>
          <a:stretch>
            <a:fillRect/>
          </a:stretch>
        </p:blipFill>
        <p:spPr>
          <a:xfrm>
            <a:off x="8283647" y="6048824"/>
            <a:ext cx="7026715" cy="357515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2336013" y="3369664"/>
            <a:ext cx="13615974" cy="3185722"/>
          </a:xfrm>
          <a:prstGeom prst="rect">
            <a:avLst/>
          </a:prstGeom>
        </p:spPr>
        <p:txBody>
          <a:bodyPr lIns="0" tIns="0" rIns="0" bIns="0" rtlCol="0" anchor="t">
            <a:spAutoFit/>
          </a:bodyPr>
          <a:lstStyle/>
          <a:p>
            <a:pPr marL="0" lvl="0" indent="0" algn="ctr">
              <a:lnSpc>
                <a:spcPts val="26009"/>
              </a:lnSpc>
              <a:spcBef>
                <a:spcPct val="0"/>
              </a:spcBef>
            </a:pPr>
            <a:r>
              <a:rPr lang="en-US" sz="18577" b="1" i="1">
                <a:solidFill>
                  <a:srgbClr val="0F4662"/>
                </a:solidFill>
                <a:latin typeface="Montserrat Bold Italics"/>
                <a:ea typeface="Montserrat Bold Italics"/>
                <a:cs typeface="Montserrat Bold Italics"/>
                <a:sym typeface="Montserrat Bold Italics"/>
              </a:rPr>
              <a:t>Thank you</a:t>
            </a:r>
          </a:p>
        </p:txBody>
      </p:sp>
      <p:sp>
        <p:nvSpPr>
          <p:cNvPr id="3" name="AutoShape 3"/>
          <p:cNvSpPr/>
          <p:nvPr/>
        </p:nvSpPr>
        <p:spPr>
          <a:xfrm>
            <a:off x="5897880" y="2215083"/>
            <a:ext cx="6492240" cy="0"/>
          </a:xfrm>
          <a:prstGeom prst="line">
            <a:avLst/>
          </a:prstGeom>
          <a:ln w="76200" cap="flat">
            <a:solidFill>
              <a:srgbClr val="0F4662"/>
            </a:solidFill>
            <a:prstDash val="solid"/>
            <a:headEnd type="none" w="sm" len="sm"/>
            <a:tailEnd type="none" w="sm" len="sm"/>
          </a:ln>
        </p:spPr>
        <p:txBody>
          <a:bodyPr/>
          <a:lstStyle/>
          <a:p>
            <a:endParaRPr lang="en-US"/>
          </a:p>
        </p:txBody>
      </p:sp>
      <p:sp>
        <p:nvSpPr>
          <p:cNvPr id="4" name="Freeform 4"/>
          <p:cNvSpPr/>
          <p:nvPr/>
        </p:nvSpPr>
        <p:spPr>
          <a:xfrm>
            <a:off x="8304001" y="1116666"/>
            <a:ext cx="1679997" cy="249900"/>
          </a:xfrm>
          <a:custGeom>
            <a:avLst/>
            <a:gdLst/>
            <a:ahLst/>
            <a:cxnLst/>
            <a:rect l="l" t="t" r="r" b="b"/>
            <a:pathLst>
              <a:path w="1679997" h="249900">
                <a:moveTo>
                  <a:pt x="0" y="0"/>
                </a:moveTo>
                <a:lnTo>
                  <a:pt x="1679998" y="0"/>
                </a:lnTo>
                <a:lnTo>
                  <a:pt x="1679998" y="249899"/>
                </a:lnTo>
                <a:lnTo>
                  <a:pt x="0" y="2498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AutoShape 5"/>
          <p:cNvSpPr/>
          <p:nvPr/>
        </p:nvSpPr>
        <p:spPr>
          <a:xfrm>
            <a:off x="5897880" y="8159883"/>
            <a:ext cx="6492240" cy="0"/>
          </a:xfrm>
          <a:prstGeom prst="line">
            <a:avLst/>
          </a:prstGeom>
          <a:ln w="76200" cap="flat">
            <a:solidFill>
              <a:srgbClr val="0F4662"/>
            </a:solidFill>
            <a:prstDash val="solid"/>
            <a:headEnd type="none" w="sm" len="sm"/>
            <a:tailEnd type="none" w="sm" len="sm"/>
          </a:ln>
        </p:spPr>
        <p:txBody>
          <a:bodyPr/>
          <a:lstStyle/>
          <a:p>
            <a:endParaRPr lang="en-US"/>
          </a:p>
        </p:txBody>
      </p:sp>
      <p:sp>
        <p:nvSpPr>
          <p:cNvPr id="6" name="Freeform 6"/>
          <p:cNvSpPr/>
          <p:nvPr/>
        </p:nvSpPr>
        <p:spPr>
          <a:xfrm>
            <a:off x="8304001" y="9008400"/>
            <a:ext cx="1679997" cy="249900"/>
          </a:xfrm>
          <a:custGeom>
            <a:avLst/>
            <a:gdLst/>
            <a:ahLst/>
            <a:cxnLst/>
            <a:rect l="l" t="t" r="r" b="b"/>
            <a:pathLst>
              <a:path w="1679997" h="249900">
                <a:moveTo>
                  <a:pt x="0" y="0"/>
                </a:moveTo>
                <a:lnTo>
                  <a:pt x="1679998" y="0"/>
                </a:lnTo>
                <a:lnTo>
                  <a:pt x="1679998"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TextBox 7"/>
          <p:cNvSpPr txBox="1"/>
          <p:nvPr/>
        </p:nvSpPr>
        <p:spPr>
          <a:xfrm>
            <a:off x="17526000" y="9509200"/>
            <a:ext cx="523546" cy="446404"/>
          </a:xfrm>
          <a:prstGeom prst="rect">
            <a:avLst/>
          </a:prstGeom>
        </p:spPr>
        <p:txBody>
          <a:bodyPr wrap="square" lIns="0" tIns="0" rIns="0" bIns="0" rtlCol="0" anchor="t">
            <a:spAutoFit/>
          </a:bodyPr>
          <a:lstStyle/>
          <a:p>
            <a:pPr algn="ctr">
              <a:lnSpc>
                <a:spcPts val="3831"/>
              </a:lnSpc>
              <a:spcBef>
                <a:spcPct val="0"/>
              </a:spcBef>
            </a:pPr>
            <a:r>
              <a:rPr lang="en-US" sz="2554" b="1" dirty="0">
                <a:solidFill>
                  <a:srgbClr val="0F4662"/>
                </a:solidFill>
                <a:latin typeface="Montserrat Bold"/>
                <a:ea typeface="Montserrat Bold"/>
                <a:cs typeface="Montserrat Bold"/>
                <a:sym typeface="Montserrat Bold"/>
              </a:rPr>
              <a:t>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TotalTime>
  <Words>1695</Words>
  <Application>Microsoft Office PowerPoint</Application>
  <PresentationFormat>Custom</PresentationFormat>
  <Paragraphs>198</Paragraphs>
  <Slides>25</Slides>
  <Notes>15</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25</vt:i4>
      </vt:variant>
    </vt:vector>
  </HeadingPairs>
  <TitlesOfParts>
    <vt:vector size="35" baseType="lpstr">
      <vt:lpstr>Montserrat Bold</vt:lpstr>
      <vt:lpstr>Montserrat Bold Italics</vt:lpstr>
      <vt:lpstr>Montserrat Italics</vt:lpstr>
      <vt:lpstr>Quicksand Bold</vt:lpstr>
      <vt:lpstr>Montserrat</vt:lpstr>
      <vt:lpstr>Calibri</vt:lpstr>
      <vt:lpstr>Arial</vt:lpstr>
      <vt:lpstr>Quicksand</vt:lpstr>
      <vt:lpstr>Office Theme</vt:lpstr>
      <vt:lpstr>MathType 7.0 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đồ án PTIT</dc:title>
  <dc:creator>ADMIN</dc:creator>
  <cp:lastModifiedBy>Kieu Van Hieu D21CN04</cp:lastModifiedBy>
  <cp:revision>3</cp:revision>
  <dcterms:created xsi:type="dcterms:W3CDTF">2006-08-16T00:00:00Z</dcterms:created>
  <dcterms:modified xsi:type="dcterms:W3CDTF">2026-01-09T04:24:32Z</dcterms:modified>
  <dc:identifier>DAG9dmaO3Ys</dc:identifier>
</cp:coreProperties>
</file>